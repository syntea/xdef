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69"/>
  </p:notesMasterIdLst>
  <p:handoutMasterIdLst>
    <p:handoutMasterId r:id="rId70"/>
  </p:handoutMasterIdLst>
  <p:sldIdLst>
    <p:sldId id="260" r:id="rId3"/>
    <p:sldId id="354" r:id="rId4"/>
    <p:sldId id="427" r:id="rId5"/>
    <p:sldId id="429" r:id="rId6"/>
    <p:sldId id="430" r:id="rId7"/>
    <p:sldId id="432" r:id="rId8"/>
    <p:sldId id="431" r:id="rId9"/>
    <p:sldId id="433" r:id="rId10"/>
    <p:sldId id="447" r:id="rId11"/>
    <p:sldId id="451" r:id="rId12"/>
    <p:sldId id="428" r:id="rId13"/>
    <p:sldId id="436" r:id="rId14"/>
    <p:sldId id="442" r:id="rId15"/>
    <p:sldId id="437" r:id="rId16"/>
    <p:sldId id="438" r:id="rId17"/>
    <p:sldId id="440" r:id="rId18"/>
    <p:sldId id="439" r:id="rId19"/>
    <p:sldId id="441" r:id="rId20"/>
    <p:sldId id="448" r:id="rId21"/>
    <p:sldId id="449" r:id="rId22"/>
    <p:sldId id="450" r:id="rId23"/>
    <p:sldId id="454" r:id="rId24"/>
    <p:sldId id="452" r:id="rId25"/>
    <p:sldId id="456" r:id="rId26"/>
    <p:sldId id="457" r:id="rId27"/>
    <p:sldId id="453" r:id="rId28"/>
    <p:sldId id="434" r:id="rId29"/>
    <p:sldId id="445" r:id="rId30"/>
    <p:sldId id="443" r:id="rId31"/>
    <p:sldId id="444" r:id="rId32"/>
    <p:sldId id="446" r:id="rId33"/>
    <p:sldId id="458" r:id="rId34"/>
    <p:sldId id="459" r:id="rId35"/>
    <p:sldId id="418" r:id="rId36"/>
    <p:sldId id="370" r:id="rId37"/>
    <p:sldId id="378" r:id="rId38"/>
    <p:sldId id="401" r:id="rId39"/>
    <p:sldId id="400" r:id="rId40"/>
    <p:sldId id="399" r:id="rId41"/>
    <p:sldId id="419" r:id="rId42"/>
    <p:sldId id="398" r:id="rId43"/>
    <p:sldId id="402" r:id="rId44"/>
    <p:sldId id="403" r:id="rId45"/>
    <p:sldId id="406" r:id="rId46"/>
    <p:sldId id="404" r:id="rId47"/>
    <p:sldId id="405" r:id="rId48"/>
    <p:sldId id="408" r:id="rId49"/>
    <p:sldId id="410" r:id="rId50"/>
    <p:sldId id="409" r:id="rId51"/>
    <p:sldId id="412" r:id="rId52"/>
    <p:sldId id="411" r:id="rId53"/>
    <p:sldId id="413" r:id="rId54"/>
    <p:sldId id="420" r:id="rId55"/>
    <p:sldId id="414" r:id="rId56"/>
    <p:sldId id="416" r:id="rId57"/>
    <p:sldId id="417" r:id="rId58"/>
    <p:sldId id="421" r:id="rId59"/>
    <p:sldId id="422" r:id="rId60"/>
    <p:sldId id="415" r:id="rId61"/>
    <p:sldId id="423" r:id="rId62"/>
    <p:sldId id="425" r:id="rId63"/>
    <p:sldId id="424" r:id="rId64"/>
    <p:sldId id="426" r:id="rId65"/>
    <p:sldId id="374" r:id="rId66"/>
    <p:sldId id="304" r:id="rId67"/>
    <p:sldId id="258" r:id="rId68"/>
  </p:sldIdLst>
  <p:sldSz cx="9144000" cy="6858000" type="screen4x3"/>
  <p:notesSz cx="6797675" cy="9926638"/>
  <p:defaultTextStyle>
    <a:defPPr>
      <a:defRPr lang="cs-CZ"/>
    </a:defPPr>
    <a:lvl1pPr algn="l" rtl="0" eaLnBrk="0" fontAlgn="base" hangingPunct="0">
      <a:spcBef>
        <a:spcPct val="0"/>
      </a:spcBef>
      <a:spcAft>
        <a:spcPct val="0"/>
      </a:spcAft>
      <a:defRPr sz="6000" kern="1200">
        <a:solidFill>
          <a:schemeClr val="tx1"/>
        </a:solidFill>
        <a:latin typeface="Corbe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6000" kern="1200">
        <a:solidFill>
          <a:schemeClr val="tx1"/>
        </a:solidFill>
        <a:latin typeface="Corbe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6000" kern="1200">
        <a:solidFill>
          <a:schemeClr val="tx1"/>
        </a:solidFill>
        <a:latin typeface="Corbe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6000" kern="1200">
        <a:solidFill>
          <a:schemeClr val="tx1"/>
        </a:solidFill>
        <a:latin typeface="Corbe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6000" kern="1200">
        <a:solidFill>
          <a:schemeClr val="tx1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6000" kern="1200">
        <a:solidFill>
          <a:schemeClr val="tx1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6000" kern="1200">
        <a:solidFill>
          <a:schemeClr val="tx1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6000" kern="1200">
        <a:solidFill>
          <a:schemeClr val="tx1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6000" kern="1200">
        <a:solidFill>
          <a:schemeClr val="tx1"/>
        </a:solidFill>
        <a:latin typeface="Corbe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C1"/>
    <a:srgbClr val="D5FEC6"/>
    <a:srgbClr val="0000FF"/>
    <a:srgbClr val="F0F0FF"/>
    <a:srgbClr val="FF0000"/>
    <a:srgbClr val="D00000"/>
    <a:srgbClr val="FFA3A3"/>
    <a:srgbClr val="B9EDFF"/>
    <a:srgbClr val="FFFFCC"/>
    <a:srgbClr val="B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72" autoAdjust="0"/>
    <p:restoredTop sz="95020" autoAdjust="0"/>
  </p:normalViewPr>
  <p:slideViewPr>
    <p:cSldViewPr>
      <p:cViewPr>
        <p:scale>
          <a:sx n="150" d="100"/>
          <a:sy n="150" d="100"/>
        </p:scale>
        <p:origin x="336" y="-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84" d="100"/>
          <a:sy n="84" d="100"/>
        </p:scale>
        <p:origin x="-3312" y="-288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247" cy="49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826" y="0"/>
            <a:ext cx="2946246" cy="49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470"/>
            <a:ext cx="2946247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cs-CZ"/>
              <a:t>Text zápapatí se edituje v menu Zobrazit / Záhlaví a zápatí</a:t>
            </a:r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826" y="9428470"/>
            <a:ext cx="2946246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D30C195-D82B-42D0-873D-C7201A95A005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559321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247" cy="49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26" y="0"/>
            <a:ext cx="2946246" cy="496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288" y="4715034"/>
            <a:ext cx="5439101" cy="4467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26" y="9428470"/>
            <a:ext cx="2946246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3C3C353-D8FC-4AB4-BA06-74625F03E376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64878645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rbe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rbe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rbe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rbe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altLang="cs-CZ" smtClean="0"/>
          </a:p>
        </p:txBody>
      </p:sp>
      <p:sp>
        <p:nvSpPr>
          <p:cNvPr id="614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C08891-17AB-4D8E-9570-6D53C4105678}" type="slidenum">
              <a:rPr lang="cs-CZ" altLang="cs-CZ"/>
              <a:pPr/>
              <a:t>1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48332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2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3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4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5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067029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6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067029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7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067029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8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067029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9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067029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10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11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12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13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14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15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16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17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18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19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20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21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0670290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22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23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24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35072463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25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4073544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26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27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28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0670290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29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30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31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dirty="0" smtClean="0"/>
          </a:p>
        </p:txBody>
      </p:sp>
    </p:spTree>
    <p:extLst>
      <p:ext uri="{BB962C8B-B14F-4D97-AF65-F5344CB8AC3E}">
        <p14:creationId xmlns:p14="http://schemas.microsoft.com/office/powerpoint/2010/main" val="12515933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32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38548587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B6D57B-DF40-4813-8128-C665FCEA36E5}" type="slidenum">
              <a:rPr lang="cs-CZ" altLang="cs-CZ"/>
              <a:pPr/>
              <a:t>33</a:t>
            </a:fld>
            <a:endParaRPr lang="cs-CZ" altLang="cs-CZ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dirty="0" smtClean="0"/>
          </a:p>
        </p:txBody>
      </p:sp>
    </p:spTree>
    <p:extLst>
      <p:ext uri="{BB962C8B-B14F-4D97-AF65-F5344CB8AC3E}">
        <p14:creationId xmlns:p14="http://schemas.microsoft.com/office/powerpoint/2010/main" val="17982141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34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0670290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  <p:sp>
        <p:nvSpPr>
          <p:cNvPr id="10244" name="Zástupný symbol pro číslo snímku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22C4A3-BE85-4DBE-8543-0641B22D5252}" type="slidenum">
              <a:rPr lang="cs-CZ" altLang="cs-CZ"/>
              <a:pPr/>
              <a:t>35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2553799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36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4698472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37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2568013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38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5471415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39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3942295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40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3942295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41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3637248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42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35391395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43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0870627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  <p:sp>
        <p:nvSpPr>
          <p:cNvPr id="16388" name="Zástupný symbol pro číslo snímku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532CEA-1DF7-4B6F-9248-B88858A86FF6}" type="slidenum">
              <a:rPr lang="cs-CZ" altLang="cs-CZ"/>
              <a:pPr/>
              <a:t>44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1411754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1B7586-C809-408E-A1DD-5EAAE7C4B135}" type="slidenum">
              <a:rPr lang="cs-CZ" altLang="cs-CZ"/>
              <a:pPr/>
              <a:t>45</a:t>
            </a:fld>
            <a:endParaRPr lang="cs-CZ" altLang="cs-CZ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37816578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46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47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48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49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50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51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52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53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54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55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56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57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E9331-D4C5-4E77-BD73-2311600DE780}" type="slidenum">
              <a:rPr lang="cs-CZ" altLang="cs-CZ"/>
              <a:pPr/>
              <a:t>58</a:t>
            </a:fld>
            <a:endParaRPr lang="cs-CZ" altLang="cs-CZ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08706273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59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60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61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62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996DA-A446-4375-ABED-59C77D69DCA6}" type="slidenum">
              <a:rPr lang="cs-CZ" altLang="cs-CZ"/>
              <a:pPr/>
              <a:t>63</a:t>
            </a:fld>
            <a:endParaRPr lang="cs-CZ" altLang="cs-CZ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163023661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  <p:sp>
        <p:nvSpPr>
          <p:cNvPr id="28676" name="Zástupný symbol pro číslo snímku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6F2D83-553E-4512-9CA7-B7F251F2754C}" type="slidenum">
              <a:rPr lang="cs-CZ" altLang="cs-CZ"/>
              <a:pPr/>
              <a:t>64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57298656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D979E4-FA00-450E-95D6-7795DCC489ED}" type="slidenum">
              <a:rPr lang="cs-CZ" altLang="cs-CZ"/>
              <a:pPr/>
              <a:t>65</a:t>
            </a:fld>
            <a:endParaRPr lang="cs-CZ" altLang="cs-CZ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</p:spTree>
    <p:extLst>
      <p:ext uri="{BB962C8B-B14F-4D97-AF65-F5344CB8AC3E}">
        <p14:creationId xmlns:p14="http://schemas.microsoft.com/office/powerpoint/2010/main" val="24288615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cs-CZ" altLang="cs-CZ" smtClean="0"/>
          </a:p>
        </p:txBody>
      </p:sp>
      <p:sp>
        <p:nvSpPr>
          <p:cNvPr id="32772" name="Zástupný symbol pro číslo snímku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9A83BA-BC6E-4C15-900C-6F5D5D767611}" type="slidenum">
              <a:rPr lang="cs-CZ" altLang="cs-CZ"/>
              <a:pPr/>
              <a:t>66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99907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cs-CZ"/>
              <a:t>Klepnutím lze upravit styl předlohy podnadpisů.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EDAB36-E23A-4011-9431-D1EBE873848A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5F6DC-5966-442C-A4D4-FD5518D894BD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FE6BD6-0B05-4742-99E2-9E7BFAB7161E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755650" y="2781300"/>
            <a:ext cx="3775075" cy="3240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83125" y="2781300"/>
            <a:ext cx="3776663" cy="3240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9EEA14-AED8-4E5D-BEDC-935806CD6770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237832-B3A0-434E-8985-B745CF788610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FE1B31-5F06-4F54-BB9F-F4FE5256CD87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C761E8-ADBE-4F38-90F4-055AAD0A3858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65527B-8766-45CF-A9CA-957ED959261A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8B7384-213F-432C-B054-DD8A00F43C05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36E90B-67F6-4DDD-BB8E-FD43A726C74C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534150" y="1341438"/>
            <a:ext cx="1925638" cy="467995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55650" y="1341438"/>
            <a:ext cx="5626100" cy="467995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CB226C-1551-4A9D-A5EA-24DD8BBE49B5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A03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4" descr="purpu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3" descr="syntea logo negativni na purpurove plose_stredni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98525" y="0"/>
            <a:ext cx="14509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133600"/>
            <a:ext cx="7545388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 smtClean="0"/>
              <a:t>Klepnutím lze upravit styl předlohy nadpisů.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 spd="med"/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6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600">
          <a:solidFill>
            <a:schemeClr val="bg1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600">
          <a:solidFill>
            <a:schemeClr val="bg1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600">
          <a:solidFill>
            <a:schemeClr val="bg1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600">
          <a:solidFill>
            <a:schemeClr val="bg1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600">
          <a:solidFill>
            <a:schemeClr val="bg1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600">
          <a:solidFill>
            <a:schemeClr val="bg1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600">
          <a:solidFill>
            <a:schemeClr val="bg1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600">
          <a:solidFill>
            <a:schemeClr val="bg1"/>
          </a:solidFill>
          <a:latin typeface="Corbe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301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301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301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301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301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1341438"/>
            <a:ext cx="7704138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 smtClean="0"/>
              <a:t>Klepnutím lze upravit styl předlohy nadpisů.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2781300"/>
            <a:ext cx="7704138" cy="32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 smtClean="0"/>
              <a:t>Klepnutím lze upravit styly předlohy textu.</a:t>
            </a:r>
          </a:p>
          <a:p>
            <a:pPr lvl="1"/>
            <a:r>
              <a:rPr lang="cs-CZ" altLang="cs-CZ" smtClean="0"/>
              <a:t>Druhá úroveň</a:t>
            </a:r>
          </a:p>
          <a:p>
            <a:pPr lvl="2"/>
            <a:r>
              <a:rPr lang="cs-CZ" altLang="cs-CZ" smtClean="0"/>
              <a:t>Třetí úroveň</a:t>
            </a:r>
          </a:p>
          <a:p>
            <a:pPr lvl="3"/>
            <a:r>
              <a:rPr lang="cs-CZ" altLang="cs-CZ" smtClean="0"/>
              <a:t>Čtvrtá úroveň</a:t>
            </a:r>
          </a:p>
          <a:p>
            <a:pPr lvl="4"/>
            <a:r>
              <a:rPr lang="cs-CZ" altLang="cs-CZ" smtClean="0"/>
              <a:t>Pátá úroveň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55650" y="6021388"/>
            <a:ext cx="6840538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r>
              <a:rPr lang="cs-CZ"/>
              <a:t>www.syntea.cz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021388"/>
            <a:ext cx="863600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solidFill>
                  <a:srgbClr val="CA0383"/>
                </a:solidFill>
              </a:defRPr>
            </a:lvl1pPr>
          </a:lstStyle>
          <a:p>
            <a:fld id="{56462D25-5DB6-412D-99F9-C8C73019511F}" type="slidenum">
              <a:rPr lang="cs-CZ" altLang="cs-CZ"/>
              <a:pPr/>
              <a:t>‹#›</a:t>
            </a:fld>
            <a:endParaRPr lang="cs-CZ" altLang="cs-CZ"/>
          </a:p>
        </p:txBody>
      </p:sp>
      <p:pic>
        <p:nvPicPr>
          <p:cNvPr id="2054" name="Picture 12" descr="syntea logo negativni na purpurove plose_stredni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98525" y="0"/>
            <a:ext cx="900113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8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3584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CA038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CA0383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CA0383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CA0383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CA0383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CA0383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CA0383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CA0383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CA0383"/>
          </a:solidFill>
          <a:latin typeface="Corbe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45380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755650" y="4868863"/>
            <a:ext cx="7704138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ctr"/>
          <a:lstStyle/>
          <a:p>
            <a:pPr eaLnBrk="1" hangingPunct="1"/>
            <a:r>
              <a:rPr lang="cs-CZ" altLang="cs-CZ" sz="2200" b="1" dirty="0">
                <a:solidFill>
                  <a:schemeClr val="bg1"/>
                </a:solidFill>
              </a:rPr>
              <a:t>jiri.kamenicky@syntea.cz</a:t>
            </a:r>
            <a:endParaRPr lang="en-US" altLang="cs-CZ" sz="2200" b="1" dirty="0">
              <a:solidFill>
                <a:schemeClr val="bg1"/>
              </a:solidFill>
            </a:endParaRPr>
          </a:p>
          <a:p>
            <a:pPr eaLnBrk="1" hangingPunct="1"/>
            <a:r>
              <a:rPr lang="cs-CZ" altLang="cs-CZ" sz="2200" b="1" dirty="0" smtClean="0">
                <a:solidFill>
                  <a:schemeClr val="bg1"/>
                </a:solidFill>
              </a:rPr>
              <a:t>19.11.2018</a:t>
            </a:r>
            <a:endParaRPr lang="cs-CZ" altLang="cs-CZ" sz="2200" b="1" dirty="0">
              <a:solidFill>
                <a:schemeClr val="bg1"/>
              </a:solidFill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250825" y="2205038"/>
            <a:ext cx="860742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ctr"/>
          <a:lstStyle/>
          <a:p>
            <a:pPr eaLnBrk="1" hangingPunct="1"/>
            <a:r>
              <a:rPr lang="cs-CZ" altLang="cs-CZ" sz="5600" b="1" dirty="0" smtClean="0">
                <a:solidFill>
                  <a:schemeClr val="bg1"/>
                </a:solidFill>
              </a:rPr>
              <a:t>X-definice</a:t>
            </a:r>
            <a:r>
              <a:rPr lang="cs-CZ" altLang="cs-CZ" sz="6600" b="1" dirty="0" smtClean="0">
                <a:solidFill>
                  <a:schemeClr val="bg1"/>
                </a:solidFill>
              </a:rPr>
              <a:t/>
            </a:r>
            <a:br>
              <a:rPr lang="cs-CZ" altLang="cs-CZ" sz="6600" b="1" dirty="0" smtClean="0">
                <a:solidFill>
                  <a:schemeClr val="bg1"/>
                </a:solidFill>
              </a:rPr>
            </a:br>
            <a:r>
              <a:rPr lang="cs-CZ" altLang="cs-CZ" sz="1100" b="1" dirty="0">
                <a:solidFill>
                  <a:schemeClr val="bg1"/>
                </a:solidFill>
              </a:rPr>
              <a:t/>
            </a:r>
            <a:br>
              <a:rPr lang="cs-CZ" altLang="cs-CZ" sz="1100" b="1" dirty="0">
                <a:solidFill>
                  <a:schemeClr val="bg1"/>
                </a:solidFill>
              </a:rPr>
            </a:br>
            <a:r>
              <a:rPr lang="cs-CZ" altLang="cs-CZ" sz="2200" b="1" dirty="0" smtClean="0">
                <a:solidFill>
                  <a:schemeClr val="bg1"/>
                </a:solidFill>
              </a:rPr>
              <a:t>Syntea </a:t>
            </a:r>
            <a:r>
              <a:rPr lang="cs-CZ" altLang="cs-CZ" sz="2200" b="1" dirty="0" err="1" smtClean="0">
                <a:solidFill>
                  <a:schemeClr val="bg1"/>
                </a:solidFill>
              </a:rPr>
              <a:t>sofware</a:t>
            </a:r>
            <a:r>
              <a:rPr lang="cs-CZ" altLang="cs-CZ" sz="2200" b="1" dirty="0" smtClean="0">
                <a:solidFill>
                  <a:schemeClr val="bg1"/>
                </a:solidFill>
              </a:rPr>
              <a:t> </a:t>
            </a:r>
            <a:r>
              <a:rPr lang="cs-CZ" altLang="cs-CZ" sz="2200" b="1" dirty="0" err="1" smtClean="0">
                <a:solidFill>
                  <a:schemeClr val="bg1"/>
                </a:solidFill>
              </a:rPr>
              <a:t>group</a:t>
            </a:r>
            <a:r>
              <a:rPr lang="cs-CZ" altLang="cs-CZ" sz="2200" b="1" dirty="0" smtClean="0">
                <a:solidFill>
                  <a:schemeClr val="bg1"/>
                </a:solidFill>
              </a:rPr>
              <a:t> a.s. </a:t>
            </a:r>
            <a:endParaRPr lang="cs-CZ" altLang="cs-CZ" sz="2200" b="1" dirty="0">
              <a:solidFill>
                <a:schemeClr val="bg1"/>
              </a:solidFill>
            </a:endParaRPr>
          </a:p>
        </p:txBody>
      </p:sp>
      <p:pic>
        <p:nvPicPr>
          <p:cNvPr id="5125" name="Picture 5" descr="syntea logo negativni na purpurove plose_stredn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8525" y="0"/>
            <a:ext cx="14509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27584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sz="3600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Na co se </a:t>
            </a:r>
            <a:r>
              <a:rPr lang="cs-CZ" sz="3600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dnes zaměříme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357188" y="1701354"/>
            <a:ext cx="8137525" cy="3383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24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XML a X-definice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Jazyk X-definic 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Validace </a:t>
            </a:r>
            <a:r>
              <a:rPr lang="cs-CZ" sz="1600" b="1" kern="0" dirty="0" smtClean="0">
                <a:latin typeface="Calibri" panose="020F0502020204030204" pitchFamily="34" charset="0"/>
              </a:rPr>
              <a:t>a </a:t>
            </a:r>
            <a:r>
              <a:rPr lang="cs-CZ" sz="1600" b="1" kern="0" dirty="0" smtClean="0">
                <a:latin typeface="Calibri" panose="020F0502020204030204" pitchFamily="34" charset="0"/>
              </a:rPr>
              <a:t>konstrukce </a:t>
            </a:r>
            <a:endParaRPr lang="cs-CZ" sz="1600" b="1" kern="0" dirty="0" smtClean="0">
              <a:latin typeface="Calibri" panose="020F0502020204030204" pitchFamily="34" charset="0"/>
            </a:endParaRP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Programování </a:t>
            </a:r>
            <a:endParaRPr lang="cs-CZ" sz="1600" b="1" kern="0" dirty="0" smtClean="0">
              <a:latin typeface="Calibri" panose="020F0502020204030204" pitchFamily="34" charset="0"/>
            </a:endParaRP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altLang="cs-CZ" sz="1600" b="1" kern="0" dirty="0" smtClean="0">
                <a:latin typeface="Calibri" panose="020F0502020204030204" pitchFamily="34" charset="0"/>
              </a:rPr>
              <a:t>Použití ve větším reálném systému </a:t>
            </a:r>
            <a:endParaRPr lang="cs-CZ" altLang="cs-CZ" sz="1600" b="1" dirty="0"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2</a:t>
            </a:fld>
            <a:endParaRPr lang="cs-CZ" altLang="cs-CZ">
              <a:latin typeface="Calibri" pitchFamily="34" charset="0"/>
            </a:endParaRPr>
          </a:p>
        </p:txBody>
      </p:sp>
      <p:pic>
        <p:nvPicPr>
          <p:cNvPr id="7175" name="Picture 8" descr="https://photos-3.dropbox.com/t/2/AACe9uOFpue-gDj2RhdM3k-O3YlxRC70h8Q8dhvzY7sh2A/12/116278065/jpeg/32x32/3/1477072800/0/2/_61A7720uprBW.jpg/EJDg3VkY-kYgAigC/nkl3KRGyglFmEJeOSLrEPknYQ8uQqV5ds3IAhLCXMIc?size_mode=3&amp;dl=0&amp;size=800x6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888" y="3933825"/>
            <a:ext cx="2854325" cy="207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XML – jazyk pro strukturovaná data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357188" y="1629346"/>
            <a:ext cx="4718868" cy="467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smtClean="0">
                <a:latin typeface="Calibri" panose="020F0502020204030204" pitchFamily="34" charset="0"/>
              </a:rPr>
              <a:t>XML (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xEtensible</a:t>
            </a:r>
            <a:r>
              <a:rPr lang="cs-CZ" sz="1800" b="1" kern="0" dirty="0" smtClean="0">
                <a:latin typeface="Calibri" panose="020F0502020204030204" pitchFamily="34" charset="0"/>
              </a:rPr>
              <a:t> 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Markup</a:t>
            </a:r>
            <a:r>
              <a:rPr lang="cs-CZ" sz="1800" b="1" kern="0" dirty="0" smtClean="0">
                <a:latin typeface="Calibri" panose="020F0502020204030204" pitchFamily="34" charset="0"/>
              </a:rPr>
              <a:t> 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Language</a:t>
            </a:r>
            <a:r>
              <a:rPr lang="cs-CZ" sz="1800" b="1" kern="0" dirty="0" smtClean="0">
                <a:latin typeface="Calibri" panose="020F0502020204030204" pitchFamily="34" charset="0"/>
              </a:rPr>
              <a:t>)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smtClean="0">
                <a:latin typeface="Calibri" panose="020F0502020204030204" pitchFamily="34" charset="0"/>
              </a:rPr>
              <a:t>Obsahuje prvky: </a:t>
            </a:r>
          </a:p>
          <a:p>
            <a:pPr marL="717550" lvl="1" indent="-269875" algn="just" eaLnBrk="1" hangingPunct="1">
              <a:spcBef>
                <a:spcPts val="1200"/>
              </a:spcBef>
              <a:buFont typeface="Wingdings" pitchFamily="2" charset="2"/>
              <a:buChar char="v"/>
              <a:defRPr/>
            </a:pPr>
            <a:r>
              <a:rPr lang="cs-CZ" sz="1600" b="1" kern="0" dirty="0" err="1" smtClean="0">
                <a:latin typeface="Calibri" panose="020F0502020204030204" pitchFamily="34" charset="0"/>
              </a:rPr>
              <a:t>Tagy</a:t>
            </a:r>
            <a:r>
              <a:rPr lang="cs-CZ" sz="1600" b="1" kern="0" dirty="0" smtClean="0">
                <a:latin typeface="Calibri" panose="020F0502020204030204" pitchFamily="34" charset="0"/>
              </a:rPr>
              <a:t> (Elementy)</a:t>
            </a:r>
            <a:endParaRPr lang="cs-CZ" sz="1200" b="1" kern="0" dirty="0" smtClean="0">
              <a:latin typeface="Calibri" panose="020F0502020204030204" pitchFamily="34" charset="0"/>
            </a:endParaRPr>
          </a:p>
          <a:p>
            <a:pPr marL="717550" lvl="1" indent="-269875" algn="just" eaLnBrk="1" hangingPunct="1">
              <a:spcBef>
                <a:spcPts val="1200"/>
              </a:spcBef>
              <a:buFont typeface="Wingdings" pitchFamily="2" charset="2"/>
              <a:buChar char="v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Atributy</a:t>
            </a:r>
            <a:endParaRPr lang="cs-CZ" sz="1200" b="1" kern="0" dirty="0" smtClean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717550" lvl="1" indent="-269875" algn="just" eaLnBrk="1" hangingPunct="1">
              <a:spcBef>
                <a:spcPts val="1200"/>
              </a:spcBef>
              <a:buFont typeface="Wingdings" pitchFamily="2" charset="2"/>
              <a:buChar char="v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Text</a:t>
            </a:r>
            <a:endParaRPr lang="cs-CZ" sz="1200" b="1" kern="0" dirty="0" smtClean="0">
              <a:latin typeface="Calibri" panose="020F0502020204030204" pitchFamily="34" charset="0"/>
            </a:endParaRPr>
          </a:p>
          <a:p>
            <a:pPr marL="717550" lvl="1" indent="-269875" algn="just" eaLnBrk="1" hangingPunct="1">
              <a:spcBef>
                <a:spcPts val="1200"/>
              </a:spcBef>
              <a:buFont typeface="Wingdings" pitchFamily="2" charset="2"/>
              <a:buChar char="v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Pomocné konstrukce:</a:t>
            </a: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r>
              <a:rPr lang="cs-CZ" sz="1400" b="1" kern="0" dirty="0" smtClean="0">
                <a:latin typeface="Calibri" panose="020F0502020204030204" pitchFamily="34" charset="0"/>
              </a:rPr>
              <a:t>Komentáře</a:t>
            </a:r>
            <a:endParaRPr lang="cs-CZ" sz="1200" b="1" kern="0" dirty="0" smtClean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r>
              <a:rPr lang="cs-CZ" sz="1400" b="1" kern="0" dirty="0" smtClean="0">
                <a:latin typeface="Calibri" panose="020F0502020204030204" pitchFamily="34" charset="0"/>
              </a:rPr>
              <a:t>Procesní instrukce</a:t>
            </a:r>
            <a:endParaRPr lang="cs-CZ" sz="1200" b="1" kern="0" dirty="0" smtClean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r>
              <a:rPr lang="cs-CZ" sz="1400" b="1" kern="0" dirty="0" smtClean="0">
                <a:latin typeface="Calibri" panose="020F0502020204030204" pitchFamily="34" charset="0"/>
              </a:rPr>
              <a:t>Entity (znakové a pojmenované)</a:t>
            </a:r>
            <a:endParaRPr lang="cs-CZ" sz="1200" b="1" kern="0" dirty="0" smtClean="0">
              <a:latin typeface="Calibri" panose="020F0502020204030204" pitchFamily="34" charset="0"/>
            </a:endParaRP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r>
              <a:rPr lang="cs-CZ" sz="1400" b="1" kern="0" dirty="0" smtClean="0">
                <a:latin typeface="Calibri" panose="020F0502020204030204" pitchFamily="34" charset="0"/>
              </a:rPr>
              <a:t>CDATA sekce</a:t>
            </a:r>
            <a:endParaRPr lang="cs-CZ" sz="1200" b="1" kern="0" dirty="0" smtClean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r>
              <a:rPr lang="cs-CZ" sz="1400" b="1" kern="0" dirty="0" smtClean="0">
                <a:latin typeface="Calibri" panose="020F0502020204030204" pitchFamily="34" charset="0"/>
              </a:rPr>
              <a:t>Odkaz na definici DTD</a:t>
            </a:r>
            <a:endParaRPr lang="cs-CZ" sz="1200" b="1" kern="0" dirty="0" smtClean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717550" lvl="1" indent="-269875" algn="just" eaLnBrk="1" hangingPunct="1">
              <a:spcBef>
                <a:spcPts val="1200"/>
              </a:spcBef>
              <a:buFont typeface="Wingdings" pitchFamily="2" charset="2"/>
              <a:buChar char="v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Jmenné prostory</a:t>
            </a: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endParaRPr lang="cs-CZ" altLang="cs-CZ" sz="1200" b="1" kern="0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3</a:t>
            </a:fld>
            <a:endParaRPr lang="cs-CZ" altLang="cs-CZ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XML – jazyk pro strukturovaná data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357188" y="1628800"/>
            <a:ext cx="4718868" cy="467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smtClean="0">
                <a:latin typeface="Calibri" panose="020F0502020204030204" pitchFamily="34" charset="0"/>
              </a:rPr>
              <a:t>XML (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xEtensible</a:t>
            </a:r>
            <a:r>
              <a:rPr lang="cs-CZ" sz="1800" b="1" kern="0" dirty="0" smtClean="0">
                <a:latin typeface="Calibri" panose="020F0502020204030204" pitchFamily="34" charset="0"/>
              </a:rPr>
              <a:t> 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Markup</a:t>
            </a:r>
            <a:r>
              <a:rPr lang="cs-CZ" sz="1800" b="1" kern="0" dirty="0" smtClean="0">
                <a:latin typeface="Calibri" panose="020F0502020204030204" pitchFamily="34" charset="0"/>
              </a:rPr>
              <a:t> 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Language</a:t>
            </a:r>
            <a:r>
              <a:rPr lang="cs-CZ" sz="1800" b="1" kern="0" dirty="0" smtClean="0">
                <a:latin typeface="Calibri" panose="020F0502020204030204" pitchFamily="34" charset="0"/>
              </a:rPr>
              <a:t>)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smtClean="0">
                <a:latin typeface="Calibri" panose="020F0502020204030204" pitchFamily="34" charset="0"/>
              </a:rPr>
              <a:t>Obsahuje prvky: </a:t>
            </a:r>
          </a:p>
          <a:p>
            <a:pPr marL="717550" lvl="1" indent="-269875" algn="just" eaLnBrk="1" hangingPunct="1">
              <a:spcBef>
                <a:spcPts val="1200"/>
              </a:spcBef>
              <a:buFont typeface="Wingdings" pitchFamily="2" charset="2"/>
              <a:buChar char="v"/>
              <a:defRPr/>
            </a:pPr>
            <a:r>
              <a:rPr lang="cs-CZ" sz="1600" b="1" kern="0" dirty="0" err="1" smtClean="0">
                <a:latin typeface="Calibri" panose="020F0502020204030204" pitchFamily="34" charset="0"/>
              </a:rPr>
              <a:t>Tagy</a:t>
            </a:r>
            <a:r>
              <a:rPr lang="cs-CZ" sz="1600" b="1" kern="0" dirty="0" smtClean="0">
                <a:latin typeface="Calibri" panose="020F0502020204030204" pitchFamily="34" charset="0"/>
              </a:rPr>
              <a:t> (Elementy)  </a:t>
            </a:r>
            <a:r>
              <a:rPr lang="cs-CZ" sz="12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- &lt;Rodina&gt;</a:t>
            </a:r>
            <a:endParaRPr lang="cs-CZ" sz="1200" b="1" kern="0" dirty="0" smtClean="0">
              <a:latin typeface="Calibri" panose="020F0502020204030204" pitchFamily="34" charset="0"/>
            </a:endParaRPr>
          </a:p>
          <a:p>
            <a:pPr marL="717550" lvl="1" indent="-269875" algn="just" eaLnBrk="1" hangingPunct="1">
              <a:spcBef>
                <a:spcPts val="1200"/>
              </a:spcBef>
              <a:buFont typeface="Wingdings" pitchFamily="2" charset="2"/>
              <a:buChar char="v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Atributy  </a:t>
            </a:r>
            <a:r>
              <a:rPr lang="cs-CZ" sz="12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- Jméno="Jan Novák"</a:t>
            </a:r>
          </a:p>
          <a:p>
            <a:pPr marL="717550" lvl="1" indent="-269875" algn="just" eaLnBrk="1" hangingPunct="1">
              <a:spcBef>
                <a:spcPts val="1200"/>
              </a:spcBef>
              <a:buFont typeface="Wingdings" pitchFamily="2" charset="2"/>
              <a:buChar char="v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Text  </a:t>
            </a:r>
            <a:r>
              <a:rPr lang="cs-CZ" sz="12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- OSVČ, konzultant, kuřák</a:t>
            </a:r>
            <a:endParaRPr lang="cs-CZ" sz="1200" b="1" kern="0" dirty="0" smtClean="0">
              <a:latin typeface="Calibri" panose="020F0502020204030204" pitchFamily="34" charset="0"/>
            </a:endParaRPr>
          </a:p>
          <a:p>
            <a:pPr marL="717550" lvl="1" indent="-269875" algn="just" eaLnBrk="1" hangingPunct="1">
              <a:spcBef>
                <a:spcPts val="1200"/>
              </a:spcBef>
              <a:buFont typeface="Wingdings" pitchFamily="2" charset="2"/>
              <a:buChar char="v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Pomocné konstrukce:</a:t>
            </a: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r>
              <a:rPr lang="cs-CZ" sz="1400" b="1" kern="0" dirty="0" smtClean="0">
                <a:latin typeface="Calibri" panose="020F0502020204030204" pitchFamily="34" charset="0"/>
              </a:rPr>
              <a:t>Komentáře  </a:t>
            </a:r>
            <a:r>
              <a:rPr lang="cs-CZ" sz="12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- &lt;!-- Popis rodiny --&gt;</a:t>
            </a: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r>
              <a:rPr lang="cs-CZ" sz="1400" b="1" kern="0" dirty="0" smtClean="0">
                <a:latin typeface="Calibri" panose="020F0502020204030204" pitchFamily="34" charset="0"/>
              </a:rPr>
              <a:t>Procesní instrukce </a:t>
            </a:r>
            <a:r>
              <a:rPr lang="cs-CZ" sz="14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- </a:t>
            </a:r>
            <a:r>
              <a:rPr lang="cs-CZ" sz="12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&lt;?xml </a:t>
            </a:r>
            <a:r>
              <a:rPr lang="cs-CZ" sz="1200" b="1" kern="0" dirty="0" err="1" smtClean="0">
                <a:solidFill>
                  <a:srgbClr val="0000FF"/>
                </a:solidFill>
                <a:latin typeface="Calibri" panose="020F0502020204030204" pitchFamily="34" charset="0"/>
              </a:rPr>
              <a:t>version</a:t>
            </a:r>
            <a:r>
              <a:rPr lang="cs-CZ" sz="12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="1.0" … ?&gt; </a:t>
            </a: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r>
              <a:rPr lang="cs-CZ" sz="1400" b="1" kern="0" dirty="0" smtClean="0">
                <a:latin typeface="Calibri" panose="020F0502020204030204" pitchFamily="34" charset="0"/>
              </a:rPr>
              <a:t>Entity (znakové a pojmenované)  </a:t>
            </a:r>
            <a:r>
              <a:rPr lang="cs-CZ" sz="12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- &amp;</a:t>
            </a:r>
            <a:r>
              <a:rPr lang="cs-CZ" sz="1200" b="1" kern="0" dirty="0" err="1" smtClean="0">
                <a:solidFill>
                  <a:srgbClr val="0000FF"/>
                </a:solidFill>
                <a:latin typeface="Calibri" panose="020F0502020204030204" pitchFamily="34" charset="0"/>
              </a:rPr>
              <a:t>lt</a:t>
            </a:r>
            <a:endParaRPr lang="cs-CZ" sz="1200" b="1" kern="0" dirty="0" smtClean="0">
              <a:latin typeface="Calibri" panose="020F0502020204030204" pitchFamily="34" charset="0"/>
            </a:endParaRP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r>
              <a:rPr lang="cs-CZ" sz="1400" b="1" kern="0" dirty="0" smtClean="0">
                <a:latin typeface="Calibri" panose="020F0502020204030204" pitchFamily="34" charset="0"/>
              </a:rPr>
              <a:t>CDATA sekce  </a:t>
            </a:r>
            <a:r>
              <a:rPr lang="cs-CZ" sz="12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- &lt;![CDATA[ Pavel tvrdí, že 5 &gt; 4 ]]&gt;</a:t>
            </a: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r>
              <a:rPr lang="cs-CZ" sz="1400" b="1" kern="0" dirty="0" smtClean="0">
                <a:latin typeface="Calibri" panose="020F0502020204030204" pitchFamily="34" charset="0"/>
              </a:rPr>
              <a:t>Odkaz na definici DTD </a:t>
            </a:r>
            <a:r>
              <a:rPr lang="cs-CZ" sz="12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- &lt;!DOCTYPE Rodina SYSTEM …&gt;</a:t>
            </a:r>
          </a:p>
          <a:p>
            <a:pPr marL="717550" lvl="1" indent="-269875" algn="just" eaLnBrk="1" hangingPunct="1">
              <a:spcBef>
                <a:spcPts val="1200"/>
              </a:spcBef>
              <a:buFont typeface="Wingdings" pitchFamily="2" charset="2"/>
              <a:buChar char="v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Jmenné prostory</a:t>
            </a:r>
          </a:p>
          <a:p>
            <a:pPr marL="896938" lvl="2" indent="-179388" algn="just" eaLnBrk="1" hangingPunct="1">
              <a:spcBef>
                <a:spcPts val="900"/>
              </a:spcBef>
              <a:buFont typeface="Wingdings" pitchFamily="2" charset="2"/>
              <a:buChar char="§"/>
              <a:defRPr/>
            </a:pPr>
            <a:endParaRPr lang="cs-CZ" altLang="cs-CZ" sz="1200" b="1" kern="0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4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5076056" y="1628800"/>
            <a:ext cx="3672408" cy="4392488"/>
          </a:xfrm>
          <a:prstGeom prst="roundRect">
            <a:avLst>
              <a:gd name="adj" fmla="val 28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&lt;?xml </a:t>
            </a:r>
            <a:r>
              <a:rPr lang="cs-CZ" sz="950" b="1" dirty="0" err="1" smtClean="0">
                <a:latin typeface="Consolas" pitchFamily="49" charset="0"/>
              </a:rPr>
              <a:t>version</a:t>
            </a:r>
            <a:r>
              <a:rPr lang="cs-CZ" sz="950" b="1" dirty="0" smtClean="0">
                <a:latin typeface="Consolas" pitchFamily="49" charset="0"/>
              </a:rPr>
              <a:t>="1.0" </a:t>
            </a:r>
            <a:r>
              <a:rPr lang="cs-CZ" sz="950" b="1" dirty="0" err="1" smtClean="0">
                <a:latin typeface="Consolas" pitchFamily="49" charset="0"/>
              </a:rPr>
              <a:t>encoding</a:t>
            </a:r>
            <a:r>
              <a:rPr lang="cs-CZ" sz="950" b="1" dirty="0" smtClean="0">
                <a:latin typeface="Consolas" pitchFamily="49" charset="0"/>
              </a:rPr>
              <a:t>="UTF-8" ?&gt;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&lt;!DOCTYPE Rodina SYSTEM "Rodina.</a:t>
            </a:r>
            <a:r>
              <a:rPr lang="cs-CZ" sz="950" b="1" dirty="0" err="1" smtClean="0">
                <a:latin typeface="Consolas" pitchFamily="49" charset="0"/>
              </a:rPr>
              <a:t>dtd</a:t>
            </a:r>
            <a:r>
              <a:rPr lang="cs-CZ" sz="95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&lt;!-- Popis rodiny --&gt;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&lt;Rodina&gt;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&lt;Otec Jméno="Jan Novák" Narození="3.6.1974"&gt;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  OSVČ, konzultant, kuřák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&lt;/Otec&gt;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&lt;Matka Jméno="Eva Nováková" Narození="12.2.1976"&gt;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  zaměstnanec, zdravotní sestra, nekuřák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&lt;Dcera Jméno="Eva Nováková" Narození="12.2.2001"&gt;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  všeobecné gymnázium, nekuřák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&lt;/Dcera&gt;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&lt;Syn Jméno="Jan Novák"&gt;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  Jan tvrdí, že 3 &amp;</a:t>
            </a:r>
            <a:r>
              <a:rPr lang="cs-CZ" sz="950" b="1" dirty="0" err="1" smtClean="0">
                <a:latin typeface="Consolas" pitchFamily="49" charset="0"/>
              </a:rPr>
              <a:t>lt</a:t>
            </a:r>
            <a:r>
              <a:rPr lang="cs-CZ" sz="950" b="1" dirty="0" smtClean="0">
                <a:latin typeface="Consolas" pitchFamily="49" charset="0"/>
              </a:rPr>
              <a:t> 4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&lt;Syn Jméno="Pavel Novák"&gt;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  &lt;![CDATA[ Pavel tvrdí, že 5 &gt; 4 ]]&gt;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950" b="1" dirty="0" smtClean="0">
                <a:latin typeface="Consolas" pitchFamily="49" charset="0"/>
              </a:rPr>
              <a:t>&lt;/Rodina&gt;</a:t>
            </a:r>
          </a:p>
          <a:p>
            <a:pPr>
              <a:defRPr/>
            </a:pPr>
            <a:endParaRPr lang="cs-CZ" sz="1000" b="1" dirty="0"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Zaoblený obdélník 174"/>
          <p:cNvSpPr/>
          <p:nvPr/>
        </p:nvSpPr>
        <p:spPr bwMode="auto">
          <a:xfrm>
            <a:off x="3203848" y="3356992"/>
            <a:ext cx="2520280" cy="2736304"/>
          </a:xfrm>
          <a:prstGeom prst="roundRect">
            <a:avLst>
              <a:gd name="adj" fmla="val 2814"/>
            </a:avLst>
          </a:prstGeom>
          <a:gradFill>
            <a:gsLst>
              <a:gs pos="0">
                <a:srgbClr val="BEFEE6"/>
              </a:gs>
              <a:gs pos="50000">
                <a:srgbClr val="C8DCDE"/>
              </a:gs>
              <a:gs pos="100000">
                <a:srgbClr val="9BD8D9"/>
              </a:gs>
            </a:gsLst>
            <a:lin ang="5400000" scaled="0"/>
          </a:gra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b"/>
          <a:lstStyle/>
          <a:p>
            <a:pPr algn="ctr">
              <a:defRPr/>
            </a:pPr>
            <a:r>
              <a:rPr lang="cs-CZ" sz="2800" b="1" dirty="0" smtClean="0">
                <a:latin typeface="Consolas" pitchFamily="49" charset="0"/>
              </a:rPr>
              <a:t>Program</a:t>
            </a:r>
            <a:endParaRPr lang="cs-CZ" sz="1800" b="1" dirty="0">
              <a:latin typeface="Consolas" pitchFamily="49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08720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Standardní dostupné nástroje pro xml</a:t>
            </a:r>
            <a:endParaRPr lang="cs-CZ" sz="24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5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Přímá spojovací šipka 131"/>
          <p:cNvCxnSpPr/>
          <p:nvPr/>
        </p:nvCxnSpPr>
        <p:spPr bwMode="auto">
          <a:xfrm>
            <a:off x="2915816" y="4077072"/>
            <a:ext cx="648072" cy="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8" name="Zaoblený obdélník 147"/>
          <p:cNvSpPr/>
          <p:nvPr/>
        </p:nvSpPr>
        <p:spPr bwMode="auto">
          <a:xfrm>
            <a:off x="539552" y="3284984"/>
            <a:ext cx="2376264" cy="1992184"/>
          </a:xfrm>
          <a:prstGeom prst="roundRect">
            <a:avLst>
              <a:gd name="adj" fmla="val 421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&lt;?xml </a:t>
            </a:r>
            <a:r>
              <a:rPr lang="cs-CZ" sz="600" b="1" dirty="0" err="1" smtClean="0">
                <a:latin typeface="Consolas" pitchFamily="49" charset="0"/>
              </a:rPr>
              <a:t>version</a:t>
            </a:r>
            <a:r>
              <a:rPr lang="cs-CZ" sz="600" b="1" dirty="0" smtClean="0">
                <a:latin typeface="Consolas" pitchFamily="49" charset="0"/>
              </a:rPr>
              <a:t>="1.0" </a:t>
            </a:r>
            <a:r>
              <a:rPr lang="cs-CZ" sz="600" b="1" dirty="0" err="1" smtClean="0">
                <a:latin typeface="Consolas" pitchFamily="49" charset="0"/>
              </a:rPr>
              <a:t>encoding</a:t>
            </a:r>
            <a:r>
              <a:rPr lang="cs-CZ" sz="600" b="1" dirty="0" smtClean="0">
                <a:latin typeface="Consolas" pitchFamily="49" charset="0"/>
              </a:rPr>
              <a:t>="UTF-8" ?&gt;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&lt;!DOCTYPE Rodina SYSTEM "Rodina.</a:t>
            </a:r>
            <a:r>
              <a:rPr lang="cs-CZ" sz="600" b="1" dirty="0" err="1" smtClean="0">
                <a:latin typeface="Consolas" pitchFamily="49" charset="0"/>
              </a:rPr>
              <a:t>dtd</a:t>
            </a:r>
            <a:r>
              <a:rPr lang="cs-CZ" sz="6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&lt;!-- Popis rodiny --&gt;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&lt;Rodina&gt;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&lt;Otec Jméno="Jan Novák" Narození="3.6.1974"&gt;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OSVČ, konzultant, 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&lt;/Otec&gt;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&lt;Matka Jméno="Eva Nováková" Narození="12.2.1976"&gt;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zaměstnanec, zdravotní sestra, nekuřák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&lt;Dcera Jméno="Eva Nováková" Narození="12.2.2001"&gt;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všeobecné gymnázium, nekuřák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&lt;/Dcera&gt;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&lt;Syn Jméno="Jan Novák"&gt;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Jan tvrdí, že 3 &amp;</a:t>
            </a:r>
            <a:r>
              <a:rPr lang="cs-CZ" sz="600" b="1" dirty="0" err="1" smtClean="0">
                <a:latin typeface="Consolas" pitchFamily="49" charset="0"/>
              </a:rPr>
              <a:t>lt</a:t>
            </a:r>
            <a:r>
              <a:rPr lang="cs-CZ" sz="600" b="1" dirty="0" smtClean="0">
                <a:latin typeface="Consolas" pitchFamily="49" charset="0"/>
              </a:rPr>
              <a:t> 4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&lt;Syn Jméno="Pavel Novák"&gt;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&lt;![CDATA[ Pavel tvrdí, že 5 &gt; 4 ]]&gt;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&lt;/Rodina&gt;</a:t>
            </a:r>
          </a:p>
          <a:p>
            <a:pPr>
              <a:defRPr/>
            </a:pPr>
            <a:endParaRPr lang="cs-CZ" sz="700" b="1" dirty="0">
              <a:latin typeface="Consolas" pitchFamily="49" charset="0"/>
            </a:endParaRPr>
          </a:p>
        </p:txBody>
      </p:sp>
      <p:cxnSp>
        <p:nvCxnSpPr>
          <p:cNvPr id="138" name="Přímá spojovací šipka 137"/>
          <p:cNvCxnSpPr/>
          <p:nvPr/>
        </p:nvCxnSpPr>
        <p:spPr bwMode="auto">
          <a:xfrm>
            <a:off x="4427984" y="3068960"/>
            <a:ext cx="0" cy="57606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3" name="Zaoblený obdélník 142"/>
          <p:cNvSpPr/>
          <p:nvPr/>
        </p:nvSpPr>
        <p:spPr bwMode="auto">
          <a:xfrm>
            <a:off x="3491880" y="2276872"/>
            <a:ext cx="1872208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cs-CZ" sz="1800" b="1" dirty="0" smtClean="0">
                <a:latin typeface="Consolas" pitchFamily="49" charset="0"/>
                <a:cs typeface="Calibri" pitchFamily="34" charset="0"/>
              </a:rPr>
              <a:t>Přepis</a:t>
            </a:r>
          </a:p>
        </p:txBody>
      </p:sp>
      <p:cxnSp>
        <p:nvCxnSpPr>
          <p:cNvPr id="181" name="Přímá spojovací šipka 180"/>
          <p:cNvCxnSpPr/>
          <p:nvPr/>
        </p:nvCxnSpPr>
        <p:spPr bwMode="auto">
          <a:xfrm>
            <a:off x="4427984" y="4365104"/>
            <a:ext cx="0" cy="57606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37" name="Zaoblený obdélník 36"/>
          <p:cNvSpPr/>
          <p:nvPr/>
        </p:nvSpPr>
        <p:spPr bwMode="auto">
          <a:xfrm>
            <a:off x="3563888" y="3645024"/>
            <a:ext cx="1800200" cy="792088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smtClean="0">
                <a:latin typeface="Consolas" pitchFamily="49" charset="0"/>
              </a:rPr>
              <a:t>Knihovna</a:t>
            </a:r>
            <a:endParaRPr lang="cs-CZ" sz="1400" b="1" dirty="0">
              <a:latin typeface="Consolas" pitchFamily="49" charset="0"/>
            </a:endParaRPr>
          </a:p>
        </p:txBody>
      </p:sp>
      <p:sp>
        <p:nvSpPr>
          <p:cNvPr id="180" name="Zaoblený obdélník 179"/>
          <p:cNvSpPr/>
          <p:nvPr/>
        </p:nvSpPr>
        <p:spPr bwMode="auto">
          <a:xfrm>
            <a:off x="3995936" y="4941168"/>
            <a:ext cx="864096" cy="432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9" name="TextovéPole 188"/>
          <p:cNvSpPr txBox="1"/>
          <p:nvPr/>
        </p:nvSpPr>
        <p:spPr>
          <a:xfrm>
            <a:off x="7020272" y="4221088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DOM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90" name="Přímá spojovací šipka 189"/>
          <p:cNvCxnSpPr/>
          <p:nvPr/>
        </p:nvCxnSpPr>
        <p:spPr bwMode="auto">
          <a:xfrm flipH="1">
            <a:off x="4932040" y="4437112"/>
            <a:ext cx="2088232" cy="504056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92" name="TextovéPole 191"/>
          <p:cNvSpPr txBox="1"/>
          <p:nvPr/>
        </p:nvSpPr>
        <p:spPr>
          <a:xfrm>
            <a:off x="6660232" y="1988840"/>
            <a:ext cx="14093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DTD</a:t>
            </a:r>
          </a:p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XML </a:t>
            </a:r>
            <a:r>
              <a:rPr lang="cs-CZ" sz="1800" b="1" dirty="0" err="1" smtClean="0">
                <a:latin typeface="Calibri" pitchFamily="34" charset="0"/>
                <a:cs typeface="Calibri" pitchFamily="34" charset="0"/>
              </a:rPr>
              <a:t>Schema</a:t>
            </a:r>
            <a:endParaRPr lang="cs-CZ" sz="1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cs-CZ" sz="1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t>Relax</a:t>
            </a:r>
            <a:r>
              <a:rPr lang="cs-CZ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t> NG</a:t>
            </a:r>
          </a:p>
          <a:p>
            <a:r>
              <a:rPr lang="cs-CZ" sz="1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X-definice</a:t>
            </a:r>
            <a:endParaRPr lang="cs-CZ" sz="18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93" name="Přímá spojovací šipka 192"/>
          <p:cNvCxnSpPr>
            <a:stCxn id="198" idx="1"/>
            <a:endCxn id="143" idx="3"/>
          </p:cNvCxnSpPr>
          <p:nvPr/>
        </p:nvCxnSpPr>
        <p:spPr bwMode="auto">
          <a:xfrm flipH="1">
            <a:off x="5364088" y="2600908"/>
            <a:ext cx="1080120" cy="72008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/>
          </a:ln>
          <a:effectLst/>
        </p:spPr>
      </p:cxnSp>
      <p:sp>
        <p:nvSpPr>
          <p:cNvPr id="198" name="Levá složená závorka 197"/>
          <p:cNvSpPr/>
          <p:nvPr/>
        </p:nvSpPr>
        <p:spPr bwMode="auto">
          <a:xfrm>
            <a:off x="6444208" y="2060848"/>
            <a:ext cx="288032" cy="1080120"/>
          </a:xfrm>
          <a:prstGeom prst="leftBrace">
            <a:avLst/>
          </a:prstGeom>
          <a:noFill/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00" name="TextovéPole 199"/>
          <p:cNvSpPr txBox="1"/>
          <p:nvPr/>
        </p:nvSpPr>
        <p:spPr>
          <a:xfrm>
            <a:off x="6228184" y="3645024"/>
            <a:ext cx="784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err="1" smtClean="0">
                <a:latin typeface="Calibri" pitchFamily="34" charset="0"/>
                <a:cs typeface="Calibri" pitchFamily="34" charset="0"/>
              </a:rPr>
              <a:t>Parser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01" name="Přímá spojovací šipka 200"/>
          <p:cNvCxnSpPr>
            <a:stCxn id="200" idx="1"/>
          </p:cNvCxnSpPr>
          <p:nvPr/>
        </p:nvCxnSpPr>
        <p:spPr bwMode="auto">
          <a:xfrm flipH="1">
            <a:off x="5436096" y="3829690"/>
            <a:ext cx="792088" cy="175374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3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Zaoblený obdélník 174"/>
          <p:cNvSpPr/>
          <p:nvPr/>
        </p:nvSpPr>
        <p:spPr bwMode="auto">
          <a:xfrm>
            <a:off x="3203848" y="3356992"/>
            <a:ext cx="2520280" cy="2736304"/>
          </a:xfrm>
          <a:prstGeom prst="roundRect">
            <a:avLst>
              <a:gd name="adj" fmla="val 2814"/>
            </a:avLst>
          </a:prstGeom>
          <a:gradFill>
            <a:gsLst>
              <a:gs pos="0">
                <a:srgbClr val="BEFEE6"/>
              </a:gs>
              <a:gs pos="50000">
                <a:srgbClr val="C8DCDE"/>
              </a:gs>
              <a:gs pos="100000">
                <a:srgbClr val="9BD8D9"/>
              </a:gs>
            </a:gsLst>
            <a:lin ang="5400000" scaled="0"/>
          </a:gra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b"/>
          <a:lstStyle/>
          <a:p>
            <a:pPr algn="ctr">
              <a:defRPr/>
            </a:pPr>
            <a:r>
              <a:rPr lang="cs-CZ" sz="2800" b="1" dirty="0" smtClean="0">
                <a:latin typeface="Consolas" pitchFamily="49" charset="0"/>
              </a:rPr>
              <a:t>Program</a:t>
            </a:r>
            <a:endParaRPr lang="cs-CZ" sz="1800" b="1" dirty="0">
              <a:latin typeface="Consolas" pitchFamily="49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08720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Standardní dostupné nástroje pro xml</a:t>
            </a:r>
            <a:endParaRPr lang="cs-CZ" sz="24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6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Zaoblený obdélník 147"/>
          <p:cNvSpPr/>
          <p:nvPr/>
        </p:nvSpPr>
        <p:spPr bwMode="auto">
          <a:xfrm>
            <a:off x="2339752" y="3861048"/>
            <a:ext cx="576064" cy="486281"/>
          </a:xfrm>
          <a:prstGeom prst="roundRect">
            <a:avLst>
              <a:gd name="adj" fmla="val 421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cs-CZ" sz="200" b="1" dirty="0" smtClean="0">
                <a:latin typeface="Consolas" pitchFamily="49" charset="0"/>
              </a:rPr>
              <a:t>&lt;?xml </a:t>
            </a:r>
            <a:r>
              <a:rPr lang="cs-CZ" sz="200" b="1" dirty="0" err="1" smtClean="0">
                <a:latin typeface="Consolas" pitchFamily="49" charset="0"/>
              </a:rPr>
              <a:t>version</a:t>
            </a:r>
            <a:r>
              <a:rPr lang="cs-CZ" sz="200" b="1" dirty="0" smtClean="0">
                <a:latin typeface="Consolas" pitchFamily="49" charset="0"/>
              </a:rPr>
              <a:t>="1.0" </a:t>
            </a:r>
            <a:r>
              <a:rPr lang="cs-CZ" sz="200" b="1" dirty="0" err="1" smtClean="0">
                <a:latin typeface="Consolas" pitchFamily="49" charset="0"/>
              </a:rPr>
              <a:t>encoding</a:t>
            </a:r>
            <a:r>
              <a:rPr lang="cs-CZ" sz="200" b="1" dirty="0" smtClean="0">
                <a:latin typeface="Consolas" pitchFamily="49" charset="0"/>
              </a:rPr>
              <a:t>="UTF-8" ?&gt;</a:t>
            </a:r>
          </a:p>
          <a:p>
            <a:pPr>
              <a:defRPr/>
            </a:pPr>
            <a:r>
              <a:rPr lang="cs-CZ" sz="200" b="1" dirty="0" smtClean="0">
                <a:latin typeface="Consolas" pitchFamily="49" charset="0"/>
              </a:rPr>
              <a:t>&lt;!DOCTYPE Rodina SYSTEM "Rodina.</a:t>
            </a:r>
            <a:r>
              <a:rPr lang="cs-CZ" sz="200" b="1" dirty="0" err="1" smtClean="0">
                <a:latin typeface="Consolas" pitchFamily="49" charset="0"/>
              </a:rPr>
              <a:t>dtd</a:t>
            </a:r>
            <a:r>
              <a:rPr lang="cs-CZ" sz="2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&lt;!-- Popis rodiny --&gt;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&lt;Rodina&gt;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&lt;Otec Jméno="Jan Novák" Narození="3.6.1974"&gt;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  OSVČ, konzultant, kuřák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&lt;/Otec&gt;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&lt;Matka Jméno="Eva Nováková" Narození="12.2.1976"&gt;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  zaměstnanec, zdravotní sestra, nekuřák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&lt;Dcera Jméno="Eva Nováková" Narození="12.2.2001"&gt;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  všeobecné gymnázium, nekuřák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&lt;/Dcera&gt;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&lt;Syn Jméno="Jan Novák"&gt;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  Jan tvrdí, že 3 &amp;</a:t>
            </a:r>
            <a:r>
              <a:rPr lang="cs-CZ" sz="100" b="1" dirty="0" err="1" smtClean="0">
                <a:latin typeface="Consolas" pitchFamily="49" charset="0"/>
              </a:rPr>
              <a:t>lt</a:t>
            </a:r>
            <a:r>
              <a:rPr lang="cs-CZ" sz="100" b="1" dirty="0" smtClean="0">
                <a:latin typeface="Consolas" pitchFamily="49" charset="0"/>
              </a:rPr>
              <a:t> 4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&lt;Syn Jméno="Pavel Novák"&gt;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  &lt;![CDATA[ Pavel tvrdí, že 5 &gt; 4 ]]&gt;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100" b="1" dirty="0" smtClean="0">
                <a:latin typeface="Consolas" pitchFamily="49" charset="0"/>
              </a:rPr>
              <a:t>&lt;/Rodina&gt;</a:t>
            </a:r>
            <a:endParaRPr lang="cs-CZ" sz="100" b="1" dirty="0">
              <a:latin typeface="Consolas" pitchFamily="49" charset="0"/>
            </a:endParaRPr>
          </a:p>
        </p:txBody>
      </p:sp>
      <p:cxnSp>
        <p:nvCxnSpPr>
          <p:cNvPr id="138" name="Přímá spojovací šipka 137"/>
          <p:cNvCxnSpPr/>
          <p:nvPr/>
        </p:nvCxnSpPr>
        <p:spPr bwMode="auto">
          <a:xfrm>
            <a:off x="4427984" y="3068960"/>
            <a:ext cx="0" cy="57606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3" name="Zaoblený obdélník 142"/>
          <p:cNvSpPr/>
          <p:nvPr/>
        </p:nvSpPr>
        <p:spPr bwMode="auto">
          <a:xfrm>
            <a:off x="3491880" y="2276872"/>
            <a:ext cx="1872208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cs-CZ" sz="1800" b="1" dirty="0" smtClean="0">
                <a:latin typeface="Consolas" pitchFamily="49" charset="0"/>
                <a:cs typeface="Calibri" pitchFamily="34" charset="0"/>
              </a:rPr>
              <a:t>Přepis</a:t>
            </a:r>
          </a:p>
        </p:txBody>
      </p:sp>
      <p:cxnSp>
        <p:nvCxnSpPr>
          <p:cNvPr id="181" name="Přímá spojovací šipka 180"/>
          <p:cNvCxnSpPr/>
          <p:nvPr/>
        </p:nvCxnSpPr>
        <p:spPr bwMode="auto">
          <a:xfrm>
            <a:off x="4427984" y="4365104"/>
            <a:ext cx="0" cy="57606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37" name="Zaoblený obdélník 36"/>
          <p:cNvSpPr/>
          <p:nvPr/>
        </p:nvSpPr>
        <p:spPr bwMode="auto">
          <a:xfrm>
            <a:off x="3563888" y="3645024"/>
            <a:ext cx="1800200" cy="792088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smtClean="0">
                <a:latin typeface="Consolas" pitchFamily="49" charset="0"/>
              </a:rPr>
              <a:t>Knihovna</a:t>
            </a:r>
            <a:endParaRPr lang="cs-CZ" sz="1400" b="1" dirty="0">
              <a:latin typeface="Consolas" pitchFamily="49" charset="0"/>
            </a:endParaRPr>
          </a:p>
        </p:txBody>
      </p:sp>
      <p:sp>
        <p:nvSpPr>
          <p:cNvPr id="180" name="Zaoblený obdélník 179"/>
          <p:cNvSpPr/>
          <p:nvPr/>
        </p:nvSpPr>
        <p:spPr bwMode="auto">
          <a:xfrm>
            <a:off x="3491880" y="4941167"/>
            <a:ext cx="1944216" cy="720000"/>
          </a:xfrm>
          <a:prstGeom prst="roundRect">
            <a:avLst>
              <a:gd name="adj" fmla="val 5599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9" name="TextovéPole 188"/>
          <p:cNvSpPr txBox="1"/>
          <p:nvPr/>
        </p:nvSpPr>
        <p:spPr>
          <a:xfrm>
            <a:off x="7020272" y="4221088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DOM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90" name="Přímá spojovací šipka 189"/>
          <p:cNvCxnSpPr/>
          <p:nvPr/>
        </p:nvCxnSpPr>
        <p:spPr bwMode="auto">
          <a:xfrm flipH="1">
            <a:off x="4932040" y="4437112"/>
            <a:ext cx="2088232" cy="504056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92" name="TextovéPole 191"/>
          <p:cNvSpPr txBox="1"/>
          <p:nvPr/>
        </p:nvSpPr>
        <p:spPr>
          <a:xfrm>
            <a:off x="6660232" y="1988840"/>
            <a:ext cx="14093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DTD</a:t>
            </a:r>
          </a:p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XML </a:t>
            </a:r>
            <a:r>
              <a:rPr lang="cs-CZ" sz="1800" b="1" dirty="0" err="1" smtClean="0">
                <a:latin typeface="Calibri" pitchFamily="34" charset="0"/>
                <a:cs typeface="Calibri" pitchFamily="34" charset="0"/>
              </a:rPr>
              <a:t>Schema</a:t>
            </a:r>
            <a:endParaRPr lang="cs-CZ" sz="1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cs-CZ" sz="18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t>Relax</a:t>
            </a:r>
            <a:r>
              <a:rPr lang="cs-CZ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rPr>
              <a:t> NG</a:t>
            </a:r>
          </a:p>
          <a:p>
            <a:r>
              <a:rPr lang="cs-CZ" sz="1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X-definice</a:t>
            </a:r>
            <a:endParaRPr lang="cs-CZ" sz="18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93" name="Přímá spojovací šipka 192"/>
          <p:cNvCxnSpPr>
            <a:stCxn id="198" idx="1"/>
            <a:endCxn id="143" idx="3"/>
          </p:cNvCxnSpPr>
          <p:nvPr/>
        </p:nvCxnSpPr>
        <p:spPr bwMode="auto">
          <a:xfrm flipH="1">
            <a:off x="5364088" y="2600908"/>
            <a:ext cx="1080120" cy="72008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/>
          </a:ln>
          <a:effectLst/>
        </p:spPr>
      </p:cxnSp>
      <p:sp>
        <p:nvSpPr>
          <p:cNvPr id="198" name="Levá složená závorka 197"/>
          <p:cNvSpPr/>
          <p:nvPr/>
        </p:nvSpPr>
        <p:spPr bwMode="auto">
          <a:xfrm>
            <a:off x="6444208" y="2060848"/>
            <a:ext cx="288032" cy="1080120"/>
          </a:xfrm>
          <a:prstGeom prst="leftBrace">
            <a:avLst/>
          </a:prstGeom>
          <a:noFill/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cxnSp>
        <p:nvCxnSpPr>
          <p:cNvPr id="26" name="Přímá spojovací šipka 25"/>
          <p:cNvCxnSpPr/>
          <p:nvPr/>
        </p:nvCxnSpPr>
        <p:spPr bwMode="auto">
          <a:xfrm>
            <a:off x="2915816" y="4077072"/>
            <a:ext cx="648072" cy="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27" name="TextovéPole 26"/>
          <p:cNvSpPr txBox="1"/>
          <p:nvPr/>
        </p:nvSpPr>
        <p:spPr>
          <a:xfrm>
            <a:off x="6228184" y="3645024"/>
            <a:ext cx="784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err="1" smtClean="0">
                <a:latin typeface="Calibri" pitchFamily="34" charset="0"/>
                <a:cs typeface="Calibri" pitchFamily="34" charset="0"/>
              </a:rPr>
              <a:t>Parser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8" name="Přímá spojovací šipka 27"/>
          <p:cNvCxnSpPr>
            <a:stCxn id="27" idx="1"/>
          </p:cNvCxnSpPr>
          <p:nvPr/>
        </p:nvCxnSpPr>
        <p:spPr bwMode="auto">
          <a:xfrm flipH="1">
            <a:off x="5436096" y="3829690"/>
            <a:ext cx="792088" cy="175374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3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Zaoblený obdélník 174"/>
          <p:cNvSpPr/>
          <p:nvPr/>
        </p:nvSpPr>
        <p:spPr bwMode="auto">
          <a:xfrm>
            <a:off x="3203848" y="3356992"/>
            <a:ext cx="2520280" cy="2736304"/>
          </a:xfrm>
          <a:prstGeom prst="roundRect">
            <a:avLst>
              <a:gd name="adj" fmla="val 2814"/>
            </a:avLst>
          </a:prstGeom>
          <a:gradFill>
            <a:gsLst>
              <a:gs pos="0">
                <a:srgbClr val="BEFEE6"/>
              </a:gs>
              <a:gs pos="50000">
                <a:srgbClr val="C8DCDE"/>
              </a:gs>
              <a:gs pos="100000">
                <a:srgbClr val="9BD8D9"/>
              </a:gs>
            </a:gsLst>
            <a:lin ang="5400000" scaled="0"/>
          </a:gra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b"/>
          <a:lstStyle/>
          <a:p>
            <a:pPr algn="ctr">
              <a:defRPr/>
            </a:pPr>
            <a:r>
              <a:rPr lang="cs-CZ" sz="2800" b="1" dirty="0" smtClean="0">
                <a:latin typeface="Consolas" pitchFamily="49" charset="0"/>
              </a:rPr>
              <a:t>Program</a:t>
            </a:r>
            <a:endParaRPr lang="cs-CZ" sz="1800" b="1" dirty="0">
              <a:latin typeface="Consolas" pitchFamily="49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08720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Standardní dostupné nástroje pro xml</a:t>
            </a:r>
            <a:endParaRPr lang="cs-CZ" sz="24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7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Přímá spojovací šipka 131"/>
          <p:cNvCxnSpPr/>
          <p:nvPr/>
        </p:nvCxnSpPr>
        <p:spPr bwMode="auto">
          <a:xfrm>
            <a:off x="2915816" y="4077072"/>
            <a:ext cx="648072" cy="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8" name="Zaoblený obdélník 147"/>
          <p:cNvSpPr/>
          <p:nvPr/>
        </p:nvSpPr>
        <p:spPr bwMode="auto">
          <a:xfrm>
            <a:off x="539552" y="3284984"/>
            <a:ext cx="2376264" cy="1992184"/>
          </a:xfrm>
          <a:prstGeom prst="roundRect">
            <a:avLst>
              <a:gd name="adj" fmla="val 421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&lt;?xml </a:t>
            </a:r>
            <a:r>
              <a:rPr lang="cs-CZ" sz="600" b="1" dirty="0" err="1" smtClean="0">
                <a:latin typeface="Consolas" pitchFamily="49" charset="0"/>
              </a:rPr>
              <a:t>version</a:t>
            </a:r>
            <a:r>
              <a:rPr lang="cs-CZ" sz="600" b="1" dirty="0" smtClean="0">
                <a:latin typeface="Consolas" pitchFamily="49" charset="0"/>
              </a:rPr>
              <a:t>="1.0" </a:t>
            </a:r>
            <a:r>
              <a:rPr lang="cs-CZ" sz="600" b="1" dirty="0" err="1" smtClean="0">
                <a:latin typeface="Consolas" pitchFamily="49" charset="0"/>
              </a:rPr>
              <a:t>encoding</a:t>
            </a:r>
            <a:r>
              <a:rPr lang="cs-CZ" sz="600" b="1" dirty="0" smtClean="0">
                <a:latin typeface="Consolas" pitchFamily="49" charset="0"/>
              </a:rPr>
              <a:t>="UTF-8" ?&gt;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&lt;!DOCTYPE Rodina SYSTEM "Rodina.</a:t>
            </a:r>
            <a:r>
              <a:rPr lang="cs-CZ" sz="600" b="1" dirty="0" err="1" smtClean="0">
                <a:latin typeface="Consolas" pitchFamily="49" charset="0"/>
              </a:rPr>
              <a:t>dtd</a:t>
            </a:r>
            <a:r>
              <a:rPr lang="cs-CZ" sz="6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&lt;!-- Popis rodiny --&gt;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&lt;Rodina&gt;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&lt;Otec Jméno="Jan Novák" Narození="3.6.1974"&gt;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OSVČ, konzultant, 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&lt;/Otec&gt;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&lt;Matka Jméno="Eva Nováková" Narození="12.2.1976"&gt;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zaměstnanec, zdravotní sestra, nekuřák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&lt;Dcera Jméno="Eva Nováková" Narození="12.2.2001"&gt;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všeobecné gymnázium, nekuřák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&lt;/Dcera&gt;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&lt;Syn Jméno="Jan Novák"&gt;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Jan tvrdí, že 3 &amp;</a:t>
            </a:r>
            <a:r>
              <a:rPr lang="cs-CZ" sz="600" b="1" dirty="0" err="1" smtClean="0">
                <a:latin typeface="Consolas" pitchFamily="49" charset="0"/>
              </a:rPr>
              <a:t>lt</a:t>
            </a:r>
            <a:r>
              <a:rPr lang="cs-CZ" sz="600" b="1" dirty="0" smtClean="0">
                <a:latin typeface="Consolas" pitchFamily="49" charset="0"/>
              </a:rPr>
              <a:t> 4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&lt;Syn Jméno="Pavel Novák"&gt;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&lt;![CDATA[ Pavel tvrdí, že 5 &gt; 4 ]]&gt;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&lt;/Rodina&gt;</a:t>
            </a:r>
          </a:p>
          <a:p>
            <a:pPr>
              <a:defRPr/>
            </a:pPr>
            <a:endParaRPr lang="cs-CZ" sz="700" b="1" dirty="0">
              <a:latin typeface="Consolas" pitchFamily="49" charset="0"/>
            </a:endParaRPr>
          </a:p>
        </p:txBody>
      </p:sp>
      <p:grpSp>
        <p:nvGrpSpPr>
          <p:cNvPr id="2" name="Skupina 181"/>
          <p:cNvGrpSpPr/>
          <p:nvPr/>
        </p:nvGrpSpPr>
        <p:grpSpPr>
          <a:xfrm>
            <a:off x="4283968" y="4437112"/>
            <a:ext cx="288032" cy="576064"/>
            <a:chOff x="2411760" y="2348880"/>
            <a:chExt cx="288032" cy="720080"/>
          </a:xfrm>
        </p:grpSpPr>
        <p:cxnSp>
          <p:nvCxnSpPr>
            <p:cNvPr id="183" name="Přímá spojovací čára 182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3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185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86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87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sp>
        <p:nvSpPr>
          <p:cNvPr id="37" name="Zaoblený obdélník 36"/>
          <p:cNvSpPr/>
          <p:nvPr/>
        </p:nvSpPr>
        <p:spPr bwMode="auto">
          <a:xfrm>
            <a:off x="3563888" y="3645024"/>
            <a:ext cx="1800200" cy="792088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smtClean="0">
                <a:latin typeface="Consolas" pitchFamily="49" charset="0"/>
              </a:rPr>
              <a:t>Knihovna</a:t>
            </a:r>
            <a:endParaRPr lang="cs-CZ" sz="1400" b="1" dirty="0">
              <a:latin typeface="Consolas" pitchFamily="49" charset="0"/>
            </a:endParaRPr>
          </a:p>
        </p:txBody>
      </p:sp>
      <p:sp>
        <p:nvSpPr>
          <p:cNvPr id="21" name="Zaoblený obdélník 20"/>
          <p:cNvSpPr/>
          <p:nvPr/>
        </p:nvSpPr>
        <p:spPr bwMode="auto">
          <a:xfrm>
            <a:off x="3995936" y="5013176"/>
            <a:ext cx="864096" cy="272415"/>
          </a:xfrm>
          <a:prstGeom prst="roundRect">
            <a:avLst>
              <a:gd name="adj" fmla="val 16667"/>
            </a:avLst>
          </a:prstGeom>
          <a:solidFill>
            <a:srgbClr val="FFA3A3"/>
          </a:solidFill>
          <a:ln w="12700">
            <a:solidFill>
              <a:schemeClr val="tx1"/>
            </a:solidFill>
            <a:prstDash val="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TextovéPole 24"/>
          <p:cNvSpPr txBox="1"/>
          <p:nvPr/>
        </p:nvSpPr>
        <p:spPr>
          <a:xfrm>
            <a:off x="6228184" y="3645024"/>
            <a:ext cx="1354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err="1" smtClean="0">
                <a:latin typeface="Calibri" pitchFamily="34" charset="0"/>
                <a:cs typeface="Calibri" pitchFamily="34" charset="0"/>
              </a:rPr>
              <a:t>Parser</a:t>
            </a:r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 (SAX)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6" name="Přímá spojovací šipka 25"/>
          <p:cNvCxnSpPr>
            <a:stCxn id="25" idx="1"/>
          </p:cNvCxnSpPr>
          <p:nvPr/>
        </p:nvCxnSpPr>
        <p:spPr bwMode="auto">
          <a:xfrm flipH="1">
            <a:off x="5436096" y="3829690"/>
            <a:ext cx="792088" cy="175374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/>
          </a:ln>
          <a:effectLst/>
        </p:spPr>
      </p:cxnSp>
      <p:sp>
        <p:nvSpPr>
          <p:cNvPr id="27" name="TextovéPole 26"/>
          <p:cNvSpPr txBox="1"/>
          <p:nvPr/>
        </p:nvSpPr>
        <p:spPr>
          <a:xfrm>
            <a:off x="6444208" y="4057327"/>
            <a:ext cx="16102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1400" dirty="0" err="1" smtClean="0">
                <a:latin typeface="Calibri" pitchFamily="34" charset="0"/>
                <a:cs typeface="Calibri" pitchFamily="34" charset="0"/>
              </a:rPr>
              <a:t>Simple</a:t>
            </a:r>
            <a:r>
              <a:rPr lang="cs-CZ" sz="1400" dirty="0" smtClean="0">
                <a:latin typeface="Calibri" pitchFamily="34" charset="0"/>
                <a:cs typeface="Calibri" pitchFamily="34" charset="0"/>
              </a:rPr>
              <a:t> API </a:t>
            </a:r>
            <a:r>
              <a:rPr lang="cs-CZ" sz="1400" dirty="0" err="1" smtClean="0">
                <a:latin typeface="Calibri" pitchFamily="34" charset="0"/>
                <a:cs typeface="Calibri" pitchFamily="34" charset="0"/>
              </a:rPr>
              <a:t>for</a:t>
            </a:r>
            <a:r>
              <a:rPr lang="cs-CZ" sz="1400" dirty="0" smtClean="0">
                <a:latin typeface="Calibri" pitchFamily="34" charset="0"/>
                <a:cs typeface="Calibri" pitchFamily="34" charset="0"/>
              </a:rPr>
              <a:t> XML</a:t>
            </a:r>
            <a:endParaRPr lang="cs-CZ" sz="1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Levá složená závorka 27"/>
          <p:cNvSpPr/>
          <p:nvPr/>
        </p:nvSpPr>
        <p:spPr bwMode="auto">
          <a:xfrm rot="5400000">
            <a:off x="7177052" y="3301243"/>
            <a:ext cx="144016" cy="1512168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9" name="TextovéPole 28"/>
          <p:cNvSpPr txBox="1"/>
          <p:nvPr/>
        </p:nvSpPr>
        <p:spPr>
          <a:xfrm>
            <a:off x="1547664" y="2060848"/>
            <a:ext cx="403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100" b="1" dirty="0" smtClean="0">
                <a:latin typeface="Consolas" pitchFamily="49" charset="0"/>
              </a:rPr>
              <a:t>&lt;Otec Jméno="Jan Novák" Narození="3.6.1974"&gt;</a:t>
            </a:r>
            <a:endParaRPr lang="cs-CZ" sz="1100" dirty="0"/>
          </a:p>
        </p:txBody>
      </p:sp>
      <p:cxnSp>
        <p:nvCxnSpPr>
          <p:cNvPr id="30" name="Přímá spojovací šipka 29"/>
          <p:cNvCxnSpPr/>
          <p:nvPr/>
        </p:nvCxnSpPr>
        <p:spPr bwMode="auto">
          <a:xfrm>
            <a:off x="1691680" y="2276872"/>
            <a:ext cx="0" cy="360040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33" name="Zaoblený obdélník 32"/>
          <p:cNvSpPr/>
          <p:nvPr/>
        </p:nvSpPr>
        <p:spPr bwMode="auto">
          <a:xfrm>
            <a:off x="1259632" y="2636912"/>
            <a:ext cx="864096" cy="272415"/>
          </a:xfrm>
          <a:prstGeom prst="roundRect">
            <a:avLst>
              <a:gd name="adj" fmla="val 16667"/>
            </a:avLst>
          </a:prstGeom>
          <a:solidFill>
            <a:srgbClr val="FFA3A3"/>
          </a:solidFill>
          <a:ln w="12700">
            <a:solidFill>
              <a:schemeClr val="tx1"/>
            </a:solidFill>
            <a:prstDash val="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4" name="Přímá spojovací šipka 33"/>
          <p:cNvCxnSpPr/>
          <p:nvPr/>
        </p:nvCxnSpPr>
        <p:spPr bwMode="auto">
          <a:xfrm>
            <a:off x="5004048" y="2204864"/>
            <a:ext cx="0" cy="360040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35" name="Zaoblený obdélník 34"/>
          <p:cNvSpPr/>
          <p:nvPr/>
        </p:nvSpPr>
        <p:spPr bwMode="auto">
          <a:xfrm>
            <a:off x="4572000" y="2564904"/>
            <a:ext cx="864096" cy="272415"/>
          </a:xfrm>
          <a:prstGeom prst="roundRect">
            <a:avLst>
              <a:gd name="adj" fmla="val 16667"/>
            </a:avLst>
          </a:prstGeom>
          <a:solidFill>
            <a:srgbClr val="FFA3A3"/>
          </a:solidFill>
          <a:ln w="12700">
            <a:solidFill>
              <a:schemeClr val="tx1"/>
            </a:solidFill>
            <a:prstDash val="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6" name="Přímá spojovací šipka 35"/>
          <p:cNvCxnSpPr/>
          <p:nvPr/>
        </p:nvCxnSpPr>
        <p:spPr bwMode="auto">
          <a:xfrm>
            <a:off x="2915816" y="2348880"/>
            <a:ext cx="1368152" cy="2304256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stealth"/>
          </a:ln>
          <a:effectLst/>
        </p:spPr>
      </p:cxnSp>
      <p:cxnSp>
        <p:nvCxnSpPr>
          <p:cNvPr id="40" name="Přímá spojovací šipka 39"/>
          <p:cNvCxnSpPr/>
          <p:nvPr/>
        </p:nvCxnSpPr>
        <p:spPr bwMode="auto">
          <a:xfrm>
            <a:off x="2339752" y="2348880"/>
            <a:ext cx="1944216" cy="2304256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stealth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Zaoblený obdélník 174"/>
          <p:cNvSpPr/>
          <p:nvPr/>
        </p:nvSpPr>
        <p:spPr bwMode="auto">
          <a:xfrm>
            <a:off x="3203848" y="3356992"/>
            <a:ext cx="2520280" cy="2736304"/>
          </a:xfrm>
          <a:prstGeom prst="roundRect">
            <a:avLst>
              <a:gd name="adj" fmla="val 2814"/>
            </a:avLst>
          </a:prstGeom>
          <a:gradFill>
            <a:gsLst>
              <a:gs pos="0">
                <a:srgbClr val="BEFEE6"/>
              </a:gs>
              <a:gs pos="50000">
                <a:srgbClr val="C8DCDE"/>
              </a:gs>
              <a:gs pos="100000">
                <a:srgbClr val="9BD8D9"/>
              </a:gs>
            </a:gsLst>
            <a:lin ang="5400000" scaled="0"/>
          </a:gra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b"/>
          <a:lstStyle/>
          <a:p>
            <a:pPr algn="ctr">
              <a:defRPr/>
            </a:pPr>
            <a:r>
              <a:rPr lang="cs-CZ" sz="2800" b="1" dirty="0" smtClean="0">
                <a:latin typeface="Consolas" pitchFamily="49" charset="0"/>
              </a:rPr>
              <a:t>Program</a:t>
            </a:r>
            <a:endParaRPr lang="cs-CZ" sz="1800" b="1" dirty="0">
              <a:latin typeface="Consolas" pitchFamily="49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08720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X-definice pro xml data</a:t>
            </a:r>
            <a:endParaRPr lang="cs-CZ" sz="24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8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14" name="Rectangle 3"/>
          <p:cNvSpPr txBox="1">
            <a:spLocks noChangeArrowheads="1"/>
          </p:cNvSpPr>
          <p:nvPr/>
        </p:nvSpPr>
        <p:spPr bwMode="auto">
          <a:xfrm>
            <a:off x="755650" y="1611313"/>
            <a:ext cx="8137525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36000" bIns="36000"/>
          <a:lstStyle/>
          <a:p>
            <a:pPr algn="just" eaLnBrk="1" hangingPunct="1">
              <a:spcBef>
                <a:spcPts val="2400"/>
              </a:spcBef>
            </a:pPr>
            <a:endParaRPr lang="cs-CZ" altLang="cs-CZ" sz="1600" b="1" dirty="0" smtClean="0">
              <a:solidFill>
                <a:srgbClr val="CA0383"/>
              </a:solidFill>
              <a:latin typeface="Calibri" pitchFamily="34" charset="0"/>
            </a:endParaRPr>
          </a:p>
          <a:p>
            <a:pPr marL="449263" lvl="1" indent="-266700" algn="just" eaLnBrk="1" hangingPunct="1">
              <a:spcBef>
                <a:spcPts val="600"/>
              </a:spcBef>
            </a:pPr>
            <a:endParaRPr lang="cs-CZ" altLang="cs-CZ" sz="1400" b="1" i="1" dirty="0">
              <a:latin typeface="Calibri" pitchFamily="34" charset="0"/>
            </a:endParaRPr>
          </a:p>
        </p:txBody>
      </p:sp>
      <p:cxnSp>
        <p:nvCxnSpPr>
          <p:cNvPr id="132" name="Přímá spojovací šipka 131"/>
          <p:cNvCxnSpPr/>
          <p:nvPr/>
        </p:nvCxnSpPr>
        <p:spPr bwMode="auto">
          <a:xfrm>
            <a:off x="2915816" y="4077072"/>
            <a:ext cx="648072" cy="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8" name="Zaoblený obdélník 147"/>
          <p:cNvSpPr/>
          <p:nvPr/>
        </p:nvSpPr>
        <p:spPr bwMode="auto">
          <a:xfrm>
            <a:off x="539552" y="3284984"/>
            <a:ext cx="2376264" cy="1992184"/>
          </a:xfrm>
          <a:prstGeom prst="roundRect">
            <a:avLst>
              <a:gd name="adj" fmla="val 421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&lt;?xml </a:t>
            </a:r>
            <a:r>
              <a:rPr lang="cs-CZ" sz="600" b="1" dirty="0" err="1" smtClean="0">
                <a:latin typeface="Consolas" pitchFamily="49" charset="0"/>
              </a:rPr>
              <a:t>version</a:t>
            </a:r>
            <a:r>
              <a:rPr lang="cs-CZ" sz="600" b="1" dirty="0" smtClean="0">
                <a:latin typeface="Consolas" pitchFamily="49" charset="0"/>
              </a:rPr>
              <a:t>="1.0" </a:t>
            </a:r>
            <a:r>
              <a:rPr lang="cs-CZ" sz="600" b="1" dirty="0" err="1" smtClean="0">
                <a:latin typeface="Consolas" pitchFamily="49" charset="0"/>
              </a:rPr>
              <a:t>encoding</a:t>
            </a:r>
            <a:r>
              <a:rPr lang="cs-CZ" sz="600" b="1" dirty="0" smtClean="0">
                <a:latin typeface="Consolas" pitchFamily="49" charset="0"/>
              </a:rPr>
              <a:t>="UTF-8" ?&gt;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&lt;!DOCTYPE Rodina SYSTEM "Rodina.</a:t>
            </a:r>
            <a:r>
              <a:rPr lang="cs-CZ" sz="600" b="1" dirty="0" err="1" smtClean="0">
                <a:latin typeface="Consolas" pitchFamily="49" charset="0"/>
              </a:rPr>
              <a:t>dtd</a:t>
            </a:r>
            <a:r>
              <a:rPr lang="cs-CZ" sz="6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&lt;!-- Popis rodiny --&gt;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&lt;Rodina&gt;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&lt;Otec Jméno="Jan Novák" Narození="3.6.1974"&gt;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OSVČ, konzultant, 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&lt;/Otec&gt;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&lt;Matka Jméno="Eva Nováková" Narození="12.2.1976"&gt;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zaměstnanec, zdravotní sestra, nekuřák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&lt;Dcera Jméno="Eva Nováková" Narození="12.2.2001"&gt;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všeobecné gymnázium, nekuřák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&lt;/Dcera&gt;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&lt;Syn Jméno="Jan Novák"&gt;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Jan tvrdí, že 3 &amp;</a:t>
            </a:r>
            <a:r>
              <a:rPr lang="cs-CZ" sz="600" b="1" dirty="0" err="1" smtClean="0">
                <a:latin typeface="Consolas" pitchFamily="49" charset="0"/>
              </a:rPr>
              <a:t>lt</a:t>
            </a:r>
            <a:r>
              <a:rPr lang="cs-CZ" sz="600" b="1" dirty="0" smtClean="0">
                <a:latin typeface="Consolas" pitchFamily="49" charset="0"/>
              </a:rPr>
              <a:t> 4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&lt;Syn Jméno="Pavel Novák"&gt;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&lt;![CDATA[ Pavel tvrdí, že 5 &gt; 4 ]]&gt;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&lt;/Rodina&gt;</a:t>
            </a:r>
          </a:p>
          <a:p>
            <a:pPr>
              <a:defRPr/>
            </a:pPr>
            <a:endParaRPr lang="cs-CZ" sz="700" b="1" dirty="0">
              <a:latin typeface="Consolas" pitchFamily="49" charset="0"/>
            </a:endParaRPr>
          </a:p>
        </p:txBody>
      </p:sp>
      <p:cxnSp>
        <p:nvCxnSpPr>
          <p:cNvPr id="138" name="Přímá spojovací šipka 137"/>
          <p:cNvCxnSpPr/>
          <p:nvPr/>
        </p:nvCxnSpPr>
        <p:spPr bwMode="auto">
          <a:xfrm>
            <a:off x="4427984" y="3068960"/>
            <a:ext cx="0" cy="57606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3" name="Zaoblený obdélník 142"/>
          <p:cNvSpPr/>
          <p:nvPr/>
        </p:nvSpPr>
        <p:spPr bwMode="auto">
          <a:xfrm>
            <a:off x="3491880" y="2276872"/>
            <a:ext cx="1872208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cs-CZ" sz="1800" b="1" dirty="0" smtClean="0">
                <a:latin typeface="Consolas" pitchFamily="49" charset="0"/>
                <a:cs typeface="Calibri" pitchFamily="34" charset="0"/>
              </a:rPr>
              <a:t>Přepis</a:t>
            </a:r>
          </a:p>
        </p:txBody>
      </p:sp>
      <p:sp>
        <p:nvSpPr>
          <p:cNvPr id="22" name="TextovéPole 21"/>
          <p:cNvSpPr txBox="1"/>
          <p:nvPr/>
        </p:nvSpPr>
        <p:spPr>
          <a:xfrm>
            <a:off x="6660232" y="1988840"/>
            <a:ext cx="11399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cs-CZ" sz="1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cs-CZ" sz="1800" b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X-definice</a:t>
            </a:r>
            <a:endParaRPr lang="cs-CZ" sz="1800" b="1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3" name="Přímá spojovací šipka 22"/>
          <p:cNvCxnSpPr>
            <a:stCxn id="24" idx="1"/>
          </p:cNvCxnSpPr>
          <p:nvPr/>
        </p:nvCxnSpPr>
        <p:spPr bwMode="auto">
          <a:xfrm flipH="1">
            <a:off x="5364088" y="2600908"/>
            <a:ext cx="1080120" cy="72008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/>
          </a:ln>
          <a:effectLst/>
        </p:spPr>
      </p:cxnSp>
      <p:sp>
        <p:nvSpPr>
          <p:cNvPr id="24" name="Levá složená závorka 23"/>
          <p:cNvSpPr/>
          <p:nvPr/>
        </p:nvSpPr>
        <p:spPr bwMode="auto">
          <a:xfrm>
            <a:off x="6444208" y="2060848"/>
            <a:ext cx="288032" cy="1080120"/>
          </a:xfrm>
          <a:prstGeom prst="leftBrace">
            <a:avLst/>
          </a:prstGeom>
          <a:noFill/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5" name="TextovéPole 24"/>
          <p:cNvSpPr txBox="1"/>
          <p:nvPr/>
        </p:nvSpPr>
        <p:spPr>
          <a:xfrm>
            <a:off x="6228184" y="3645024"/>
            <a:ext cx="2045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Knihovna X-definic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6" name="Přímá spojovací šipka 25"/>
          <p:cNvCxnSpPr>
            <a:stCxn id="25" idx="1"/>
          </p:cNvCxnSpPr>
          <p:nvPr/>
        </p:nvCxnSpPr>
        <p:spPr bwMode="auto">
          <a:xfrm flipH="1">
            <a:off x="5436096" y="3829690"/>
            <a:ext cx="792088" cy="175374"/>
          </a:xfrm>
          <a:prstGeom prst="straightConnector1">
            <a:avLst/>
          </a:prstGeom>
          <a:noFill/>
          <a:ln w="158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/>
          </a:ln>
          <a:effectLst/>
        </p:spPr>
      </p:cxnSp>
      <p:sp>
        <p:nvSpPr>
          <p:cNvPr id="30" name="Zaoblený obdélník 29"/>
          <p:cNvSpPr/>
          <p:nvPr/>
        </p:nvSpPr>
        <p:spPr bwMode="auto">
          <a:xfrm>
            <a:off x="3995936" y="4941168"/>
            <a:ext cx="864096" cy="432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Přímá spojovací šipka 30"/>
          <p:cNvCxnSpPr/>
          <p:nvPr/>
        </p:nvCxnSpPr>
        <p:spPr bwMode="auto">
          <a:xfrm>
            <a:off x="4427984" y="4365104"/>
            <a:ext cx="0" cy="57606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37" name="Zaoblený obdélník 36"/>
          <p:cNvSpPr/>
          <p:nvPr/>
        </p:nvSpPr>
        <p:spPr bwMode="auto">
          <a:xfrm>
            <a:off x="3563888" y="3645024"/>
            <a:ext cx="1800200" cy="792088"/>
          </a:xfrm>
          <a:prstGeom prst="roundRect">
            <a:avLst>
              <a:gd name="adj" fmla="val 2814"/>
            </a:avLst>
          </a:prstGeom>
          <a:solidFill>
            <a:srgbClr val="FFA3A3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smtClean="0">
                <a:latin typeface="Consolas" pitchFamily="49" charset="0"/>
              </a:rPr>
              <a:t>   Knihovna</a:t>
            </a:r>
            <a:endParaRPr lang="cs-CZ" sz="1400" b="1" dirty="0">
              <a:latin typeface="Consolas" pitchFamily="49" charset="0"/>
            </a:endParaRPr>
          </a:p>
        </p:txBody>
      </p:sp>
      <p:sp>
        <p:nvSpPr>
          <p:cNvPr id="29" name="Zaoblený obdélník 28"/>
          <p:cNvSpPr/>
          <p:nvPr/>
        </p:nvSpPr>
        <p:spPr bwMode="auto">
          <a:xfrm>
            <a:off x="3563888" y="3933056"/>
            <a:ext cx="504056" cy="288032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400" b="1" dirty="0" smtClean="0">
                <a:latin typeface="Consolas" pitchFamily="49" charset="0"/>
              </a:rPr>
              <a:t>SAX</a:t>
            </a:r>
            <a:endParaRPr lang="cs-CZ" sz="1400" b="1" dirty="0"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3" grpId="0" animBg="1"/>
      <p:bldP spid="37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Zaoblený obdélník 174"/>
          <p:cNvSpPr/>
          <p:nvPr/>
        </p:nvSpPr>
        <p:spPr bwMode="auto">
          <a:xfrm>
            <a:off x="3203848" y="1988840"/>
            <a:ext cx="2520280" cy="4104456"/>
          </a:xfrm>
          <a:prstGeom prst="roundRect">
            <a:avLst>
              <a:gd name="adj" fmla="val 2814"/>
            </a:avLst>
          </a:prstGeom>
          <a:gradFill>
            <a:gsLst>
              <a:gs pos="0">
                <a:srgbClr val="BEFEE6"/>
              </a:gs>
              <a:gs pos="50000">
                <a:srgbClr val="C8DCDE"/>
              </a:gs>
              <a:gs pos="100000">
                <a:srgbClr val="9BD8D9"/>
              </a:gs>
            </a:gsLst>
            <a:lin ang="5400000" scaled="0"/>
          </a:gra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b"/>
          <a:lstStyle/>
          <a:p>
            <a:pPr algn="ctr">
              <a:defRPr/>
            </a:pPr>
            <a:r>
              <a:rPr lang="cs-CZ" sz="2800" b="1" dirty="0" smtClean="0">
                <a:latin typeface="Consolas" pitchFamily="49" charset="0"/>
              </a:rPr>
              <a:t>Program</a:t>
            </a:r>
            <a:endParaRPr lang="cs-CZ" sz="1800" b="1" dirty="0">
              <a:latin typeface="Consolas" pitchFamily="49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08720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X-definice pro validaci</a:t>
            </a:r>
            <a:endParaRPr lang="cs-CZ" sz="24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9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14" name="Rectangle 3"/>
          <p:cNvSpPr txBox="1">
            <a:spLocks noChangeArrowheads="1"/>
          </p:cNvSpPr>
          <p:nvPr/>
        </p:nvSpPr>
        <p:spPr bwMode="auto">
          <a:xfrm>
            <a:off x="755650" y="1611313"/>
            <a:ext cx="8137525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36000" bIns="36000"/>
          <a:lstStyle/>
          <a:p>
            <a:pPr algn="just" eaLnBrk="1" hangingPunct="1">
              <a:spcBef>
                <a:spcPts val="2400"/>
              </a:spcBef>
            </a:pPr>
            <a:endParaRPr lang="cs-CZ" altLang="cs-CZ" sz="1600" b="1" dirty="0" smtClean="0">
              <a:solidFill>
                <a:srgbClr val="CA0383"/>
              </a:solidFill>
              <a:latin typeface="Calibri" pitchFamily="34" charset="0"/>
            </a:endParaRPr>
          </a:p>
          <a:p>
            <a:pPr marL="449263" lvl="1" indent="-266700" algn="just" eaLnBrk="1" hangingPunct="1">
              <a:spcBef>
                <a:spcPts val="600"/>
              </a:spcBef>
            </a:pPr>
            <a:endParaRPr lang="cs-CZ" altLang="cs-CZ" sz="1400" b="1" i="1" dirty="0">
              <a:latin typeface="Calibri" pitchFamily="34" charset="0"/>
            </a:endParaRPr>
          </a:p>
        </p:txBody>
      </p:sp>
      <p:cxnSp>
        <p:nvCxnSpPr>
          <p:cNvPr id="132" name="Přímá spojovací šipka 131"/>
          <p:cNvCxnSpPr/>
          <p:nvPr/>
        </p:nvCxnSpPr>
        <p:spPr bwMode="auto">
          <a:xfrm>
            <a:off x="2915816" y="4077072"/>
            <a:ext cx="648072" cy="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8" name="Zaoblený obdélník 147"/>
          <p:cNvSpPr/>
          <p:nvPr/>
        </p:nvSpPr>
        <p:spPr bwMode="auto">
          <a:xfrm>
            <a:off x="539552" y="3284984"/>
            <a:ext cx="2376264" cy="1992184"/>
          </a:xfrm>
          <a:prstGeom prst="roundRect">
            <a:avLst>
              <a:gd name="adj" fmla="val 421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&lt;?xml </a:t>
            </a:r>
            <a:r>
              <a:rPr lang="cs-CZ" sz="600" b="1" dirty="0" err="1" smtClean="0">
                <a:latin typeface="Consolas" pitchFamily="49" charset="0"/>
              </a:rPr>
              <a:t>version</a:t>
            </a:r>
            <a:r>
              <a:rPr lang="cs-CZ" sz="600" b="1" dirty="0" smtClean="0">
                <a:latin typeface="Consolas" pitchFamily="49" charset="0"/>
              </a:rPr>
              <a:t>="1.0" </a:t>
            </a:r>
            <a:r>
              <a:rPr lang="cs-CZ" sz="600" b="1" dirty="0" err="1" smtClean="0">
                <a:latin typeface="Consolas" pitchFamily="49" charset="0"/>
              </a:rPr>
              <a:t>encoding</a:t>
            </a:r>
            <a:r>
              <a:rPr lang="cs-CZ" sz="600" b="1" dirty="0" smtClean="0">
                <a:latin typeface="Consolas" pitchFamily="49" charset="0"/>
              </a:rPr>
              <a:t>="UTF-8" ?&gt;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&lt;!DOCTYPE Rodina SYSTEM "Rodina.</a:t>
            </a:r>
            <a:r>
              <a:rPr lang="cs-CZ" sz="600" b="1" dirty="0" err="1" smtClean="0">
                <a:latin typeface="Consolas" pitchFamily="49" charset="0"/>
              </a:rPr>
              <a:t>dtd</a:t>
            </a:r>
            <a:r>
              <a:rPr lang="cs-CZ" sz="6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&lt;!-- Popis rodiny --&gt;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&lt;Rodina&gt;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&lt;Otec Jméno="Jan Novák" Narození="3.6.1974"&gt;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OSVČ, konzultant, 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&lt;/Otec&gt;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&lt;Matka Jméno="Eva Nováková" Narození="12.2.1976"&gt;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zaměstnanec, zdravotní sestra, nekuřák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&lt;Dcera Jméno="Eva Nováková" Narození="12.2.2001"&gt;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všeobecné gymnázium, nekuřák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&lt;/Dcera&gt;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&lt;Syn Jméno="Jan Novák"&gt;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Jan tvrdí, že 3 &amp;</a:t>
            </a:r>
            <a:r>
              <a:rPr lang="cs-CZ" sz="600" b="1" dirty="0" err="1" smtClean="0">
                <a:latin typeface="Consolas" pitchFamily="49" charset="0"/>
              </a:rPr>
              <a:t>lt</a:t>
            </a:r>
            <a:r>
              <a:rPr lang="cs-CZ" sz="600" b="1" dirty="0" smtClean="0">
                <a:latin typeface="Consolas" pitchFamily="49" charset="0"/>
              </a:rPr>
              <a:t> 4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&lt;Syn Jméno="Pavel Novák"&gt;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&lt;![CDATA[ Pavel tvrdí, že 5 &gt; 4 ]]&gt;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&lt;/Rodina&gt;</a:t>
            </a:r>
          </a:p>
          <a:p>
            <a:pPr>
              <a:defRPr/>
            </a:pPr>
            <a:endParaRPr lang="cs-CZ" sz="700" b="1" dirty="0">
              <a:latin typeface="Consolas" pitchFamily="49" charset="0"/>
            </a:endParaRPr>
          </a:p>
        </p:txBody>
      </p:sp>
      <p:cxnSp>
        <p:nvCxnSpPr>
          <p:cNvPr id="138" name="Přímá spojovací šipka 137"/>
          <p:cNvCxnSpPr/>
          <p:nvPr/>
        </p:nvCxnSpPr>
        <p:spPr bwMode="auto">
          <a:xfrm>
            <a:off x="4427984" y="3068960"/>
            <a:ext cx="0" cy="57606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3" name="Zaoblený obdélník 142"/>
          <p:cNvSpPr/>
          <p:nvPr/>
        </p:nvSpPr>
        <p:spPr bwMode="auto">
          <a:xfrm>
            <a:off x="3491880" y="2276872"/>
            <a:ext cx="1872208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cs-CZ" sz="1800" b="1" dirty="0" smtClean="0">
                <a:latin typeface="Consolas" pitchFamily="49" charset="0"/>
                <a:cs typeface="Calibri" pitchFamily="34" charset="0"/>
              </a:rPr>
              <a:t>X-definice</a:t>
            </a:r>
          </a:p>
        </p:txBody>
      </p:sp>
      <p:sp>
        <p:nvSpPr>
          <p:cNvPr id="30" name="Zaoblený obdélník 29"/>
          <p:cNvSpPr/>
          <p:nvPr/>
        </p:nvSpPr>
        <p:spPr bwMode="auto">
          <a:xfrm>
            <a:off x="3995936" y="4941168"/>
            <a:ext cx="864096" cy="432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Přímá spojovací šipka 30"/>
          <p:cNvCxnSpPr/>
          <p:nvPr/>
        </p:nvCxnSpPr>
        <p:spPr bwMode="auto">
          <a:xfrm>
            <a:off x="4427984" y="4365104"/>
            <a:ext cx="0" cy="57606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37" name="Zaoblený obdélník 36"/>
          <p:cNvSpPr/>
          <p:nvPr/>
        </p:nvSpPr>
        <p:spPr bwMode="auto">
          <a:xfrm>
            <a:off x="3563888" y="3645024"/>
            <a:ext cx="1800200" cy="792088"/>
          </a:xfrm>
          <a:prstGeom prst="roundRect">
            <a:avLst>
              <a:gd name="adj" fmla="val 2814"/>
            </a:avLst>
          </a:prstGeom>
          <a:solidFill>
            <a:srgbClr val="FFA3A3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err="1" smtClean="0">
                <a:latin typeface="Consolas" pitchFamily="49" charset="0"/>
              </a:rPr>
              <a:t>Xdef</a:t>
            </a:r>
            <a:r>
              <a:rPr lang="cs-CZ" sz="2000" b="1" dirty="0" smtClean="0">
                <a:latin typeface="Consolas" pitchFamily="49" charset="0"/>
              </a:rPr>
              <a:t>-Procesor</a:t>
            </a:r>
            <a:endParaRPr lang="cs-CZ" sz="1400" b="1" dirty="0"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3" grpId="0" animBg="1"/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27584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sz="3600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Na co se </a:t>
            </a:r>
            <a:r>
              <a:rPr lang="cs-CZ" sz="3600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dnes zaměříme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357188" y="1701354"/>
            <a:ext cx="8137525" cy="3383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XML a X-definice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2400" b="1" kern="0" dirty="0" smtClean="0">
                <a:solidFill>
                  <a:srgbClr val="0000FF"/>
                </a:solidFill>
                <a:latin typeface="Calibri" panose="020F0502020204030204" pitchFamily="34" charset="0"/>
              </a:rPr>
              <a:t>Jazyk X-definic 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Validace a Konstrukce 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Některé zajímavé možnosti 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altLang="cs-CZ" sz="1600" b="1" kern="0" dirty="0" smtClean="0">
                <a:latin typeface="Calibri" panose="020F0502020204030204" pitchFamily="34" charset="0"/>
              </a:rPr>
              <a:t>Použití ve větším reálném systému </a:t>
            </a:r>
            <a:endParaRPr lang="cs-CZ" altLang="cs-CZ" sz="1600" b="1" dirty="0"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10</a:t>
            </a:fld>
            <a:endParaRPr lang="cs-CZ" altLang="cs-CZ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- </a:t>
            </a:r>
            <a:r>
              <a:rPr lang="cs-CZ" sz="24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nápad Václava Trojana (rok 2001) </a:t>
            </a:r>
            <a:endParaRPr lang="cs-CZ" sz="24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11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4716016" y="1916832"/>
            <a:ext cx="4032448" cy="4248472"/>
          </a:xfrm>
          <a:prstGeom prst="roundRect">
            <a:avLst>
              <a:gd name="adj" fmla="val 28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&lt;Zájezd&gt;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D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D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&lt;Dcera Jméno="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D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&lt;/Dcera&gt;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D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D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D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D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</a:t>
            </a:r>
            <a:r>
              <a:rPr lang="cs-CZ" sz="900" b="1" dirty="0" smtClean="0">
                <a:solidFill>
                  <a:srgbClr val="D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&lt;/Zájezd&gt;</a:t>
            </a:r>
            <a:endParaRPr lang="cs-CZ" sz="900" b="1" dirty="0">
              <a:latin typeface="Consolas" pitchFamily="49" charset="0"/>
            </a:endParaRPr>
          </a:p>
        </p:txBody>
      </p:sp>
      <p:sp>
        <p:nvSpPr>
          <p:cNvPr id="9" name="TextovéPole 8"/>
          <p:cNvSpPr txBox="1"/>
          <p:nvPr/>
        </p:nvSpPr>
        <p:spPr>
          <a:xfrm>
            <a:off x="1763688" y="1484784"/>
            <a:ext cx="1090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XML data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6084168" y="1484784"/>
            <a:ext cx="113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X-definice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Zaoblený obdélník 12"/>
          <p:cNvSpPr/>
          <p:nvPr/>
        </p:nvSpPr>
        <p:spPr bwMode="auto">
          <a:xfrm>
            <a:off x="755576" y="1916832"/>
            <a:ext cx="3816424" cy="4248472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Jméno="Jan Novák" Věk="52"&gt;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OSVČ, konzultant, 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Jméno="Eva Nováková" Věk="49"&gt;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zaměstnanec, zdravotní sestra,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&lt;Dcera Jméno="Eva Nováková" Věk="17"&gt;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všeobecné gymnázium,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&lt;/Dcera&gt;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Jméno="Jan Novák" Věk="11"&gt;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Jan tvrdí, že 3 &amp;</a:t>
            </a:r>
            <a:r>
              <a:rPr lang="cs-CZ" sz="900" b="1" dirty="0" err="1" smtClean="0">
                <a:latin typeface="Consolas" pitchFamily="49" charset="0"/>
              </a:rPr>
              <a:t>lt</a:t>
            </a:r>
            <a:r>
              <a:rPr lang="cs-CZ" sz="900" b="1" dirty="0" smtClean="0">
                <a:latin typeface="Consolas" pitchFamily="49" charset="0"/>
              </a:rPr>
              <a:t>; 4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Jméno="Pavel Novák"&gt;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&lt;![CDATA[ Pavel tvrdí, že 5 &gt; 4 ]]&gt;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Jméno="Lubomír Řehák" Věk="33"&gt;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starosta obce,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Jméno="Jana Řeháková" Věk="29"&gt;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mateřská dovolená,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Jméno="Matyáš Řehák" Věk="2"&gt;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základní škola,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&lt;/Zájezd&gt;</a:t>
            </a:r>
            <a:endParaRPr lang="cs-CZ" sz="900" b="1" dirty="0"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12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4716016" y="1916832"/>
            <a:ext cx="4032448" cy="4248472"/>
          </a:xfrm>
          <a:prstGeom prst="roundRect">
            <a:avLst>
              <a:gd name="adj" fmla="val 28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endParaRPr lang="cs-CZ" sz="900" b="1" dirty="0" smtClean="0">
              <a:solidFill>
                <a:srgbClr val="0000FF"/>
              </a:solidFill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    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&lt;Rodina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1.."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&lt;Otec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0..1" 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        </a:t>
            </a:r>
            <a:r>
              <a:rPr lang="cs-CZ" sz="900" b="1" dirty="0" smtClean="0">
                <a:latin typeface="Consolas" pitchFamily="49" charset="0"/>
              </a:rPr>
              <a:t>Jméno="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FF0000"/>
                </a:solidFill>
                <a:latin typeface="Consolas" pitchFamily="49" charset="0"/>
              </a:rPr>
              <a:t>xdate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&lt;Matka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1" 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        </a:t>
            </a:r>
            <a:r>
              <a:rPr lang="cs-CZ" sz="900" b="1" dirty="0" smtClean="0">
                <a:latin typeface="Consolas" pitchFamily="49" charset="0"/>
              </a:rPr>
              <a:t>Jméno="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FF0000"/>
                </a:solidFill>
                <a:latin typeface="Consolas" pitchFamily="49" charset="0"/>
              </a:rPr>
              <a:t>xdate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&lt;Dcera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0.."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    Jméno="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FF0000"/>
                </a:solidFill>
                <a:latin typeface="Consolas" pitchFamily="49" charset="0"/>
              </a:rPr>
              <a:t>xdate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&lt;/Dcera&gt;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&lt;Syn 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0.."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    Jméno="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</a:t>
            </a:r>
            <a:endParaRPr lang="cs-CZ" sz="900" b="1" dirty="0" smtClean="0">
              <a:solidFill>
                <a:srgbClr val="FF0000"/>
              </a:solidFill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    Věk="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0..1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solidFill>
                  <a:srgbClr val="FF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&lt;/Zájezd&gt;</a:t>
            </a:r>
          </a:p>
        </p:txBody>
      </p:sp>
      <p:sp>
        <p:nvSpPr>
          <p:cNvPr id="9" name="Čárový popisek 2 8"/>
          <p:cNvSpPr/>
          <p:nvPr/>
        </p:nvSpPr>
        <p:spPr bwMode="auto">
          <a:xfrm>
            <a:off x="6228184" y="5157192"/>
            <a:ext cx="576064" cy="21602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11836"/>
              <a:gd name="adj6" fmla="val 4079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script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1" name="Levá složená závorka 10"/>
          <p:cNvSpPr/>
          <p:nvPr/>
        </p:nvSpPr>
        <p:spPr bwMode="auto">
          <a:xfrm rot="5400000" flipH="1">
            <a:off x="6390000" y="4131984"/>
            <a:ext cx="106200" cy="1080120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4" name="TextovéPole 13"/>
          <p:cNvSpPr txBox="1"/>
          <p:nvPr/>
        </p:nvSpPr>
        <p:spPr>
          <a:xfrm>
            <a:off x="1763688" y="1484784"/>
            <a:ext cx="1090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XML data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TextovéPole 14"/>
          <p:cNvSpPr txBox="1"/>
          <p:nvPr/>
        </p:nvSpPr>
        <p:spPr>
          <a:xfrm>
            <a:off x="6084168" y="1484784"/>
            <a:ext cx="113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X-definice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Čárový popisek 2 16"/>
          <p:cNvSpPr/>
          <p:nvPr/>
        </p:nvSpPr>
        <p:spPr bwMode="auto">
          <a:xfrm>
            <a:off x="7452320" y="4149080"/>
            <a:ext cx="864096" cy="21602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9226"/>
              <a:gd name="adj6" fmla="val -66054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datový typ</a:t>
            </a:r>
          </a:p>
        </p:txBody>
      </p:sp>
      <p:sp>
        <p:nvSpPr>
          <p:cNvPr id="18" name="Zaoblený obdélník 17"/>
          <p:cNvSpPr/>
          <p:nvPr/>
        </p:nvSpPr>
        <p:spPr bwMode="auto">
          <a:xfrm>
            <a:off x="755576" y="1916832"/>
            <a:ext cx="3816424" cy="4248472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Jméno="Jan Novák" Věk="52"&gt;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OSVČ, konzultant, 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Jméno="Eva Nováková" Věk="49"&gt;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zaměstnanec, zdravotní sestra,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&lt;Dcera Jméno="Eva Nováková" Věk="17"&gt;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všeobecné gymnázium,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&lt;/Dcera&gt;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Jméno="Jan Novák" Věk="11"&gt;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Jan tvrdí, že 3 &amp;</a:t>
            </a:r>
            <a:r>
              <a:rPr lang="cs-CZ" sz="900" b="1" dirty="0" err="1" smtClean="0">
                <a:latin typeface="Consolas" pitchFamily="49" charset="0"/>
              </a:rPr>
              <a:t>lt</a:t>
            </a:r>
            <a:r>
              <a:rPr lang="cs-CZ" sz="900" b="1" dirty="0" smtClean="0">
                <a:latin typeface="Consolas" pitchFamily="49" charset="0"/>
              </a:rPr>
              <a:t>; 4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Jméno="Pavel Novák"&gt;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&lt;![CDATA[ Pavel tvrdí, že 5 &gt; 4 ]]&gt;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Jméno="Lubomír Řehák" Věk="33"&gt;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starosta obce,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Jméno="Jana Řeháková" Věk="29"&gt;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mateřská dovolená,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Jméno="Matyáš Řehák" Věk="2"&gt;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základní škola,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&lt;/Zájezd&gt;</a:t>
            </a:r>
            <a:endParaRPr lang="cs-CZ" sz="900" b="1" dirty="0">
              <a:latin typeface="Consolas" pitchFamily="49" charset="0"/>
            </a:endParaRPr>
          </a:p>
        </p:txBody>
      </p:sp>
      <p:sp>
        <p:nvSpPr>
          <p:cNvPr id="19" name="Čárový popisek 2 18"/>
          <p:cNvSpPr/>
          <p:nvPr/>
        </p:nvSpPr>
        <p:spPr bwMode="auto">
          <a:xfrm>
            <a:off x="7164288" y="2564904"/>
            <a:ext cx="648072" cy="21602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2265"/>
              <a:gd name="adj6" fmla="val -127669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výskyt</a:t>
            </a:r>
          </a:p>
        </p:txBody>
      </p:sp>
      <p:sp>
        <p:nvSpPr>
          <p:cNvPr id="13" name="Čárový popisek 2 12"/>
          <p:cNvSpPr/>
          <p:nvPr/>
        </p:nvSpPr>
        <p:spPr bwMode="auto">
          <a:xfrm>
            <a:off x="3563888" y="2204864"/>
            <a:ext cx="1224136" cy="216024"/>
          </a:xfrm>
          <a:prstGeom prst="borderCallout2">
            <a:avLst>
              <a:gd name="adj1" fmla="val 16001"/>
              <a:gd name="adj2" fmla="val 102743"/>
              <a:gd name="adj3" fmla="val 16001"/>
              <a:gd name="adj4" fmla="val 110901"/>
              <a:gd name="adj5" fmla="val 104253"/>
              <a:gd name="adj6" fmla="val 125621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dirty="0" smtClean="0"/>
              <a:t>Model elementu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1" name="TextovéPole 20"/>
          <p:cNvSpPr txBox="1"/>
          <p:nvPr/>
        </p:nvSpPr>
        <p:spPr>
          <a:xfrm>
            <a:off x="6156176" y="1988840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? xml ? 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13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4716016" y="1916832"/>
            <a:ext cx="4032448" cy="4248472"/>
          </a:xfrm>
          <a:prstGeom prst="roundRect">
            <a:avLst>
              <a:gd name="adj" fmla="val 28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 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xmlns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="http://www.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syntea.cz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/3.1"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 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="Příklad"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root</a:t>
            </a:r>
            <a:r>
              <a:rPr lang="cs-CZ" sz="900" b="1" dirty="0" smtClean="0">
                <a:latin typeface="Consolas" pitchFamily="49" charset="0"/>
              </a:rPr>
              <a:t>="Zájezd"&gt;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&lt;Rodina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1.."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&lt;Otec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0..1" 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        </a:t>
            </a:r>
            <a:r>
              <a:rPr lang="cs-CZ" sz="900" b="1" dirty="0" smtClean="0">
                <a:latin typeface="Consolas" pitchFamily="49" charset="0"/>
              </a:rPr>
              <a:t>Jméno="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FF0000"/>
                </a:solidFill>
                <a:latin typeface="Consolas" pitchFamily="49" charset="0"/>
              </a:rPr>
              <a:t>xdate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&lt;Matka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1" 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        </a:t>
            </a:r>
            <a:r>
              <a:rPr lang="cs-CZ" sz="900" b="1" dirty="0" smtClean="0">
                <a:latin typeface="Consolas" pitchFamily="49" charset="0"/>
              </a:rPr>
              <a:t>Jméno="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FF0000"/>
                </a:solidFill>
                <a:latin typeface="Consolas" pitchFamily="49" charset="0"/>
              </a:rPr>
              <a:t>xdate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&lt;Dcera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0.."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    Jméno="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FF0000"/>
                </a:solidFill>
                <a:latin typeface="Consolas" pitchFamily="49" charset="0"/>
              </a:rPr>
              <a:t>xdate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&lt;/Dcera&gt;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&lt;Syn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0.."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    Jméno="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</a:t>
            </a:r>
            <a:endParaRPr lang="cs-CZ" sz="900" b="1" dirty="0" smtClean="0">
              <a:solidFill>
                <a:srgbClr val="FF0000"/>
              </a:solidFill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    Věk="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occurs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0..1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solidFill>
                  <a:srgbClr val="FF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FF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&gt;</a:t>
            </a:r>
            <a:endParaRPr lang="cs-CZ" sz="900" b="1" dirty="0">
              <a:latin typeface="Consolas" pitchFamily="49" charset="0"/>
            </a:endParaRPr>
          </a:p>
        </p:txBody>
      </p:sp>
      <p:sp>
        <p:nvSpPr>
          <p:cNvPr id="14" name="TextovéPole 13"/>
          <p:cNvSpPr txBox="1"/>
          <p:nvPr/>
        </p:nvSpPr>
        <p:spPr>
          <a:xfrm>
            <a:off x="1763688" y="1484784"/>
            <a:ext cx="1090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XML data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TextovéPole 14"/>
          <p:cNvSpPr txBox="1"/>
          <p:nvPr/>
        </p:nvSpPr>
        <p:spPr>
          <a:xfrm>
            <a:off x="6084168" y="1484784"/>
            <a:ext cx="113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X-definice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Zaoblený obdélník 17"/>
          <p:cNvSpPr/>
          <p:nvPr/>
        </p:nvSpPr>
        <p:spPr bwMode="auto">
          <a:xfrm>
            <a:off x="755576" y="1916832"/>
            <a:ext cx="3816424" cy="4248472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Jméno="Jan Novák" Věk="52"&gt;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OSVČ, konzultant, 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Jméno="Eva Nováková" Věk="49"&gt;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zaměstnanec, zdravotní sestra,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&lt;Dcera Jméno="Eva Nováková" Věk="17"&gt;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všeobecné gymnázium,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&lt;/Dcera&gt;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Jméno="Jan Novák" Věk="11"&gt;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Jan tvrdí, že 3 &amp;</a:t>
            </a:r>
            <a:r>
              <a:rPr lang="cs-CZ" sz="900" b="1" dirty="0" err="1" smtClean="0">
                <a:latin typeface="Consolas" pitchFamily="49" charset="0"/>
              </a:rPr>
              <a:t>lt</a:t>
            </a:r>
            <a:r>
              <a:rPr lang="cs-CZ" sz="900" b="1" dirty="0" smtClean="0">
                <a:latin typeface="Consolas" pitchFamily="49" charset="0"/>
              </a:rPr>
              <a:t>; 4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Jméno="Pavel Novák"&gt;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&lt;![CDATA[ Pavel tvrdí, že 5 &gt; 4 ]]&gt;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Jméno="Lubomír Řehák" Věk="33"&gt;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starosta obce,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Jméno="Jana Řeháková" Věk="29"&gt;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mateřská dovolená,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Jméno="Matyáš Řehák" Věk="2"&gt;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základní škola,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&lt;/Zájezd&gt;</a:t>
            </a:r>
            <a:endParaRPr lang="cs-CZ" sz="900" b="1" dirty="0">
              <a:latin typeface="Consolas" pitchFamily="49" charset="0"/>
            </a:endParaRPr>
          </a:p>
        </p:txBody>
      </p:sp>
      <p:sp>
        <p:nvSpPr>
          <p:cNvPr id="19" name="Čárový popisek 2 18"/>
          <p:cNvSpPr/>
          <p:nvPr/>
        </p:nvSpPr>
        <p:spPr bwMode="auto">
          <a:xfrm>
            <a:off x="6876256" y="3933056"/>
            <a:ext cx="1080120" cy="198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2735"/>
              <a:gd name="adj6" fmla="val -70132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atribut  </a:t>
            </a:r>
            <a:r>
              <a:rPr kumimoji="0" lang="cs-CZ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scriptu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0" name="Čárový popisek 2 19"/>
          <p:cNvSpPr/>
          <p:nvPr/>
        </p:nvSpPr>
        <p:spPr bwMode="auto">
          <a:xfrm>
            <a:off x="7668344" y="1628800"/>
            <a:ext cx="1152128" cy="198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81215"/>
              <a:gd name="adj6" fmla="val -8649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dirty="0" smtClean="0"/>
              <a:t>j</a:t>
            </a:r>
            <a:r>
              <a:rPr kumimoji="0" lang="cs-CZ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menný prostor</a:t>
            </a:r>
          </a:p>
        </p:txBody>
      </p:sp>
      <p:sp>
        <p:nvSpPr>
          <p:cNvPr id="21" name="Obdélník 20"/>
          <p:cNvSpPr/>
          <p:nvPr/>
        </p:nvSpPr>
        <p:spPr bwMode="auto">
          <a:xfrm>
            <a:off x="7020272" y="4941168"/>
            <a:ext cx="1584176" cy="11521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000" b="1" u="sng" dirty="0" smtClean="0"/>
              <a:t>Výskyt – více možností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000" b="1" dirty="0" err="1" smtClean="0">
                <a:solidFill>
                  <a:srgbClr val="0000FF"/>
                </a:solidFill>
              </a:rPr>
              <a:t>o</a:t>
            </a:r>
            <a:r>
              <a:rPr kumimoji="0" lang="cs-CZ" sz="10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rbel" pitchFamily="34" charset="0"/>
              </a:rPr>
              <a:t>ccurs</a:t>
            </a:r>
            <a:r>
              <a:rPr kumimoji="0" lang="cs-CZ" sz="1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rbel" pitchFamily="34" charset="0"/>
              </a:rPr>
              <a:t>  n..m/*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000" b="1" dirty="0" smtClean="0">
                <a:solidFill>
                  <a:srgbClr val="0000FF"/>
                </a:solidFill>
              </a:rPr>
              <a:t>n..m/*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000" b="1" dirty="0" smtClean="0">
                <a:solidFill>
                  <a:srgbClr val="0000FF"/>
                </a:solidFill>
              </a:rPr>
              <a:t>*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000" b="1" dirty="0" smtClean="0">
                <a:solidFill>
                  <a:srgbClr val="0000FF"/>
                </a:solidFill>
              </a:rPr>
              <a:t>+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rbel" pitchFamily="34" charset="0"/>
              </a:rPr>
              <a:t>required/optional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000" b="1" dirty="0" smtClean="0">
                <a:solidFill>
                  <a:srgbClr val="0000FF"/>
                </a:solidFill>
              </a:rPr>
              <a:t>?</a:t>
            </a:r>
            <a:endParaRPr kumimoji="0" lang="cs-CZ" sz="1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orbel" pitchFamily="34" charset="0"/>
            </a:endParaRPr>
          </a:p>
        </p:txBody>
      </p:sp>
      <p:sp>
        <p:nvSpPr>
          <p:cNvPr id="22" name="Čárový popisek 2 21"/>
          <p:cNvSpPr/>
          <p:nvPr/>
        </p:nvSpPr>
        <p:spPr bwMode="auto">
          <a:xfrm>
            <a:off x="6012160" y="2348880"/>
            <a:ext cx="1296144" cy="198000"/>
          </a:xfrm>
          <a:prstGeom prst="borderCallout2">
            <a:avLst>
              <a:gd name="adj1" fmla="val 18750"/>
              <a:gd name="adj2" fmla="val -3968"/>
              <a:gd name="adj3" fmla="val 18750"/>
              <a:gd name="adj4" fmla="val -16667"/>
              <a:gd name="adj5" fmla="val -44173"/>
              <a:gd name="adj6" fmla="val -23425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dirty="0" smtClean="0"/>
              <a:t>jméno X-definice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14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4716016" y="1916832"/>
            <a:ext cx="4032448" cy="4248472"/>
          </a:xfrm>
          <a:prstGeom prst="roundRect">
            <a:avLst>
              <a:gd name="adj" fmla="val 28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 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xmlns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="http://www.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syntea.cz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/3.1"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 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="Příklad"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root</a:t>
            </a:r>
            <a:r>
              <a:rPr lang="cs-CZ" sz="900" b="1" dirty="0" smtClean="0">
                <a:latin typeface="Consolas" pitchFamily="49" charset="0"/>
              </a:rPr>
              <a:t>="Zájezd"&gt;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&lt;Rodina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="1.."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&lt;Otec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="0..1"</a:t>
            </a: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    Jméno="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cs-CZ" sz="900" b="1" dirty="0" smtClean="0">
                <a:latin typeface="Consolas" pitchFamily="49" charset="0"/>
              </a:rPr>
              <a:t>Věk="</a:t>
            </a:r>
            <a:r>
              <a:rPr lang="cs-CZ" sz="900" b="1" dirty="0" err="1" smtClean="0">
                <a:solidFill>
                  <a:srgbClr val="C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&lt;Matka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="1" 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        </a:t>
            </a:r>
            <a:r>
              <a:rPr lang="cs-CZ" sz="900" b="1" dirty="0" smtClean="0">
                <a:latin typeface="Consolas" pitchFamily="49" charset="0"/>
              </a:rPr>
              <a:t>Jméno="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C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&lt;Dcera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="0.."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    Jméno="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string()</a:t>
            </a:r>
            <a:r>
              <a:rPr lang="cs-CZ" sz="900" b="1" dirty="0" smtClean="0">
                <a:latin typeface="Consolas" pitchFamily="49" charset="0"/>
              </a:rPr>
              <a:t>" Věk="</a:t>
            </a:r>
            <a:r>
              <a:rPr lang="cs-CZ" sz="900" b="1" dirty="0" err="1" smtClean="0">
                <a:solidFill>
                  <a:srgbClr val="C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&lt;/Dcera&gt;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&lt;Syn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="0.."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    Jméno="string()"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    Věk="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? </a:t>
            </a:r>
            <a:r>
              <a:rPr lang="cs-CZ" sz="900" b="1" dirty="0" err="1" smtClean="0">
                <a:solidFill>
                  <a:srgbClr val="C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  <p:sp>
        <p:nvSpPr>
          <p:cNvPr id="8" name="Zaoblený obdélník 7"/>
          <p:cNvSpPr/>
          <p:nvPr/>
        </p:nvSpPr>
        <p:spPr bwMode="auto">
          <a:xfrm>
            <a:off x="755576" y="1916832"/>
            <a:ext cx="3816424" cy="4248472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Jméno="Jan Novák" Věk="52"&gt;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OSVČ, konzultant, 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Jméno="Eva Nováková" Věk="49"&gt;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zaměstnanec, zdravotní sestra,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&lt;Dcera Jméno="Eva Nováková" Věk="17"&gt;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všeobecné gymnázium,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&lt;/Dcera&gt;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Jméno="Jan Novák" Věk="11"&gt;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Jan tvrdí, že 3 &amp;</a:t>
            </a:r>
            <a:r>
              <a:rPr lang="cs-CZ" sz="900" b="1" dirty="0" err="1" smtClean="0">
                <a:latin typeface="Consolas" pitchFamily="49" charset="0"/>
              </a:rPr>
              <a:t>lt</a:t>
            </a:r>
            <a:r>
              <a:rPr lang="cs-CZ" sz="900" b="1" dirty="0" smtClean="0">
                <a:latin typeface="Consolas" pitchFamily="49" charset="0"/>
              </a:rPr>
              <a:t>; 4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Jméno="Pavel Novák"&gt;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&lt;![CDATA[ Pavel tvrdí, že 5 &gt; 4 ]]&gt;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Jméno="Lubomír Řehák" Věk="33"&gt;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starosta obce,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Jméno="Jana Řeháková" Věk="29"&gt;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mateřská dovolená,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Jméno="Matyáš Řehák" Věk="2"&gt;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základní škola,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&lt;/Zájezd&gt;</a:t>
            </a:r>
            <a:endParaRPr lang="cs-CZ" sz="900" b="1" dirty="0">
              <a:latin typeface="Consolas" pitchFamily="49" charset="0"/>
            </a:endParaRPr>
          </a:p>
        </p:txBody>
      </p:sp>
      <p:sp>
        <p:nvSpPr>
          <p:cNvPr id="9" name="TextovéPole 8"/>
          <p:cNvSpPr txBox="1"/>
          <p:nvPr/>
        </p:nvSpPr>
        <p:spPr>
          <a:xfrm>
            <a:off x="1763688" y="1484784"/>
            <a:ext cx="1090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XML data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6084168" y="1484784"/>
            <a:ext cx="113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X-definice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Obdélník 13"/>
          <p:cNvSpPr/>
          <p:nvPr/>
        </p:nvSpPr>
        <p:spPr bwMode="auto">
          <a:xfrm>
            <a:off x="6876256" y="5445224"/>
            <a:ext cx="1584176" cy="43204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000" b="1" u="sng" dirty="0" smtClean="0"/>
              <a:t>Zavedeme reference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000" b="1" dirty="0" smtClean="0">
                <a:solidFill>
                  <a:srgbClr val="0000FF"/>
                </a:solidFill>
              </a:rPr>
              <a:t>v X-definicích </a:t>
            </a:r>
            <a:r>
              <a:rPr lang="cs-CZ" sz="1000" b="1" dirty="0" err="1" smtClean="0">
                <a:solidFill>
                  <a:srgbClr val="0000FF"/>
                </a:solidFill>
              </a:rPr>
              <a:t>XDPosition</a:t>
            </a:r>
            <a:endParaRPr kumimoji="0" lang="cs-CZ" sz="1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Corbe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15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4716016" y="1916832"/>
            <a:ext cx="4032448" cy="4248472"/>
          </a:xfrm>
          <a:prstGeom prst="roundRect">
            <a:avLst>
              <a:gd name="adj" fmla="val 28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 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xmlns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="http://www.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syntea.cz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/3.1"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 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="Příklad"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root</a:t>
            </a:r>
            <a:r>
              <a:rPr lang="cs-CZ" sz="900" b="1" dirty="0" smtClean="0">
                <a:latin typeface="Consolas" pitchFamily="49" charset="0"/>
              </a:rPr>
              <a:t>="Zájezd"&gt;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&lt;Rodina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="1.."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&lt;Otec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="0..1;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&lt;Matka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="1;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&lt;Dcera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&lt;Syn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  </a:t>
            </a:r>
            <a:endParaRPr lang="cs-CZ" sz="900" b="1" dirty="0" smtClean="0">
              <a:solidFill>
                <a:srgbClr val="0000FF"/>
              </a:solidFill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&lt;/Zájezd&gt;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&lt;Osoba Jméno="string()" Věk="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? </a:t>
            </a:r>
            <a:r>
              <a:rPr lang="cs-CZ" sz="900" b="1" dirty="0" err="1" smtClean="0">
                <a:solidFill>
                  <a:srgbClr val="C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&lt;/Osoba&gt;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  <p:sp>
        <p:nvSpPr>
          <p:cNvPr id="9" name="TextovéPole 8"/>
          <p:cNvSpPr txBox="1"/>
          <p:nvPr/>
        </p:nvSpPr>
        <p:spPr>
          <a:xfrm>
            <a:off x="1763688" y="1484784"/>
            <a:ext cx="1090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XML data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6084168" y="1484784"/>
            <a:ext cx="113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X-definice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Čárový popisek 2 12"/>
          <p:cNvSpPr/>
          <p:nvPr/>
        </p:nvSpPr>
        <p:spPr bwMode="auto">
          <a:xfrm>
            <a:off x="7740352" y="3573016"/>
            <a:ext cx="936104" cy="21602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62361"/>
              <a:gd name="adj6" fmla="val -73295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XDPosition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4" name="Zaoblený obdélník 13"/>
          <p:cNvSpPr/>
          <p:nvPr/>
        </p:nvSpPr>
        <p:spPr bwMode="auto">
          <a:xfrm>
            <a:off x="755576" y="1916832"/>
            <a:ext cx="3816424" cy="4248472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Jméno="Jan Novák" Věk="52"&gt;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OSVČ, konzultant, 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Jméno="Eva Nováková" Věk="49"&gt;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zaměstnanec, zdravotní sestra,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&lt;Dcera Jméno="Eva Nováková" Věk="17"&gt;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všeobecné gymnázium,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&lt;/Dcera&gt;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Jméno="Jan Novák" Věk="11"&gt;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Jan tvrdí, že 3 &amp;</a:t>
            </a:r>
            <a:r>
              <a:rPr lang="cs-CZ" sz="900" b="1" dirty="0" err="1" smtClean="0">
                <a:latin typeface="Consolas" pitchFamily="49" charset="0"/>
              </a:rPr>
              <a:t>lt</a:t>
            </a:r>
            <a:r>
              <a:rPr lang="cs-CZ" sz="900" b="1" dirty="0" smtClean="0">
                <a:latin typeface="Consolas" pitchFamily="49" charset="0"/>
              </a:rPr>
              <a:t>; 4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Jméno="Pavel Novák"&gt;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&lt;![CDATA[ Pavel tvrdí, že 5 &gt; 4 ]]&gt;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Jméno="Lubomír Řehák" Věk="33"&gt;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starosta obce,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Jméno="Jana Řeháková" Věk="29"&gt;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mateřská dovolená,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Jméno="Matyáš Řehák" Věk="2"&gt;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základní škola,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&lt;/Zájezd&gt;</a:t>
            </a:r>
            <a:endParaRPr lang="cs-CZ" sz="900" b="1" dirty="0"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16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4716016" y="1916832"/>
            <a:ext cx="4032448" cy="4176464"/>
          </a:xfrm>
          <a:prstGeom prst="roundRect">
            <a:avLst>
              <a:gd name="adj" fmla="val 28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 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xmlns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="http://www.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syntea.cz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/3.1"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 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="Příklad"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root</a:t>
            </a:r>
            <a:r>
              <a:rPr lang="cs-CZ" sz="900" b="1" dirty="0" smtClean="0">
                <a:latin typeface="Consolas" pitchFamily="49" charset="0"/>
              </a:rPr>
              <a:t>="Zájezd"&gt;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&lt;Rodina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="1.."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&lt;Otec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="0..1;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&lt;Matka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="1;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mixed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&lt;Dcera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&lt;Syn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  <a:endParaRPr lang="cs-CZ" sz="900" b="1" dirty="0" smtClean="0">
              <a:solidFill>
                <a:srgbClr val="0000FF"/>
              </a:solidFill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mixed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&lt;/Rodina&gt;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&lt;/Zájezd&gt;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&lt;Osoba Jméno="string()" Věk="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? </a:t>
            </a:r>
            <a:r>
              <a:rPr lang="cs-CZ" sz="900" b="1" dirty="0" err="1" smtClean="0">
                <a:solidFill>
                  <a:srgbClr val="C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&lt;/Osoba&gt;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  <p:sp>
        <p:nvSpPr>
          <p:cNvPr id="9" name="TextovéPole 8"/>
          <p:cNvSpPr txBox="1"/>
          <p:nvPr/>
        </p:nvSpPr>
        <p:spPr>
          <a:xfrm>
            <a:off x="1763688" y="1484784"/>
            <a:ext cx="1090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XML data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6084168" y="1484784"/>
            <a:ext cx="1139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800" b="1" dirty="0" smtClean="0">
                <a:latin typeface="Calibri" pitchFamily="34" charset="0"/>
                <a:cs typeface="Calibri" pitchFamily="34" charset="0"/>
              </a:rPr>
              <a:t>X-definice</a:t>
            </a:r>
            <a:endParaRPr lang="cs-CZ" sz="18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Zaoblený obdélník 12"/>
          <p:cNvSpPr/>
          <p:nvPr/>
        </p:nvSpPr>
        <p:spPr bwMode="auto">
          <a:xfrm>
            <a:off x="755576" y="1916832"/>
            <a:ext cx="3816424" cy="4248472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Jméno="Jan Novák" Věk="52"&gt;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OSVČ, konzultant, 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Jméno="Eva Nováková" Věk="49"&gt;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zaměstnanec, zdravotní sestra,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&lt;Dcera Jméno="Eva Nováková" Věk="17"&gt;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všeobecné gymnázium,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&lt;/Dcera&gt;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Jméno="Jan Novák" Věk="11"&gt;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Jan tvrdí, že 3 &amp;</a:t>
            </a:r>
            <a:r>
              <a:rPr lang="cs-CZ" sz="900" b="1" dirty="0" err="1" smtClean="0">
                <a:latin typeface="Consolas" pitchFamily="49" charset="0"/>
              </a:rPr>
              <a:t>lt</a:t>
            </a:r>
            <a:r>
              <a:rPr lang="cs-CZ" sz="900" b="1" dirty="0" smtClean="0">
                <a:latin typeface="Consolas" pitchFamily="49" charset="0"/>
              </a:rPr>
              <a:t>; 4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Jméno="Pavel Novák"&gt;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&lt;![CDATA[ Pavel tvrdí, že 5 &gt; 4 ]]&gt;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Jméno="Lubomír Řehák" Věk="33"&gt;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starosta obce,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&lt;/Otec&gt;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Jméno="Jana Řeháková" Věk="29"&gt;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mateřská dovolená,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&lt;/Matka&gt;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&lt;Syn Jméno="Matyáš Řehák" Věk="2"&gt;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základní škola, nekuřák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&lt;/Syn&gt;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&lt;/Zájezd&gt;</a:t>
            </a:r>
            <a:endParaRPr lang="cs-CZ" sz="900" b="1" dirty="0">
              <a:latin typeface="Consolas" pitchFamily="49" charset="0"/>
            </a:endParaRPr>
          </a:p>
        </p:txBody>
      </p:sp>
      <p:sp>
        <p:nvSpPr>
          <p:cNvPr id="14" name="Čárový popisek 2 13"/>
          <p:cNvSpPr/>
          <p:nvPr/>
        </p:nvSpPr>
        <p:spPr bwMode="auto">
          <a:xfrm>
            <a:off x="6804248" y="2420888"/>
            <a:ext cx="1368152" cy="21602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74669"/>
              <a:gd name="adj6" fmla="val -70992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smíšená sekvence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</a:t>
            </a:r>
            <a:r>
              <a:rPr lang="cs-CZ" sz="20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– doplnění funkčnosti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17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683568" y="1628800"/>
            <a:ext cx="8064896" cy="2304256"/>
          </a:xfrm>
          <a:prstGeom prst="roundRect">
            <a:avLst>
              <a:gd name="adj" fmla="val 2235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&lt;Zájezd&gt;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&lt;Rodina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="1..;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finally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outln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('----------------------------------------------')" 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&lt;Otec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="0..1;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&lt;Matka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="1;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mixed</a:t>
            </a:r>
            <a:r>
              <a:rPr lang="cs-CZ" sz="900" b="1" dirty="0" smtClean="0">
                <a:latin typeface="Consolas" pitchFamily="49" charset="0"/>
              </a:rPr>
              <a:t>&gt;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&lt;Dcera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&lt;Syn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="0..;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ref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Osoba"</a:t>
            </a:r>
            <a:r>
              <a:rPr lang="cs-CZ" sz="900" b="1" dirty="0" smtClean="0">
                <a:latin typeface="Consolas" pitchFamily="49" charset="0"/>
              </a:rPr>
              <a:t>/&gt;</a:t>
            </a:r>
            <a:endParaRPr lang="cs-CZ" sz="900" b="1" dirty="0" smtClean="0">
              <a:solidFill>
                <a:srgbClr val="0000FF"/>
              </a:solidFill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mixed</a:t>
            </a:r>
            <a:r>
              <a:rPr lang="cs-CZ" sz="900" b="1" dirty="0" smtClean="0">
                <a:latin typeface="Consolas" pitchFamily="49" charset="0"/>
              </a:rPr>
              <a:t>&gt;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&lt;/Rodina&gt;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&lt;/Zájezd&gt; 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&lt;Osoba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script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finally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if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(@Věk!=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null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) {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outln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('Jméno:' + @Jméno + '    Věk:' + @Věk)}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                   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else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{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outln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('Jméno:' + @Jméno)}"</a:t>
            </a: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Jméno="string()" Věk="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? </a:t>
            </a:r>
            <a:r>
              <a:rPr lang="cs-CZ" sz="900" b="1" dirty="0" err="1" smtClean="0">
                <a:solidFill>
                  <a:srgbClr val="C00000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</a:t>
            </a:r>
            <a:r>
              <a:rPr lang="cs-CZ" sz="900" b="1" dirty="0" smtClean="0">
                <a:solidFill>
                  <a:srgbClr val="C00000"/>
                </a:solidFill>
                <a:latin typeface="Consolas" pitchFamily="49" charset="0"/>
              </a:rPr>
              <a:t>string()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&lt;/Osoba&gt;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  <p:sp>
        <p:nvSpPr>
          <p:cNvPr id="13" name="Zaoblený obdélník 12"/>
          <p:cNvSpPr/>
          <p:nvPr/>
        </p:nvSpPr>
        <p:spPr bwMode="auto">
          <a:xfrm>
            <a:off x="683568" y="4293096"/>
            <a:ext cx="8064896" cy="1512168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Jméno:Jan Novák    Věk:3.6.1974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Jméno:Eva Nováková    Věk:12.2.1976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Jméno:Eva Nováková    Věk:12.2.2001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Jméno:Jan Novák    Věk:26.6.2002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Jméno:Pavel Novák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----------------------------------------------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Jméno:Lubomír Řehák    Věk:7.12.1982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Jméno:Jana Řeháková    Věk:9.1.1986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Jméno:Matyáš Řehák    Věk:22.3.2016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----------------------------------------------</a:t>
            </a: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</a:t>
            </a:r>
            <a:r>
              <a:rPr lang="cs-CZ" sz="20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– skupiny modelů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18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683568" y="1916832"/>
            <a:ext cx="8064896" cy="3888432"/>
          </a:xfrm>
          <a:prstGeom prst="roundRect">
            <a:avLst>
              <a:gd name="adj" fmla="val 2235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 </a:t>
            </a:r>
            <a:r>
              <a:rPr lang="cs-CZ" sz="900" b="1" dirty="0" err="1" smtClean="0">
                <a:latin typeface="Consolas" pitchFamily="49" charset="0"/>
              </a:rPr>
              <a:t>xmlns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="http://www.</a:t>
            </a:r>
            <a:r>
              <a:rPr lang="cs-CZ" sz="900" b="1" dirty="0" err="1" smtClean="0">
                <a:latin typeface="Consolas" pitchFamily="49" charset="0"/>
              </a:rPr>
              <a:t>syntea.cz</a:t>
            </a:r>
            <a:r>
              <a:rPr lang="cs-CZ" sz="900" b="1" dirty="0" smtClean="0">
                <a:latin typeface="Consolas" pitchFamily="49" charset="0"/>
              </a:rPr>
              <a:t>/</a:t>
            </a:r>
            <a:r>
              <a:rPr lang="cs-CZ" sz="900" b="1" dirty="0" err="1" smtClean="0">
                <a:latin typeface="Consolas" pitchFamily="49" charset="0"/>
              </a:rPr>
              <a:t>xdef</a:t>
            </a:r>
            <a:r>
              <a:rPr lang="cs-CZ" sz="900" b="1" dirty="0" smtClean="0">
                <a:latin typeface="Consolas" pitchFamily="49" charset="0"/>
              </a:rPr>
              <a:t>/3.1"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       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="Příklad" 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root</a:t>
            </a:r>
            <a:r>
              <a:rPr lang="cs-CZ" sz="900" b="1" dirty="0" smtClean="0">
                <a:latin typeface="Consolas" pitchFamily="49" charset="0"/>
              </a:rPr>
              <a:t>="</a:t>
            </a:r>
            <a:r>
              <a:rPr lang="cs-CZ" sz="900" b="1" dirty="0" err="1" smtClean="0">
                <a:latin typeface="Consolas" pitchFamily="49" charset="0"/>
              </a:rPr>
              <a:t>NabídkaZájezdu</a:t>
            </a:r>
            <a:r>
              <a:rPr lang="cs-CZ" sz="900" b="1" dirty="0" smtClean="0">
                <a:latin typeface="Consolas" pitchFamily="49" charset="0"/>
              </a:rPr>
              <a:t>" 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</a:t>
            </a:r>
            <a:r>
              <a:rPr lang="cs-CZ" sz="900" b="1" dirty="0" err="1" smtClean="0">
                <a:latin typeface="Consolas" pitchFamily="49" charset="0"/>
              </a:rPr>
              <a:t>NabídkaZájezdu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&lt;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sequence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&lt;Objednatel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="1; 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Subjekt"/&gt;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&lt;Hotel Název="string()" Lokalita="string()"/&gt;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&lt;Termín Příjezd="</a:t>
            </a:r>
            <a:r>
              <a:rPr lang="cs-CZ" sz="900" b="1" dirty="0" err="1" smtClean="0">
                <a:latin typeface="Consolas" pitchFamily="49" charset="0"/>
              </a:rPr>
              <a:t>xdatetime</a:t>
            </a:r>
            <a:r>
              <a:rPr lang="cs-CZ" sz="900" b="1" dirty="0" smtClean="0">
                <a:latin typeface="Consolas" pitchFamily="49" charset="0"/>
              </a:rPr>
              <a:t>('</a:t>
            </a:r>
            <a:r>
              <a:rPr lang="cs-CZ" sz="900" b="1" dirty="0" err="1" smtClean="0">
                <a:latin typeface="Consolas" pitchFamily="49" charset="0"/>
              </a:rPr>
              <a:t>d.M.yyyy</a:t>
            </a:r>
            <a:r>
              <a:rPr lang="cs-CZ" sz="900" b="1" dirty="0" smtClean="0">
                <a:latin typeface="Consolas" pitchFamily="49" charset="0"/>
              </a:rPr>
              <a:t>')" Odjezd="</a:t>
            </a:r>
            <a:r>
              <a:rPr lang="cs-CZ" sz="900" b="1" dirty="0" err="1" smtClean="0">
                <a:latin typeface="Consolas" pitchFamily="49" charset="0"/>
              </a:rPr>
              <a:t>xdatetime</a:t>
            </a:r>
            <a:r>
              <a:rPr lang="cs-CZ" sz="900" b="1" dirty="0" smtClean="0">
                <a:latin typeface="Consolas" pitchFamily="49" charset="0"/>
              </a:rPr>
              <a:t>('</a:t>
            </a:r>
            <a:r>
              <a:rPr lang="cs-CZ" sz="900" b="1" dirty="0" err="1" smtClean="0">
                <a:latin typeface="Consolas" pitchFamily="49" charset="0"/>
              </a:rPr>
              <a:t>d.M.yyyy</a:t>
            </a:r>
            <a:r>
              <a:rPr lang="cs-CZ" sz="900" b="1" dirty="0" smtClean="0">
                <a:latin typeface="Consolas" pitchFamily="49" charset="0"/>
              </a:rPr>
              <a:t>')"/&gt;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&lt;Cestující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="1..; 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Osoba"/&gt;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&lt;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sequence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&lt;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mixed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&lt;Kolo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="*" Typ="</a:t>
            </a:r>
            <a:r>
              <a:rPr lang="cs-CZ" sz="900" b="1" dirty="0" err="1" smtClean="0">
                <a:latin typeface="Consolas" pitchFamily="49" charset="0"/>
              </a:rPr>
              <a:t>enum</a:t>
            </a:r>
            <a:r>
              <a:rPr lang="cs-CZ" sz="900" b="1" dirty="0" smtClean="0">
                <a:latin typeface="Consolas" pitchFamily="49" charset="0"/>
              </a:rPr>
              <a:t>('Pánské','Dámské','Dětské')"/&gt;  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&lt;Loďka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="0..2" Typ="</a:t>
            </a:r>
            <a:r>
              <a:rPr lang="cs-CZ" sz="900" b="1" dirty="0" err="1" smtClean="0">
                <a:latin typeface="Consolas" pitchFamily="49" charset="0"/>
              </a:rPr>
              <a:t>enum</a:t>
            </a:r>
            <a:r>
              <a:rPr lang="cs-CZ" sz="900" b="1" dirty="0" smtClean="0">
                <a:latin typeface="Consolas" pitchFamily="49" charset="0"/>
              </a:rPr>
              <a:t>('2 osoby','4 osoby')"/&gt;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</a:t>
            </a:r>
            <a:r>
              <a:rPr lang="cs-CZ" sz="900" b="1" dirty="0" err="1" smtClean="0">
                <a:latin typeface="Consolas" pitchFamily="49" charset="0"/>
              </a:rPr>
              <a:t>LetBalonem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&lt;/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mixed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</a:t>
            </a:r>
            <a:r>
              <a:rPr lang="cs-CZ" sz="900" b="1" dirty="0" err="1" smtClean="0">
                <a:latin typeface="Consolas" pitchFamily="49" charset="0"/>
              </a:rPr>
              <a:t>NabídkaZájezdu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&lt;Subjekt&gt;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&lt;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choice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&gt;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&lt;Osoba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Osoba"/&gt;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&lt;Firma Název="string()" IČO="</a:t>
            </a:r>
            <a:r>
              <a:rPr lang="cs-CZ" sz="900" b="1" dirty="0" err="1" smtClean="0">
                <a:latin typeface="Consolas" pitchFamily="49" charset="0"/>
              </a:rPr>
              <a:t>int</a:t>
            </a:r>
            <a:r>
              <a:rPr lang="cs-CZ" sz="900" b="1" dirty="0" smtClean="0">
                <a:latin typeface="Consolas" pitchFamily="49" charset="0"/>
              </a:rPr>
              <a:t>()"/&gt;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&lt;/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choice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&lt;/Subjekt&gt;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&lt;Osoba Jméno="string()" Příjmení="string()" </a:t>
            </a:r>
            <a:r>
              <a:rPr lang="cs-CZ" sz="900" b="1" dirty="0" err="1" smtClean="0">
                <a:latin typeface="Consolas" pitchFamily="49" charset="0"/>
              </a:rPr>
              <a:t>DatumNarození</a:t>
            </a:r>
            <a:r>
              <a:rPr lang="cs-CZ" sz="900" b="1" dirty="0" smtClean="0">
                <a:latin typeface="Consolas" pitchFamily="49" charset="0"/>
              </a:rPr>
              <a:t>="</a:t>
            </a:r>
            <a:r>
              <a:rPr lang="cs-CZ" sz="900" b="1" dirty="0" err="1" smtClean="0">
                <a:latin typeface="Consolas" pitchFamily="49" charset="0"/>
              </a:rPr>
              <a:t>xdatetime</a:t>
            </a:r>
            <a:r>
              <a:rPr lang="cs-CZ" sz="900" b="1" dirty="0" smtClean="0">
                <a:latin typeface="Consolas" pitchFamily="49" charset="0"/>
              </a:rPr>
              <a:t>('</a:t>
            </a:r>
            <a:r>
              <a:rPr lang="cs-CZ" sz="900" b="1" dirty="0" err="1" smtClean="0">
                <a:latin typeface="Consolas" pitchFamily="49" charset="0"/>
              </a:rPr>
              <a:t>d.M.yyyy</a:t>
            </a:r>
            <a:r>
              <a:rPr lang="cs-CZ" sz="900" b="1" dirty="0" smtClean="0">
                <a:latin typeface="Consolas" pitchFamily="49" charset="0"/>
              </a:rPr>
              <a:t>')"/&gt;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  <p:sp>
        <p:nvSpPr>
          <p:cNvPr id="9" name="Čárový popisek 2 8"/>
          <p:cNvSpPr/>
          <p:nvPr/>
        </p:nvSpPr>
        <p:spPr bwMode="auto">
          <a:xfrm>
            <a:off x="2339752" y="4221088"/>
            <a:ext cx="1296144" cy="216024"/>
          </a:xfrm>
          <a:prstGeom prst="borderCallout2">
            <a:avLst>
              <a:gd name="adj1" fmla="val 18750"/>
              <a:gd name="adj2" fmla="val -3968"/>
              <a:gd name="adj3" fmla="val 18750"/>
              <a:gd name="adj4" fmla="val -16667"/>
              <a:gd name="adj5" fmla="val 120744"/>
              <a:gd name="adj6" fmla="val -44191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dirty="0" smtClean="0"/>
              <a:t>Výběrová skupina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4" name="Čárový popisek 2 13"/>
          <p:cNvSpPr/>
          <p:nvPr/>
        </p:nvSpPr>
        <p:spPr bwMode="auto">
          <a:xfrm>
            <a:off x="3851920" y="3212976"/>
            <a:ext cx="1296144" cy="216024"/>
          </a:xfrm>
          <a:prstGeom prst="borderCallout2">
            <a:avLst>
              <a:gd name="adj1" fmla="val 18750"/>
              <a:gd name="adj2" fmla="val -3968"/>
              <a:gd name="adj3" fmla="val 18750"/>
              <a:gd name="adj4" fmla="val -16667"/>
              <a:gd name="adj5" fmla="val 101503"/>
              <a:gd name="adj6" fmla="val -16513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dirty="0" smtClean="0"/>
              <a:t>Smíšená  skupina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5" name="Čárový popisek 2 14"/>
          <p:cNvSpPr/>
          <p:nvPr/>
        </p:nvSpPr>
        <p:spPr bwMode="auto">
          <a:xfrm>
            <a:off x="2555776" y="2348880"/>
            <a:ext cx="1440160" cy="216024"/>
          </a:xfrm>
          <a:prstGeom prst="borderCallout2">
            <a:avLst>
              <a:gd name="adj1" fmla="val 18750"/>
              <a:gd name="adj2" fmla="val -3968"/>
              <a:gd name="adj3" fmla="val 18750"/>
              <a:gd name="adj4" fmla="val -16667"/>
              <a:gd name="adj5" fmla="val 115246"/>
              <a:gd name="adj6" fmla="val -41855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dirty="0" smtClean="0"/>
              <a:t>Uspořádaná  skupina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</a:t>
            </a:r>
            <a:r>
              <a:rPr lang="cs-CZ" sz="20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– sekce skriptu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19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827584" y="2060848"/>
            <a:ext cx="7560840" cy="432048"/>
          </a:xfrm>
          <a:prstGeom prst="roundRect">
            <a:avLst>
              <a:gd name="adj" fmla="val 2235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&lt;Osoba Jméno="required string(2,36); </a:t>
            </a:r>
            <a:r>
              <a:rPr lang="cs-CZ" sz="900" b="1" dirty="0" err="1" smtClean="0">
                <a:latin typeface="Consolas" pitchFamily="49" charset="0"/>
              </a:rPr>
              <a:t>onFalse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outln</a:t>
            </a:r>
            <a:r>
              <a:rPr lang="cs-CZ" sz="900" b="1" dirty="0" smtClean="0">
                <a:latin typeface="Consolas" pitchFamily="49" charset="0"/>
              </a:rPr>
              <a:t>('chybné Jméno'); </a:t>
            </a:r>
            <a:r>
              <a:rPr lang="cs-CZ" sz="900" b="1" dirty="0" err="1" smtClean="0">
                <a:latin typeface="Consolas" pitchFamily="49" charset="0"/>
              </a:rPr>
              <a:t>trimAttr</a:t>
            </a:r>
            <a:r>
              <a:rPr lang="cs-CZ" sz="900" b="1" dirty="0" smtClean="0">
                <a:latin typeface="Consolas" pitchFamily="49" charset="0"/>
              </a:rPr>
              <a:t>, </a:t>
            </a:r>
            <a:r>
              <a:rPr lang="cs-CZ" sz="900" b="1" dirty="0" err="1" smtClean="0">
                <a:latin typeface="Consolas" pitchFamily="49" charset="0"/>
              </a:rPr>
              <a:t>setAttrUpperCase</a:t>
            </a:r>
            <a:r>
              <a:rPr lang="cs-CZ" sz="900" b="1" dirty="0" smtClean="0">
                <a:latin typeface="Consolas" pitchFamily="49" charset="0"/>
              </a:rPr>
              <a:t>;"</a:t>
            </a:r>
            <a:endParaRPr lang="cs-CZ" sz="900" b="1" dirty="0">
              <a:latin typeface="Consolas" pitchFamily="49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827584" y="1700808"/>
            <a:ext cx="15398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500" b="1" dirty="0" smtClean="0">
                <a:latin typeface="Calibri" pitchFamily="34" charset="0"/>
                <a:cs typeface="Calibri" pitchFamily="34" charset="0"/>
              </a:rPr>
              <a:t>Skript u atributu</a:t>
            </a:r>
            <a:endParaRPr lang="cs-CZ" sz="15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Levá složená závorka 12"/>
          <p:cNvSpPr/>
          <p:nvPr/>
        </p:nvSpPr>
        <p:spPr bwMode="auto">
          <a:xfrm rot="5400000" flipH="1">
            <a:off x="2123728" y="2132856"/>
            <a:ext cx="72008" cy="504056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6" name="Obdélníkový popisek 15"/>
          <p:cNvSpPr/>
          <p:nvPr/>
        </p:nvSpPr>
        <p:spPr bwMode="auto">
          <a:xfrm>
            <a:off x="1619672" y="2708920"/>
            <a:ext cx="648072" cy="216024"/>
          </a:xfrm>
          <a:prstGeom prst="wedgeRectCallout">
            <a:avLst>
              <a:gd name="adj1" fmla="val 34694"/>
              <a:gd name="adj2" fmla="val -17554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výskyt</a:t>
            </a:r>
          </a:p>
        </p:txBody>
      </p:sp>
      <p:sp>
        <p:nvSpPr>
          <p:cNvPr id="17" name="Obdélníkový popisek 16"/>
          <p:cNvSpPr/>
          <p:nvPr/>
        </p:nvSpPr>
        <p:spPr bwMode="auto">
          <a:xfrm>
            <a:off x="2483768" y="2708920"/>
            <a:ext cx="1008112" cy="216024"/>
          </a:xfrm>
          <a:prstGeom prst="wedgeRectCallout">
            <a:avLst>
              <a:gd name="adj1" fmla="val -9380"/>
              <a:gd name="adj2" fmla="val -181509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typ hodnoty</a:t>
            </a:r>
          </a:p>
        </p:txBody>
      </p:sp>
      <p:sp>
        <p:nvSpPr>
          <p:cNvPr id="18" name="Levá složená závorka 17"/>
          <p:cNvSpPr/>
          <p:nvPr/>
        </p:nvSpPr>
        <p:spPr bwMode="auto">
          <a:xfrm rot="5400000" flipH="1">
            <a:off x="2843808" y="1988840"/>
            <a:ext cx="72008" cy="792088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9" name="Levá složená závorka 18"/>
          <p:cNvSpPr/>
          <p:nvPr/>
        </p:nvSpPr>
        <p:spPr bwMode="auto">
          <a:xfrm rot="5400000" flipH="1">
            <a:off x="4247964" y="1448780"/>
            <a:ext cx="72008" cy="1872208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0" name="Obdélníkový popisek 19"/>
          <p:cNvSpPr/>
          <p:nvPr/>
        </p:nvSpPr>
        <p:spPr bwMode="auto">
          <a:xfrm>
            <a:off x="3923928" y="2708920"/>
            <a:ext cx="1008112" cy="216024"/>
          </a:xfrm>
          <a:prstGeom prst="wedgeRectCallout">
            <a:avLst>
              <a:gd name="adj1" fmla="val -11935"/>
              <a:gd name="adj2" fmla="val -184491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akce událostí</a:t>
            </a:r>
          </a:p>
        </p:txBody>
      </p:sp>
      <p:sp>
        <p:nvSpPr>
          <p:cNvPr id="21" name="Levá složená závorka 20"/>
          <p:cNvSpPr/>
          <p:nvPr/>
        </p:nvSpPr>
        <p:spPr bwMode="auto">
          <a:xfrm rot="5400000" flipH="1">
            <a:off x="6192180" y="1520788"/>
            <a:ext cx="72008" cy="1728192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2" name="Obdélníkový popisek 21"/>
          <p:cNvSpPr/>
          <p:nvPr/>
        </p:nvSpPr>
        <p:spPr bwMode="auto">
          <a:xfrm>
            <a:off x="5724128" y="2708920"/>
            <a:ext cx="648072" cy="216024"/>
          </a:xfrm>
          <a:prstGeom prst="wedgeRectCallout">
            <a:avLst>
              <a:gd name="adj1" fmla="val 30720"/>
              <a:gd name="adj2" fmla="val -17852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volby</a:t>
            </a:r>
          </a:p>
        </p:txBody>
      </p:sp>
      <p:sp>
        <p:nvSpPr>
          <p:cNvPr id="23" name="Zaoblený obdélník 22"/>
          <p:cNvSpPr/>
          <p:nvPr/>
        </p:nvSpPr>
        <p:spPr bwMode="auto">
          <a:xfrm>
            <a:off x="827584" y="3573016"/>
            <a:ext cx="7560840" cy="432048"/>
          </a:xfrm>
          <a:prstGeom prst="roundRect">
            <a:avLst>
              <a:gd name="adj" fmla="val 2235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&lt;Žák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="var </a:t>
            </a:r>
            <a:r>
              <a:rPr lang="cs-CZ" sz="900" b="1" dirty="0" err="1" smtClean="0">
                <a:latin typeface="Consolas" pitchFamily="49" charset="0"/>
              </a:rPr>
              <a:t>int</a:t>
            </a:r>
            <a:r>
              <a:rPr lang="cs-CZ" sz="900" b="1" dirty="0" smtClean="0">
                <a:latin typeface="Consolas" pitchFamily="49" charset="0"/>
              </a:rPr>
              <a:t> i; </a:t>
            </a:r>
            <a:r>
              <a:rPr lang="cs-CZ" sz="900" b="1" dirty="0" err="1" smtClean="0">
                <a:latin typeface="Consolas" pitchFamily="49" charset="0"/>
              </a:rPr>
              <a:t>occurs</a:t>
            </a:r>
            <a:r>
              <a:rPr lang="cs-CZ" sz="900" b="1" dirty="0" smtClean="0">
                <a:latin typeface="Consolas" pitchFamily="49" charset="0"/>
              </a:rPr>
              <a:t> 1..; </a:t>
            </a:r>
            <a:r>
              <a:rPr lang="cs-CZ" sz="900" b="1" dirty="0" err="1" smtClean="0">
                <a:latin typeface="Consolas" pitchFamily="49" charset="0"/>
              </a:rPr>
              <a:t>finally</a:t>
            </a:r>
            <a:r>
              <a:rPr lang="cs-CZ" sz="900" b="1" dirty="0" smtClean="0">
                <a:latin typeface="Consolas" pitchFamily="49" charset="0"/>
              </a:rPr>
              <a:t> {i++; </a:t>
            </a:r>
            <a:r>
              <a:rPr lang="cs-CZ" sz="900" b="1" dirty="0" err="1" smtClean="0">
                <a:latin typeface="Consolas" pitchFamily="49" charset="0"/>
              </a:rPr>
              <a:t>outln</a:t>
            </a:r>
            <a:r>
              <a:rPr lang="cs-CZ" sz="900" b="1" dirty="0" smtClean="0">
                <a:latin typeface="Consolas" pitchFamily="49" charset="0"/>
              </a:rPr>
              <a:t>(i)}; </a:t>
            </a:r>
            <a:r>
              <a:rPr lang="cs-CZ" sz="900" b="1" dirty="0" err="1" smtClean="0">
                <a:latin typeface="Consolas" pitchFamily="49" charset="0"/>
              </a:rPr>
              <a:t>trimText</a:t>
            </a:r>
            <a:r>
              <a:rPr lang="cs-CZ" sz="900" b="1" dirty="0" smtClean="0">
                <a:latin typeface="Consolas" pitchFamily="49" charset="0"/>
              </a:rPr>
              <a:t>, </a:t>
            </a:r>
            <a:r>
              <a:rPr lang="cs-CZ" sz="900" b="1" dirty="0" err="1" smtClean="0">
                <a:latin typeface="Consolas" pitchFamily="49" charset="0"/>
              </a:rPr>
              <a:t>moreAttributes</a:t>
            </a:r>
            <a:r>
              <a:rPr lang="cs-CZ" sz="900" b="1" dirty="0" smtClean="0">
                <a:latin typeface="Consolas" pitchFamily="49" charset="0"/>
              </a:rPr>
              <a:t>; 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Osoba"</a:t>
            </a:r>
            <a:endParaRPr lang="cs-CZ" sz="900" b="1" dirty="0">
              <a:latin typeface="Consolas" pitchFamily="49" charset="0"/>
            </a:endParaRPr>
          </a:p>
        </p:txBody>
      </p:sp>
      <p:sp>
        <p:nvSpPr>
          <p:cNvPr id="24" name="TextovéPole 23"/>
          <p:cNvSpPr txBox="1"/>
          <p:nvPr/>
        </p:nvSpPr>
        <p:spPr>
          <a:xfrm>
            <a:off x="827584" y="3212976"/>
            <a:ext cx="16055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500" b="1" dirty="0" smtClean="0">
                <a:latin typeface="Calibri" pitchFamily="34" charset="0"/>
                <a:cs typeface="Calibri" pitchFamily="34" charset="0"/>
              </a:rPr>
              <a:t>Skript u elementu</a:t>
            </a:r>
            <a:endParaRPr lang="cs-CZ" sz="15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Levá složená závorka 24"/>
          <p:cNvSpPr/>
          <p:nvPr/>
        </p:nvSpPr>
        <p:spPr bwMode="auto">
          <a:xfrm rot="5400000" flipH="1">
            <a:off x="3059832" y="3573016"/>
            <a:ext cx="72008" cy="648072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6" name="Obdélníkový popisek 25"/>
          <p:cNvSpPr/>
          <p:nvPr/>
        </p:nvSpPr>
        <p:spPr bwMode="auto">
          <a:xfrm>
            <a:off x="2699792" y="4221088"/>
            <a:ext cx="648072" cy="216024"/>
          </a:xfrm>
          <a:prstGeom prst="wedgeRectCallout">
            <a:avLst>
              <a:gd name="adj1" fmla="val 11841"/>
              <a:gd name="adj2" fmla="val -18150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výskyt</a:t>
            </a:r>
          </a:p>
        </p:txBody>
      </p:sp>
      <p:sp>
        <p:nvSpPr>
          <p:cNvPr id="29" name="Levá složená závorka 28"/>
          <p:cNvSpPr/>
          <p:nvPr/>
        </p:nvSpPr>
        <p:spPr bwMode="auto">
          <a:xfrm rot="5400000" flipH="1">
            <a:off x="4211960" y="3140968"/>
            <a:ext cx="72008" cy="1512168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30" name="Obdélníkový popisek 29"/>
          <p:cNvSpPr/>
          <p:nvPr/>
        </p:nvSpPr>
        <p:spPr bwMode="auto">
          <a:xfrm>
            <a:off x="3995936" y="4221088"/>
            <a:ext cx="1008112" cy="216024"/>
          </a:xfrm>
          <a:prstGeom prst="wedgeRectCallout">
            <a:avLst>
              <a:gd name="adj1" fmla="val -23433"/>
              <a:gd name="adj2" fmla="val -18151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akce událostí</a:t>
            </a:r>
          </a:p>
        </p:txBody>
      </p:sp>
      <p:sp>
        <p:nvSpPr>
          <p:cNvPr id="31" name="Levá složená závorka 30"/>
          <p:cNvSpPr/>
          <p:nvPr/>
        </p:nvSpPr>
        <p:spPr bwMode="auto">
          <a:xfrm rot="5400000" flipH="1">
            <a:off x="5832140" y="3104964"/>
            <a:ext cx="72008" cy="1584176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32" name="Obdélníkový popisek 31"/>
          <p:cNvSpPr/>
          <p:nvPr/>
        </p:nvSpPr>
        <p:spPr bwMode="auto">
          <a:xfrm>
            <a:off x="5436096" y="4221088"/>
            <a:ext cx="648072" cy="216024"/>
          </a:xfrm>
          <a:prstGeom prst="wedgeRectCallout">
            <a:avLst>
              <a:gd name="adj1" fmla="val 18797"/>
              <a:gd name="adj2" fmla="val -17554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volby</a:t>
            </a:r>
          </a:p>
        </p:txBody>
      </p:sp>
      <p:sp>
        <p:nvSpPr>
          <p:cNvPr id="33" name="Obdélníkový popisek 32"/>
          <p:cNvSpPr/>
          <p:nvPr/>
        </p:nvSpPr>
        <p:spPr bwMode="auto">
          <a:xfrm>
            <a:off x="1547664" y="4221088"/>
            <a:ext cx="864096" cy="216024"/>
          </a:xfrm>
          <a:prstGeom prst="wedgeRectCallout">
            <a:avLst>
              <a:gd name="adj1" fmla="val 42891"/>
              <a:gd name="adj2" fmla="val -17852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deklarace</a:t>
            </a:r>
          </a:p>
        </p:txBody>
      </p:sp>
      <p:sp>
        <p:nvSpPr>
          <p:cNvPr id="34" name="Levá složená závorka 33"/>
          <p:cNvSpPr/>
          <p:nvPr/>
        </p:nvSpPr>
        <p:spPr bwMode="auto">
          <a:xfrm rot="5400000" flipH="1">
            <a:off x="2303748" y="3609021"/>
            <a:ext cx="72007" cy="576064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36" name="Levá složená závorka 35"/>
          <p:cNvSpPr/>
          <p:nvPr/>
        </p:nvSpPr>
        <p:spPr bwMode="auto">
          <a:xfrm rot="5400000" flipH="1">
            <a:off x="6984268" y="3609020"/>
            <a:ext cx="72008" cy="576064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37" name="Obdélníkový popisek 36"/>
          <p:cNvSpPr/>
          <p:nvPr/>
        </p:nvSpPr>
        <p:spPr bwMode="auto">
          <a:xfrm>
            <a:off x="6732240" y="4221088"/>
            <a:ext cx="576064" cy="216024"/>
          </a:xfrm>
          <a:prstGeom prst="wedgeRectCallout">
            <a:avLst>
              <a:gd name="adj1" fmla="val 2470"/>
              <a:gd name="adj2" fmla="val -181509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odkaz</a:t>
            </a:r>
          </a:p>
        </p:txBody>
      </p:sp>
      <p:sp>
        <p:nvSpPr>
          <p:cNvPr id="39" name="Obdélník 38"/>
          <p:cNvSpPr/>
          <p:nvPr/>
        </p:nvSpPr>
        <p:spPr bwMode="auto">
          <a:xfrm>
            <a:off x="3707904" y="4581128"/>
            <a:ext cx="1584176" cy="15841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cs-CZ" sz="900" b="1" dirty="0" smtClean="0"/>
              <a:t>přiřazovací příkaz</a:t>
            </a:r>
          </a:p>
          <a:p>
            <a:pPr eaLnBrk="1" hangingPunct="1"/>
            <a:r>
              <a:rPr lang="cs-CZ" sz="900" b="1" dirty="0" smtClean="0"/>
              <a:t>volání metody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break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continue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return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"do"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for</a:t>
            </a:r>
            <a:r>
              <a:rPr lang="cs-CZ" sz="900" b="1" dirty="0" smtClean="0"/>
              <a:t>" 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while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if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switch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try</a:t>
            </a:r>
            <a:r>
              <a:rPr lang="cs-CZ" sz="900" b="1" dirty="0" smtClean="0"/>
              <a:t>" a "</a:t>
            </a:r>
            <a:r>
              <a:rPr lang="cs-CZ" sz="900" b="1" dirty="0" err="1" smtClean="0"/>
              <a:t>catch</a:t>
            </a:r>
            <a:r>
              <a:rPr lang="cs-CZ" sz="900" b="1" dirty="0" smtClean="0"/>
              <a:t>"</a:t>
            </a:r>
          </a:p>
        </p:txBody>
      </p:sp>
      <p:cxnSp>
        <p:nvCxnSpPr>
          <p:cNvPr id="41" name="Přímá spojovací čára 40"/>
          <p:cNvCxnSpPr/>
          <p:nvPr/>
        </p:nvCxnSpPr>
        <p:spPr bwMode="auto">
          <a:xfrm flipH="1">
            <a:off x="3707904" y="2924944"/>
            <a:ext cx="288032" cy="165618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Přímá spojovací čára 42"/>
          <p:cNvCxnSpPr/>
          <p:nvPr/>
        </p:nvCxnSpPr>
        <p:spPr bwMode="auto">
          <a:xfrm flipH="1">
            <a:off x="3707904" y="4437112"/>
            <a:ext cx="360040" cy="14401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</a:t>
            </a:r>
            <a:r>
              <a:rPr lang="cs-CZ" sz="20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– sekce skriptu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20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827584" y="2060848"/>
            <a:ext cx="7560840" cy="432048"/>
          </a:xfrm>
          <a:prstGeom prst="roundRect">
            <a:avLst>
              <a:gd name="adj" fmla="val 2235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&lt;Osoba Jméno="required string(2,36); </a:t>
            </a:r>
            <a:r>
              <a:rPr lang="cs-CZ" sz="900" b="1" dirty="0" err="1" smtClean="0">
                <a:latin typeface="Consolas" pitchFamily="49" charset="0"/>
              </a:rPr>
              <a:t>onFalse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outln</a:t>
            </a:r>
            <a:r>
              <a:rPr lang="cs-CZ" sz="900" b="1" dirty="0" smtClean="0">
                <a:latin typeface="Consolas" pitchFamily="49" charset="0"/>
              </a:rPr>
              <a:t>('chybné Jméno'); </a:t>
            </a:r>
            <a:r>
              <a:rPr lang="cs-CZ" sz="900" b="1" dirty="0" err="1" smtClean="0">
                <a:latin typeface="Consolas" pitchFamily="49" charset="0"/>
              </a:rPr>
              <a:t>trimAttr</a:t>
            </a:r>
            <a:r>
              <a:rPr lang="cs-CZ" sz="900" b="1" dirty="0" smtClean="0">
                <a:latin typeface="Consolas" pitchFamily="49" charset="0"/>
              </a:rPr>
              <a:t>, </a:t>
            </a:r>
            <a:r>
              <a:rPr lang="cs-CZ" sz="900" b="1" dirty="0" err="1" smtClean="0">
                <a:latin typeface="Consolas" pitchFamily="49" charset="0"/>
              </a:rPr>
              <a:t>setAttrUpperCase</a:t>
            </a:r>
            <a:r>
              <a:rPr lang="cs-CZ" sz="900" b="1" dirty="0" smtClean="0">
                <a:latin typeface="Consolas" pitchFamily="49" charset="0"/>
              </a:rPr>
              <a:t>;"</a:t>
            </a:r>
            <a:endParaRPr lang="cs-CZ" sz="900" b="1" dirty="0">
              <a:latin typeface="Consolas" pitchFamily="49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827584" y="1700808"/>
            <a:ext cx="15398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500" b="1" dirty="0" smtClean="0">
                <a:latin typeface="Calibri" pitchFamily="34" charset="0"/>
                <a:cs typeface="Calibri" pitchFamily="34" charset="0"/>
              </a:rPr>
              <a:t>Skript u atributu</a:t>
            </a:r>
            <a:endParaRPr lang="cs-CZ" sz="15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Levá složená závorka 12"/>
          <p:cNvSpPr/>
          <p:nvPr/>
        </p:nvSpPr>
        <p:spPr bwMode="auto">
          <a:xfrm rot="5400000" flipH="1">
            <a:off x="2123728" y="2132856"/>
            <a:ext cx="72008" cy="504056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6" name="Obdélníkový popisek 15"/>
          <p:cNvSpPr/>
          <p:nvPr/>
        </p:nvSpPr>
        <p:spPr bwMode="auto">
          <a:xfrm>
            <a:off x="1619672" y="2708920"/>
            <a:ext cx="648072" cy="216024"/>
          </a:xfrm>
          <a:prstGeom prst="wedgeRectCallout">
            <a:avLst>
              <a:gd name="adj1" fmla="val 34694"/>
              <a:gd name="adj2" fmla="val -17554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výskyt</a:t>
            </a:r>
          </a:p>
        </p:txBody>
      </p:sp>
      <p:sp>
        <p:nvSpPr>
          <p:cNvPr id="17" name="Obdélníkový popisek 16"/>
          <p:cNvSpPr/>
          <p:nvPr/>
        </p:nvSpPr>
        <p:spPr bwMode="auto">
          <a:xfrm>
            <a:off x="2483768" y="2708920"/>
            <a:ext cx="1008112" cy="216024"/>
          </a:xfrm>
          <a:prstGeom prst="wedgeRectCallout">
            <a:avLst>
              <a:gd name="adj1" fmla="val -9380"/>
              <a:gd name="adj2" fmla="val -181509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typ hodnoty</a:t>
            </a:r>
          </a:p>
        </p:txBody>
      </p:sp>
      <p:sp>
        <p:nvSpPr>
          <p:cNvPr id="18" name="Levá složená závorka 17"/>
          <p:cNvSpPr/>
          <p:nvPr/>
        </p:nvSpPr>
        <p:spPr bwMode="auto">
          <a:xfrm rot="5400000" flipH="1">
            <a:off x="2843808" y="1988840"/>
            <a:ext cx="72008" cy="792088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9" name="Levá složená závorka 18"/>
          <p:cNvSpPr/>
          <p:nvPr/>
        </p:nvSpPr>
        <p:spPr bwMode="auto">
          <a:xfrm rot="5400000" flipH="1">
            <a:off x="4247964" y="1448780"/>
            <a:ext cx="72008" cy="1872208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0" name="Obdélníkový popisek 19"/>
          <p:cNvSpPr/>
          <p:nvPr/>
        </p:nvSpPr>
        <p:spPr bwMode="auto">
          <a:xfrm>
            <a:off x="3923928" y="2708920"/>
            <a:ext cx="1008112" cy="216024"/>
          </a:xfrm>
          <a:prstGeom prst="wedgeRectCallout">
            <a:avLst>
              <a:gd name="adj1" fmla="val -11935"/>
              <a:gd name="adj2" fmla="val -184491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akce událostí</a:t>
            </a:r>
          </a:p>
        </p:txBody>
      </p:sp>
      <p:sp>
        <p:nvSpPr>
          <p:cNvPr id="21" name="Levá složená závorka 20"/>
          <p:cNvSpPr/>
          <p:nvPr/>
        </p:nvSpPr>
        <p:spPr bwMode="auto">
          <a:xfrm rot="5400000" flipH="1">
            <a:off x="6192180" y="1520788"/>
            <a:ext cx="72008" cy="1728192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2" name="Obdélníkový popisek 21"/>
          <p:cNvSpPr/>
          <p:nvPr/>
        </p:nvSpPr>
        <p:spPr bwMode="auto">
          <a:xfrm>
            <a:off x="5724128" y="2708920"/>
            <a:ext cx="648072" cy="216024"/>
          </a:xfrm>
          <a:prstGeom prst="wedgeRectCallout">
            <a:avLst>
              <a:gd name="adj1" fmla="val 30720"/>
              <a:gd name="adj2" fmla="val -17852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volby</a:t>
            </a:r>
          </a:p>
        </p:txBody>
      </p:sp>
      <p:sp>
        <p:nvSpPr>
          <p:cNvPr id="23" name="Zaoblený obdélník 22"/>
          <p:cNvSpPr/>
          <p:nvPr/>
        </p:nvSpPr>
        <p:spPr bwMode="auto">
          <a:xfrm>
            <a:off x="827584" y="3573016"/>
            <a:ext cx="7560840" cy="432048"/>
          </a:xfrm>
          <a:prstGeom prst="roundRect">
            <a:avLst>
              <a:gd name="adj" fmla="val 2235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&lt;Žák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="var </a:t>
            </a:r>
            <a:r>
              <a:rPr lang="cs-CZ" sz="900" b="1" dirty="0" err="1" smtClean="0">
                <a:latin typeface="Consolas" pitchFamily="49" charset="0"/>
              </a:rPr>
              <a:t>int</a:t>
            </a:r>
            <a:r>
              <a:rPr lang="cs-CZ" sz="900" b="1" dirty="0" smtClean="0">
                <a:latin typeface="Consolas" pitchFamily="49" charset="0"/>
              </a:rPr>
              <a:t> i; </a:t>
            </a:r>
            <a:r>
              <a:rPr lang="cs-CZ" sz="900" b="1" dirty="0" err="1" smtClean="0">
                <a:latin typeface="Consolas" pitchFamily="49" charset="0"/>
              </a:rPr>
              <a:t>occurs</a:t>
            </a:r>
            <a:r>
              <a:rPr lang="cs-CZ" sz="900" b="1" dirty="0" smtClean="0">
                <a:latin typeface="Consolas" pitchFamily="49" charset="0"/>
              </a:rPr>
              <a:t> 1..; </a:t>
            </a:r>
            <a:r>
              <a:rPr lang="cs-CZ" sz="900" b="1" dirty="0" err="1" smtClean="0">
                <a:latin typeface="Consolas" pitchFamily="49" charset="0"/>
              </a:rPr>
              <a:t>finally</a:t>
            </a:r>
            <a:r>
              <a:rPr lang="cs-CZ" sz="900" b="1" dirty="0" smtClean="0">
                <a:latin typeface="Consolas" pitchFamily="49" charset="0"/>
              </a:rPr>
              <a:t> {i++; </a:t>
            </a:r>
            <a:r>
              <a:rPr lang="cs-CZ" sz="900" b="1" dirty="0" err="1" smtClean="0">
                <a:latin typeface="Consolas" pitchFamily="49" charset="0"/>
              </a:rPr>
              <a:t>outln</a:t>
            </a:r>
            <a:r>
              <a:rPr lang="cs-CZ" sz="900" b="1" dirty="0" smtClean="0">
                <a:latin typeface="Consolas" pitchFamily="49" charset="0"/>
              </a:rPr>
              <a:t>(i)}; </a:t>
            </a:r>
            <a:r>
              <a:rPr lang="cs-CZ" sz="900" b="1" dirty="0" err="1" smtClean="0">
                <a:latin typeface="Consolas" pitchFamily="49" charset="0"/>
              </a:rPr>
              <a:t>trimText</a:t>
            </a:r>
            <a:r>
              <a:rPr lang="cs-CZ" sz="900" b="1" dirty="0" smtClean="0">
                <a:latin typeface="Consolas" pitchFamily="49" charset="0"/>
              </a:rPr>
              <a:t>, </a:t>
            </a:r>
            <a:r>
              <a:rPr lang="cs-CZ" sz="900" b="1" dirty="0" err="1" smtClean="0">
                <a:latin typeface="Consolas" pitchFamily="49" charset="0"/>
              </a:rPr>
              <a:t>moreAttributes</a:t>
            </a:r>
            <a:r>
              <a:rPr lang="cs-CZ" sz="900" b="1" dirty="0" smtClean="0">
                <a:latin typeface="Consolas" pitchFamily="49" charset="0"/>
              </a:rPr>
              <a:t>; 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Osoba"</a:t>
            </a:r>
            <a:endParaRPr lang="cs-CZ" sz="900" b="1" dirty="0">
              <a:latin typeface="Consolas" pitchFamily="49" charset="0"/>
            </a:endParaRPr>
          </a:p>
        </p:txBody>
      </p:sp>
      <p:sp>
        <p:nvSpPr>
          <p:cNvPr id="24" name="TextovéPole 23"/>
          <p:cNvSpPr txBox="1"/>
          <p:nvPr/>
        </p:nvSpPr>
        <p:spPr>
          <a:xfrm>
            <a:off x="827584" y="3212976"/>
            <a:ext cx="16055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500" b="1" dirty="0" smtClean="0">
                <a:latin typeface="Calibri" pitchFamily="34" charset="0"/>
                <a:cs typeface="Calibri" pitchFamily="34" charset="0"/>
              </a:rPr>
              <a:t>Skript u elementu</a:t>
            </a:r>
            <a:endParaRPr lang="cs-CZ" sz="15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Levá složená závorka 24"/>
          <p:cNvSpPr/>
          <p:nvPr/>
        </p:nvSpPr>
        <p:spPr bwMode="auto">
          <a:xfrm rot="5400000" flipH="1">
            <a:off x="3059832" y="3573016"/>
            <a:ext cx="72008" cy="648072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26" name="Obdélníkový popisek 25"/>
          <p:cNvSpPr/>
          <p:nvPr/>
        </p:nvSpPr>
        <p:spPr bwMode="auto">
          <a:xfrm>
            <a:off x="2699792" y="4221088"/>
            <a:ext cx="648072" cy="216024"/>
          </a:xfrm>
          <a:prstGeom prst="wedgeRectCallout">
            <a:avLst>
              <a:gd name="adj1" fmla="val 11841"/>
              <a:gd name="adj2" fmla="val -18150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výskyt</a:t>
            </a:r>
          </a:p>
        </p:txBody>
      </p:sp>
      <p:sp>
        <p:nvSpPr>
          <p:cNvPr id="29" name="Levá složená závorka 28"/>
          <p:cNvSpPr/>
          <p:nvPr/>
        </p:nvSpPr>
        <p:spPr bwMode="auto">
          <a:xfrm rot="5400000" flipH="1">
            <a:off x="4211960" y="3140968"/>
            <a:ext cx="72008" cy="1512168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30" name="Obdélníkový popisek 29"/>
          <p:cNvSpPr/>
          <p:nvPr/>
        </p:nvSpPr>
        <p:spPr bwMode="auto">
          <a:xfrm>
            <a:off x="3995936" y="4221088"/>
            <a:ext cx="1008112" cy="216024"/>
          </a:xfrm>
          <a:prstGeom prst="wedgeRectCallout">
            <a:avLst>
              <a:gd name="adj1" fmla="val -23433"/>
              <a:gd name="adj2" fmla="val -18151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akce událostí</a:t>
            </a:r>
          </a:p>
        </p:txBody>
      </p:sp>
      <p:sp>
        <p:nvSpPr>
          <p:cNvPr id="31" name="Levá složená závorka 30"/>
          <p:cNvSpPr/>
          <p:nvPr/>
        </p:nvSpPr>
        <p:spPr bwMode="auto">
          <a:xfrm rot="5400000" flipH="1">
            <a:off x="5832140" y="3104964"/>
            <a:ext cx="72008" cy="1584176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32" name="Obdélníkový popisek 31"/>
          <p:cNvSpPr/>
          <p:nvPr/>
        </p:nvSpPr>
        <p:spPr bwMode="auto">
          <a:xfrm>
            <a:off x="5436096" y="4221088"/>
            <a:ext cx="648072" cy="216024"/>
          </a:xfrm>
          <a:prstGeom prst="wedgeRectCallout">
            <a:avLst>
              <a:gd name="adj1" fmla="val 18797"/>
              <a:gd name="adj2" fmla="val -17554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volby</a:t>
            </a:r>
          </a:p>
        </p:txBody>
      </p:sp>
      <p:sp>
        <p:nvSpPr>
          <p:cNvPr id="33" name="Obdélníkový popisek 32"/>
          <p:cNvSpPr/>
          <p:nvPr/>
        </p:nvSpPr>
        <p:spPr bwMode="auto">
          <a:xfrm>
            <a:off x="1547664" y="4221088"/>
            <a:ext cx="864096" cy="216024"/>
          </a:xfrm>
          <a:prstGeom prst="wedgeRectCallout">
            <a:avLst>
              <a:gd name="adj1" fmla="val 42891"/>
              <a:gd name="adj2" fmla="val -178528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deklarace</a:t>
            </a:r>
          </a:p>
        </p:txBody>
      </p:sp>
      <p:sp>
        <p:nvSpPr>
          <p:cNvPr id="34" name="Levá složená závorka 33"/>
          <p:cNvSpPr/>
          <p:nvPr/>
        </p:nvSpPr>
        <p:spPr bwMode="auto">
          <a:xfrm rot="5400000" flipH="1">
            <a:off x="2303748" y="3609021"/>
            <a:ext cx="72007" cy="576064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36" name="Levá složená závorka 35"/>
          <p:cNvSpPr/>
          <p:nvPr/>
        </p:nvSpPr>
        <p:spPr bwMode="auto">
          <a:xfrm rot="5400000" flipH="1">
            <a:off x="6984268" y="3609020"/>
            <a:ext cx="72008" cy="576064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37" name="Obdélníkový popisek 36"/>
          <p:cNvSpPr/>
          <p:nvPr/>
        </p:nvSpPr>
        <p:spPr bwMode="auto">
          <a:xfrm>
            <a:off x="6732240" y="4221088"/>
            <a:ext cx="576064" cy="216024"/>
          </a:xfrm>
          <a:prstGeom prst="wedgeRectCallout">
            <a:avLst>
              <a:gd name="adj1" fmla="val 2470"/>
              <a:gd name="adj2" fmla="val -181509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cs-CZ" sz="1100" b="1" dirty="0" smtClean="0"/>
              <a:t>odkaz</a:t>
            </a:r>
          </a:p>
        </p:txBody>
      </p:sp>
      <p:sp>
        <p:nvSpPr>
          <p:cNvPr id="39" name="Obdélník 38"/>
          <p:cNvSpPr/>
          <p:nvPr/>
        </p:nvSpPr>
        <p:spPr bwMode="auto">
          <a:xfrm>
            <a:off x="3707904" y="4581128"/>
            <a:ext cx="1584176" cy="158417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cs-CZ" sz="900" b="1" dirty="0" smtClean="0"/>
              <a:t>přiřazovací příkaz</a:t>
            </a:r>
          </a:p>
          <a:p>
            <a:pPr eaLnBrk="1" hangingPunct="1"/>
            <a:r>
              <a:rPr lang="cs-CZ" sz="900" b="1" dirty="0" smtClean="0"/>
              <a:t>volání metody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break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continue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return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"do"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for</a:t>
            </a:r>
            <a:r>
              <a:rPr lang="cs-CZ" sz="900" b="1" dirty="0" smtClean="0"/>
              <a:t>" 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while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if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switch</a:t>
            </a:r>
            <a:r>
              <a:rPr lang="cs-CZ" sz="900" b="1" dirty="0" smtClean="0"/>
              <a:t>"</a:t>
            </a:r>
          </a:p>
          <a:p>
            <a:pPr eaLnBrk="1" hangingPunct="1"/>
            <a:r>
              <a:rPr lang="cs-CZ" sz="900" b="1" dirty="0" smtClean="0"/>
              <a:t>příkaz "</a:t>
            </a:r>
            <a:r>
              <a:rPr lang="cs-CZ" sz="900" b="1" dirty="0" err="1" smtClean="0"/>
              <a:t>try</a:t>
            </a:r>
            <a:r>
              <a:rPr lang="cs-CZ" sz="900" b="1" dirty="0" smtClean="0"/>
              <a:t>" a "</a:t>
            </a:r>
            <a:r>
              <a:rPr lang="cs-CZ" sz="900" b="1" dirty="0" err="1" smtClean="0"/>
              <a:t>catch</a:t>
            </a:r>
            <a:r>
              <a:rPr lang="cs-CZ" sz="900" b="1" dirty="0" smtClean="0"/>
              <a:t>"</a:t>
            </a:r>
          </a:p>
        </p:txBody>
      </p:sp>
      <p:cxnSp>
        <p:nvCxnSpPr>
          <p:cNvPr id="41" name="Přímá spojovací čára 40"/>
          <p:cNvCxnSpPr/>
          <p:nvPr/>
        </p:nvCxnSpPr>
        <p:spPr bwMode="auto">
          <a:xfrm flipH="1">
            <a:off x="3707904" y="2924944"/>
            <a:ext cx="288032" cy="165618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Přímá spojovací čára 42"/>
          <p:cNvCxnSpPr/>
          <p:nvPr/>
        </p:nvCxnSpPr>
        <p:spPr bwMode="auto">
          <a:xfrm flipH="1">
            <a:off x="3707904" y="4437112"/>
            <a:ext cx="360040" cy="14401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Čárový popisek 2 34"/>
          <p:cNvSpPr/>
          <p:nvPr/>
        </p:nvSpPr>
        <p:spPr bwMode="auto">
          <a:xfrm>
            <a:off x="3851920" y="1628800"/>
            <a:ext cx="1224136" cy="216024"/>
          </a:xfrm>
          <a:prstGeom prst="borderCallout2">
            <a:avLst>
              <a:gd name="adj1" fmla="val 18750"/>
              <a:gd name="adj2" fmla="val -3968"/>
              <a:gd name="adj3" fmla="val 18750"/>
              <a:gd name="adj4" fmla="val -16667"/>
              <a:gd name="adj5" fmla="val 279195"/>
              <a:gd name="adj6" fmla="val -8499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dirty="0" smtClean="0"/>
              <a:t>Může být externí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38" name="Čárový popisek 2 37"/>
          <p:cNvSpPr/>
          <p:nvPr/>
        </p:nvSpPr>
        <p:spPr bwMode="auto">
          <a:xfrm>
            <a:off x="5796136" y="5013176"/>
            <a:ext cx="1224136" cy="216024"/>
          </a:xfrm>
          <a:prstGeom prst="borderCallout2">
            <a:avLst>
              <a:gd name="adj1" fmla="val 18750"/>
              <a:gd name="adj2" fmla="val -3968"/>
              <a:gd name="adj3" fmla="val 18750"/>
              <a:gd name="adj4" fmla="val -16667"/>
              <a:gd name="adj5" fmla="val -84474"/>
              <a:gd name="adj6" fmla="val -100771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dirty="0" smtClean="0"/>
              <a:t>Může být externí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Zaoblený obdélník 174"/>
          <p:cNvSpPr/>
          <p:nvPr/>
        </p:nvSpPr>
        <p:spPr bwMode="auto">
          <a:xfrm>
            <a:off x="3995936" y="1700808"/>
            <a:ext cx="2520280" cy="4392488"/>
          </a:xfrm>
          <a:prstGeom prst="roundRect">
            <a:avLst>
              <a:gd name="adj" fmla="val 2814"/>
            </a:avLst>
          </a:prstGeom>
          <a:gradFill>
            <a:gsLst>
              <a:gs pos="0">
                <a:srgbClr val="BEFEE6"/>
              </a:gs>
              <a:gs pos="50000">
                <a:srgbClr val="C8DCDE"/>
              </a:gs>
              <a:gs pos="100000">
                <a:srgbClr val="9BD8D9"/>
              </a:gs>
            </a:gsLst>
            <a:lin ang="5400000" scaled="0"/>
          </a:gra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b"/>
          <a:lstStyle/>
          <a:p>
            <a:pPr algn="ctr">
              <a:defRPr/>
            </a:pPr>
            <a:r>
              <a:rPr lang="cs-CZ" sz="2800" b="1" dirty="0" smtClean="0">
                <a:latin typeface="Consolas" pitchFamily="49" charset="0"/>
              </a:rPr>
              <a:t>Program</a:t>
            </a:r>
            <a:endParaRPr lang="cs-CZ" sz="1800" b="1" dirty="0">
              <a:latin typeface="Consolas" pitchFamily="49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08720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</a:t>
            </a:r>
            <a:r>
              <a:rPr lang="cs-CZ" sz="20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– externí metody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21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14" name="Rectangle 3"/>
          <p:cNvSpPr txBox="1">
            <a:spLocks noChangeArrowheads="1"/>
          </p:cNvSpPr>
          <p:nvPr/>
        </p:nvSpPr>
        <p:spPr bwMode="auto">
          <a:xfrm>
            <a:off x="755650" y="1611313"/>
            <a:ext cx="8137525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36000" bIns="36000"/>
          <a:lstStyle/>
          <a:p>
            <a:pPr algn="just" eaLnBrk="1" hangingPunct="1">
              <a:spcBef>
                <a:spcPts val="2400"/>
              </a:spcBef>
            </a:pPr>
            <a:endParaRPr lang="cs-CZ" altLang="cs-CZ" sz="1600" b="1" dirty="0" smtClean="0">
              <a:solidFill>
                <a:srgbClr val="CA0383"/>
              </a:solidFill>
              <a:latin typeface="Calibri" pitchFamily="34" charset="0"/>
            </a:endParaRPr>
          </a:p>
          <a:p>
            <a:pPr marL="449263" lvl="1" indent="-266700" algn="just" eaLnBrk="1" hangingPunct="1">
              <a:spcBef>
                <a:spcPts val="600"/>
              </a:spcBef>
            </a:pPr>
            <a:endParaRPr lang="cs-CZ" altLang="cs-CZ" sz="1400" b="1" i="1" dirty="0">
              <a:latin typeface="Calibri" pitchFamily="34" charset="0"/>
            </a:endParaRPr>
          </a:p>
        </p:txBody>
      </p:sp>
      <p:cxnSp>
        <p:nvCxnSpPr>
          <p:cNvPr id="132" name="Přímá spojovací šipka 131"/>
          <p:cNvCxnSpPr/>
          <p:nvPr/>
        </p:nvCxnSpPr>
        <p:spPr bwMode="auto">
          <a:xfrm>
            <a:off x="3707904" y="4077072"/>
            <a:ext cx="648072" cy="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8" name="Zaoblený obdélník 147"/>
          <p:cNvSpPr/>
          <p:nvPr/>
        </p:nvSpPr>
        <p:spPr bwMode="auto">
          <a:xfrm>
            <a:off x="1331640" y="3284984"/>
            <a:ext cx="2376264" cy="1992184"/>
          </a:xfrm>
          <a:prstGeom prst="roundRect">
            <a:avLst>
              <a:gd name="adj" fmla="val 4217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&lt;?xml </a:t>
            </a:r>
            <a:r>
              <a:rPr lang="cs-CZ" sz="600" b="1" dirty="0" err="1" smtClean="0">
                <a:latin typeface="Consolas" pitchFamily="49" charset="0"/>
              </a:rPr>
              <a:t>version</a:t>
            </a:r>
            <a:r>
              <a:rPr lang="cs-CZ" sz="600" b="1" dirty="0" smtClean="0">
                <a:latin typeface="Consolas" pitchFamily="49" charset="0"/>
              </a:rPr>
              <a:t>="1.0" </a:t>
            </a:r>
            <a:r>
              <a:rPr lang="cs-CZ" sz="600" b="1" dirty="0" err="1" smtClean="0">
                <a:latin typeface="Consolas" pitchFamily="49" charset="0"/>
              </a:rPr>
              <a:t>encoding</a:t>
            </a:r>
            <a:r>
              <a:rPr lang="cs-CZ" sz="600" b="1" dirty="0" smtClean="0">
                <a:latin typeface="Consolas" pitchFamily="49" charset="0"/>
              </a:rPr>
              <a:t>="UTF-8" ?&gt;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&lt;!DOCTYPE Rodina SYSTEM "Rodina.</a:t>
            </a:r>
            <a:r>
              <a:rPr lang="cs-CZ" sz="600" b="1" dirty="0" err="1" smtClean="0">
                <a:latin typeface="Consolas" pitchFamily="49" charset="0"/>
              </a:rPr>
              <a:t>dtd</a:t>
            </a:r>
            <a:r>
              <a:rPr lang="cs-CZ" sz="6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&lt;!-- Popis rodiny --&gt;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&lt;Rodina&gt;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&lt;Otec Jméno="Jan Novák" Narození="3.6.1974"&gt;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OSVČ, konzultant, 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&lt;/Otec&gt;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&lt;Matka Jméno="Eva Nováková" Narození="12.2.1976"&gt;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zaměstnanec, zdravotní sestra, nekuřák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&lt;Dcera Jméno="Eva Nováková" Narození="12.2.2001"&gt;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všeobecné gymnázium, nekuřák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&lt;/Dcera&gt;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&lt;Syn Jméno="Jan Novák"&gt;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Jan tvrdí, že 3 &amp;</a:t>
            </a:r>
            <a:r>
              <a:rPr lang="cs-CZ" sz="600" b="1" dirty="0" err="1" smtClean="0">
                <a:latin typeface="Consolas" pitchFamily="49" charset="0"/>
              </a:rPr>
              <a:t>lt</a:t>
            </a:r>
            <a:r>
              <a:rPr lang="cs-CZ" sz="600" b="1" dirty="0" smtClean="0">
                <a:latin typeface="Consolas" pitchFamily="49" charset="0"/>
              </a:rPr>
              <a:t> 4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&lt;Syn Jméno="Pavel Novák"&gt;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  &lt;![CDATA[ Pavel tvrdí, že 5 &gt; 4 ]]&gt;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  &lt;/Syn&gt;</a:t>
            </a:r>
          </a:p>
          <a:p>
            <a:pPr>
              <a:defRPr/>
            </a:pPr>
            <a:r>
              <a:rPr lang="cs-CZ" sz="600" b="1" dirty="0" smtClean="0">
                <a:latin typeface="Consolas" pitchFamily="49" charset="0"/>
              </a:rPr>
              <a:t>&lt;/Rodina&gt;</a:t>
            </a:r>
          </a:p>
          <a:p>
            <a:pPr>
              <a:defRPr/>
            </a:pPr>
            <a:endParaRPr lang="cs-CZ" sz="700" b="1" dirty="0">
              <a:latin typeface="Consolas" pitchFamily="49" charset="0"/>
            </a:endParaRPr>
          </a:p>
        </p:txBody>
      </p:sp>
      <p:cxnSp>
        <p:nvCxnSpPr>
          <p:cNvPr id="138" name="Přímá spojovací šipka 137"/>
          <p:cNvCxnSpPr/>
          <p:nvPr/>
        </p:nvCxnSpPr>
        <p:spPr bwMode="auto">
          <a:xfrm>
            <a:off x="5292080" y="2924944"/>
            <a:ext cx="0" cy="864096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30" name="Zaoblený obdélník 29"/>
          <p:cNvSpPr/>
          <p:nvPr/>
        </p:nvSpPr>
        <p:spPr bwMode="auto">
          <a:xfrm>
            <a:off x="4788024" y="4941168"/>
            <a:ext cx="864096" cy="4320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Přímá spojovací šipka 30"/>
          <p:cNvCxnSpPr/>
          <p:nvPr/>
        </p:nvCxnSpPr>
        <p:spPr bwMode="auto">
          <a:xfrm>
            <a:off x="5220072" y="4365104"/>
            <a:ext cx="0" cy="57606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37" name="Zaoblený obdélník 36"/>
          <p:cNvSpPr/>
          <p:nvPr/>
        </p:nvSpPr>
        <p:spPr bwMode="auto">
          <a:xfrm>
            <a:off x="4355976" y="3789040"/>
            <a:ext cx="1800200" cy="792088"/>
          </a:xfrm>
          <a:prstGeom prst="roundRect">
            <a:avLst>
              <a:gd name="adj" fmla="val 2814"/>
            </a:avLst>
          </a:prstGeom>
          <a:solidFill>
            <a:srgbClr val="FFA3A3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err="1" smtClean="0">
                <a:latin typeface="Consolas" pitchFamily="49" charset="0"/>
              </a:rPr>
              <a:t>Xdef</a:t>
            </a:r>
            <a:r>
              <a:rPr lang="cs-CZ" sz="2000" b="1" dirty="0" smtClean="0">
                <a:latin typeface="Consolas" pitchFamily="49" charset="0"/>
              </a:rPr>
              <a:t>-Procesor</a:t>
            </a:r>
            <a:endParaRPr lang="cs-CZ" sz="1400" b="1" dirty="0">
              <a:latin typeface="Consolas" pitchFamily="49" charset="0"/>
            </a:endParaRPr>
          </a:p>
        </p:txBody>
      </p:sp>
      <p:sp>
        <p:nvSpPr>
          <p:cNvPr id="20" name="Zaoblený obdélník 19"/>
          <p:cNvSpPr/>
          <p:nvPr/>
        </p:nvSpPr>
        <p:spPr bwMode="auto">
          <a:xfrm>
            <a:off x="5796136" y="3284984"/>
            <a:ext cx="576064" cy="288032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r="18900000" sx="16000" sy="16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800" b="1" dirty="0" smtClean="0">
                <a:latin typeface="Consolas" pitchFamily="49" charset="0"/>
              </a:rPr>
              <a:t>Moje metoda</a:t>
            </a:r>
            <a:endParaRPr lang="cs-CZ" sz="800" b="1" dirty="0">
              <a:latin typeface="Consolas" pitchFamily="49" charset="0"/>
            </a:endParaRPr>
          </a:p>
        </p:txBody>
      </p:sp>
      <p:sp>
        <p:nvSpPr>
          <p:cNvPr id="27" name="Zaoblený obdélník 26"/>
          <p:cNvSpPr/>
          <p:nvPr/>
        </p:nvSpPr>
        <p:spPr bwMode="auto">
          <a:xfrm>
            <a:off x="5724128" y="3356992"/>
            <a:ext cx="576064" cy="288032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r="18900000" sx="16000" sy="16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800" b="1" dirty="0" smtClean="0">
                <a:latin typeface="Consolas" pitchFamily="49" charset="0"/>
              </a:rPr>
              <a:t>Moje metoda</a:t>
            </a:r>
            <a:endParaRPr lang="cs-CZ" sz="800" b="1" dirty="0">
              <a:latin typeface="Consolas" pitchFamily="49" charset="0"/>
            </a:endParaRPr>
          </a:p>
        </p:txBody>
      </p:sp>
      <p:sp>
        <p:nvSpPr>
          <p:cNvPr id="28" name="Zaoblený obdélník 27"/>
          <p:cNvSpPr/>
          <p:nvPr/>
        </p:nvSpPr>
        <p:spPr bwMode="auto">
          <a:xfrm>
            <a:off x="5652120" y="3429000"/>
            <a:ext cx="576064" cy="288032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222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r="18900000" sx="16000" sy="16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800" b="1" dirty="0" smtClean="0">
                <a:latin typeface="Consolas" pitchFamily="49" charset="0"/>
              </a:rPr>
              <a:t>metoda tab</a:t>
            </a:r>
            <a:endParaRPr lang="cs-CZ" sz="800" b="1" dirty="0">
              <a:latin typeface="Consolas" pitchFamily="49" charset="0"/>
            </a:endParaRPr>
          </a:p>
        </p:txBody>
      </p:sp>
      <p:cxnSp>
        <p:nvCxnSpPr>
          <p:cNvPr id="33" name="Tvar 32"/>
          <p:cNvCxnSpPr>
            <a:endCxn id="28" idx="1"/>
          </p:cNvCxnSpPr>
          <p:nvPr/>
        </p:nvCxnSpPr>
        <p:spPr bwMode="auto">
          <a:xfrm rot="5400000" flipH="1" flipV="1">
            <a:off x="5472100" y="3609020"/>
            <a:ext cx="216024" cy="144016"/>
          </a:xfrm>
          <a:prstGeom prst="bentConnector2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cxnSp>
        <p:nvCxnSpPr>
          <p:cNvPr id="34" name="Přímá spojovací šipka 33"/>
          <p:cNvCxnSpPr/>
          <p:nvPr/>
        </p:nvCxnSpPr>
        <p:spPr bwMode="auto">
          <a:xfrm>
            <a:off x="6012160" y="2564904"/>
            <a:ext cx="0" cy="864096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3" name="Zaoblený obdélník 142"/>
          <p:cNvSpPr/>
          <p:nvPr/>
        </p:nvSpPr>
        <p:spPr bwMode="auto">
          <a:xfrm>
            <a:off x="4355976" y="2132856"/>
            <a:ext cx="1872208" cy="792088"/>
          </a:xfrm>
          <a:prstGeom prst="roundRect">
            <a:avLst>
              <a:gd name="adj" fmla="val 6866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800" b="1" dirty="0" smtClean="0">
                <a:latin typeface="Consolas" pitchFamily="49" charset="0"/>
              </a:rPr>
              <a:t>X-definice</a:t>
            </a:r>
          </a:p>
        </p:txBody>
      </p:sp>
      <p:sp>
        <p:nvSpPr>
          <p:cNvPr id="35" name="Zaoblený obdélník 34"/>
          <p:cNvSpPr/>
          <p:nvPr/>
        </p:nvSpPr>
        <p:spPr bwMode="auto">
          <a:xfrm>
            <a:off x="899592" y="1988840"/>
            <a:ext cx="2952328" cy="576064"/>
          </a:xfrm>
          <a:prstGeom prst="roundRect">
            <a:avLst>
              <a:gd name="adj" fmla="val 6209"/>
            </a:avLst>
          </a:prstGeom>
          <a:solidFill>
            <a:srgbClr val="FFFFCC"/>
          </a:solidFill>
          <a:ln w="12700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...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&lt;Osoba Jméno="required tab('T_OSOBA', 'JMENO')"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...</a:t>
            </a:r>
            <a:endParaRPr lang="cs-CZ" sz="800" b="1" dirty="0">
              <a:latin typeface="Consolas" pitchFamily="49" charset="0"/>
            </a:endParaRPr>
          </a:p>
        </p:txBody>
      </p:sp>
      <p:grpSp>
        <p:nvGrpSpPr>
          <p:cNvPr id="36" name="Group 103"/>
          <p:cNvGrpSpPr>
            <a:grpSpLocks/>
          </p:cNvGrpSpPr>
          <p:nvPr/>
        </p:nvGrpSpPr>
        <p:grpSpPr bwMode="auto">
          <a:xfrm>
            <a:off x="6876256" y="3337247"/>
            <a:ext cx="1440161" cy="432395"/>
            <a:chOff x="181" y="2619"/>
            <a:chExt cx="943" cy="943"/>
          </a:xfrm>
        </p:grpSpPr>
        <p:grpSp>
          <p:nvGrpSpPr>
            <p:cNvPr id="38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40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 sz="1400"/>
              </a:p>
            </p:txBody>
          </p:sp>
          <p:sp>
            <p:nvSpPr>
              <p:cNvPr id="41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 sz="1400"/>
              </a:p>
            </p:txBody>
          </p:sp>
          <p:sp>
            <p:nvSpPr>
              <p:cNvPr id="42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 sz="1400"/>
              </a:p>
            </p:txBody>
          </p:sp>
        </p:grpSp>
        <p:sp>
          <p:nvSpPr>
            <p:cNvPr id="39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 sz="1400"/>
            </a:p>
          </p:txBody>
        </p:sp>
      </p:grpSp>
      <p:sp>
        <p:nvSpPr>
          <p:cNvPr id="43" name="TextovéPole 41"/>
          <p:cNvSpPr txBox="1">
            <a:spLocks noChangeArrowheads="1"/>
          </p:cNvSpPr>
          <p:nvPr/>
        </p:nvSpPr>
        <p:spPr bwMode="auto">
          <a:xfrm>
            <a:off x="7092280" y="3481263"/>
            <a:ext cx="10081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cs-CZ" sz="14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14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4" name="Přímá spojovací šipka 43"/>
          <p:cNvCxnSpPr/>
          <p:nvPr/>
        </p:nvCxnSpPr>
        <p:spPr bwMode="auto">
          <a:xfrm flipH="1">
            <a:off x="6228184" y="3573016"/>
            <a:ext cx="648072" cy="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stealth" w="med" len="med"/>
            <a:tailEnd type="stealth"/>
          </a:ln>
          <a:effectLst/>
        </p:spPr>
      </p:cxnSp>
      <p:cxnSp>
        <p:nvCxnSpPr>
          <p:cNvPr id="46" name="Přímá spojovací šipka 45"/>
          <p:cNvCxnSpPr>
            <a:endCxn id="143" idx="1"/>
          </p:cNvCxnSpPr>
          <p:nvPr/>
        </p:nvCxnSpPr>
        <p:spPr bwMode="auto">
          <a:xfrm flipV="1">
            <a:off x="3851920" y="2528900"/>
            <a:ext cx="504056" cy="3600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/>
          </a:ln>
          <a:effectLst/>
        </p:spPr>
      </p:cxnSp>
      <p:cxnSp>
        <p:nvCxnSpPr>
          <p:cNvPr id="50" name="Přímá spojovací šipka 49"/>
          <p:cNvCxnSpPr/>
          <p:nvPr/>
        </p:nvCxnSpPr>
        <p:spPr bwMode="auto">
          <a:xfrm>
            <a:off x="3851920" y="1988840"/>
            <a:ext cx="504056" cy="432048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/>
          </a:ln>
          <a:effectLst/>
        </p:spPr>
      </p:cxnSp>
      <p:sp>
        <p:nvSpPr>
          <p:cNvPr id="54" name="Čárový popisek 2 53"/>
          <p:cNvSpPr/>
          <p:nvPr/>
        </p:nvSpPr>
        <p:spPr bwMode="auto">
          <a:xfrm>
            <a:off x="2699792" y="1628800"/>
            <a:ext cx="1224136" cy="216024"/>
          </a:xfrm>
          <a:prstGeom prst="borderCallout2">
            <a:avLst>
              <a:gd name="adj1" fmla="val 18750"/>
              <a:gd name="adj2" fmla="val -3968"/>
              <a:gd name="adj3" fmla="val 18750"/>
              <a:gd name="adj4" fmla="val -16667"/>
              <a:gd name="adj5" fmla="val 288137"/>
              <a:gd name="adj6" fmla="val -31334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cs-CZ" sz="1100" b="1" dirty="0" smtClean="0"/>
              <a:t>Externí metoda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37" grpId="0" animBg="1"/>
      <p:bldP spid="20" grpId="0" animBg="1"/>
      <p:bldP spid="27" grpId="0" animBg="1"/>
      <p:bldP spid="28" grpId="0" animBg="1"/>
      <p:bldP spid="14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</a:t>
            </a:r>
            <a:r>
              <a:rPr lang="cs-CZ" sz="20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– kolekce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22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683568" y="1628800"/>
            <a:ext cx="7776864" cy="3744416"/>
          </a:xfrm>
          <a:prstGeom prst="roundRect">
            <a:avLst>
              <a:gd name="adj" fmla="val 15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&lt;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collection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 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xmlns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="http://www.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syntea.cz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xdef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/3.1"&gt;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 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="Příklad" 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root</a:t>
            </a:r>
            <a:r>
              <a:rPr lang="cs-CZ" sz="900" b="1" dirty="0" smtClean="0">
                <a:latin typeface="Consolas" pitchFamily="49" charset="0"/>
              </a:rPr>
              <a:t>="</a:t>
            </a:r>
            <a:r>
              <a:rPr lang="cs-CZ" sz="900" b="1" dirty="0" err="1" smtClean="0">
                <a:latin typeface="Consolas" pitchFamily="49" charset="0"/>
              </a:rPr>
              <a:t>NabídkaZájezdu</a:t>
            </a:r>
            <a:r>
              <a:rPr lang="cs-CZ" sz="900" b="1" dirty="0" smtClean="0">
                <a:latin typeface="Consolas" pitchFamily="49" charset="0"/>
              </a:rPr>
              <a:t>" 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</a:t>
            </a:r>
            <a:r>
              <a:rPr lang="cs-CZ" sz="900" b="1" dirty="0" err="1" smtClean="0">
                <a:latin typeface="Consolas" pitchFamily="49" charset="0"/>
              </a:rPr>
              <a:t>NabídkaZájezdu</a:t>
            </a:r>
            <a:r>
              <a:rPr lang="cs-CZ" sz="900" b="1" dirty="0" smtClean="0">
                <a:latin typeface="Consolas" pitchFamily="49" charset="0"/>
              </a:rPr>
              <a:t>&gt;  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&lt;Objednatel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="1; 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Subjekt#Subjekt</a:t>
            </a:r>
            <a:r>
              <a:rPr lang="cs-CZ" sz="9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&lt;Hotel Název="string()" Lokalita="string()"/&gt;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&lt;Termín Příjezd="</a:t>
            </a:r>
            <a:r>
              <a:rPr lang="cs-CZ" sz="900" b="1" dirty="0" err="1" smtClean="0">
                <a:latin typeface="Consolas" pitchFamily="49" charset="0"/>
              </a:rPr>
              <a:t>xdatetime</a:t>
            </a:r>
            <a:r>
              <a:rPr lang="cs-CZ" sz="900" b="1" dirty="0" smtClean="0">
                <a:latin typeface="Consolas" pitchFamily="49" charset="0"/>
              </a:rPr>
              <a:t>('</a:t>
            </a:r>
            <a:r>
              <a:rPr lang="cs-CZ" sz="900" b="1" dirty="0" err="1" smtClean="0">
                <a:latin typeface="Consolas" pitchFamily="49" charset="0"/>
              </a:rPr>
              <a:t>d.M.yyyy</a:t>
            </a:r>
            <a:r>
              <a:rPr lang="cs-CZ" sz="900" b="1" dirty="0" smtClean="0">
                <a:latin typeface="Consolas" pitchFamily="49" charset="0"/>
              </a:rPr>
              <a:t>')" Odjezd="</a:t>
            </a:r>
            <a:r>
              <a:rPr lang="cs-CZ" sz="900" b="1" dirty="0" err="1" smtClean="0">
                <a:latin typeface="Consolas" pitchFamily="49" charset="0"/>
              </a:rPr>
              <a:t>xdatetime</a:t>
            </a:r>
            <a:r>
              <a:rPr lang="cs-CZ" sz="900" b="1" dirty="0" smtClean="0">
                <a:latin typeface="Consolas" pitchFamily="49" charset="0"/>
              </a:rPr>
              <a:t>('</a:t>
            </a:r>
            <a:r>
              <a:rPr lang="cs-CZ" sz="900" b="1" dirty="0" err="1" smtClean="0">
                <a:latin typeface="Consolas" pitchFamily="49" charset="0"/>
              </a:rPr>
              <a:t>d.M.yyyy</a:t>
            </a:r>
            <a:r>
              <a:rPr lang="cs-CZ" sz="900" b="1" dirty="0" smtClean="0">
                <a:latin typeface="Consolas" pitchFamily="49" charset="0"/>
              </a:rPr>
              <a:t>')"/&gt;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&lt;Cestující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="1..; 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Osoba"/&gt;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  </a:t>
            </a: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mixed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&lt;Kolo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="*" Typ="</a:t>
            </a:r>
            <a:r>
              <a:rPr lang="cs-CZ" sz="900" b="1" dirty="0" err="1" smtClean="0">
                <a:latin typeface="Consolas" pitchFamily="49" charset="0"/>
              </a:rPr>
              <a:t>enum</a:t>
            </a:r>
            <a:r>
              <a:rPr lang="cs-CZ" sz="900" b="1" dirty="0" smtClean="0">
                <a:latin typeface="Consolas" pitchFamily="49" charset="0"/>
              </a:rPr>
              <a:t>('Pánské','Dámské','Dětské')"/&gt;  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&lt;Loďka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="0..2" Typ="</a:t>
            </a:r>
            <a:r>
              <a:rPr lang="cs-CZ" sz="900" b="1" dirty="0" err="1" smtClean="0">
                <a:latin typeface="Consolas" pitchFamily="49" charset="0"/>
              </a:rPr>
              <a:t>enum</a:t>
            </a:r>
            <a:r>
              <a:rPr lang="cs-CZ" sz="900" b="1" dirty="0" smtClean="0">
                <a:latin typeface="Consolas" pitchFamily="49" charset="0"/>
              </a:rPr>
              <a:t>('2 osoby','4 osoby')"/&gt;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&lt;</a:t>
            </a:r>
            <a:r>
              <a:rPr lang="cs-CZ" sz="900" b="1" dirty="0" err="1" smtClean="0">
                <a:latin typeface="Consolas" pitchFamily="49" charset="0"/>
              </a:rPr>
              <a:t>LetBalonem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</a:t>
            </a:r>
            <a:r>
              <a:rPr lang="cs-CZ" sz="900" b="1" dirty="0" err="1" smtClean="0">
                <a:latin typeface="Consolas" pitchFamily="49" charset="0"/>
              </a:rPr>
              <a:t>NabídkaZájezdu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 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="Subjekt"&gt;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&lt;Subjekt&gt;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choice</a:t>
            </a:r>
            <a:r>
              <a:rPr lang="cs-CZ" sz="900" b="1" dirty="0" smtClean="0">
                <a:latin typeface="Consolas" pitchFamily="49" charset="0"/>
              </a:rPr>
              <a:t>&gt;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&lt;Osoba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Osoba"/&gt;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  &lt;Firma Název="string()" IČO="</a:t>
            </a:r>
            <a:r>
              <a:rPr lang="cs-CZ" sz="900" b="1" dirty="0" err="1" smtClean="0">
                <a:latin typeface="Consolas" pitchFamily="49" charset="0"/>
              </a:rPr>
              <a:t>int</a:t>
            </a:r>
            <a:r>
              <a:rPr lang="cs-CZ" sz="900" b="1" dirty="0" smtClean="0">
                <a:latin typeface="Consolas" pitchFamily="49" charset="0"/>
              </a:rPr>
              <a:t>()"/&gt;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&lt;/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choice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&lt;/Subjekt&gt;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&lt;Osoba Jméno="string()" Příjmení="string()" </a:t>
            </a:r>
            <a:r>
              <a:rPr lang="cs-CZ" sz="900" b="1" dirty="0" err="1" smtClean="0">
                <a:latin typeface="Consolas" pitchFamily="49" charset="0"/>
              </a:rPr>
              <a:t>DatumNarození</a:t>
            </a:r>
            <a:r>
              <a:rPr lang="cs-CZ" sz="900" b="1" dirty="0" smtClean="0">
                <a:latin typeface="Consolas" pitchFamily="49" charset="0"/>
              </a:rPr>
              <a:t>="</a:t>
            </a:r>
            <a:r>
              <a:rPr lang="cs-CZ" sz="900" b="1" dirty="0" err="1" smtClean="0">
                <a:latin typeface="Consolas" pitchFamily="49" charset="0"/>
              </a:rPr>
              <a:t>xdatetime</a:t>
            </a:r>
            <a:r>
              <a:rPr lang="cs-CZ" sz="900" b="1" dirty="0" smtClean="0">
                <a:latin typeface="Consolas" pitchFamily="49" charset="0"/>
              </a:rPr>
              <a:t>('</a:t>
            </a:r>
            <a:r>
              <a:rPr lang="cs-CZ" sz="900" b="1" dirty="0" err="1" smtClean="0">
                <a:latin typeface="Consolas" pitchFamily="49" charset="0"/>
              </a:rPr>
              <a:t>d.M.yyyy</a:t>
            </a:r>
            <a:r>
              <a:rPr lang="cs-CZ" sz="900" b="1" dirty="0" smtClean="0">
                <a:latin typeface="Consolas" pitchFamily="49" charset="0"/>
              </a:rPr>
              <a:t>')"/&gt;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&lt;/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Collection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  <p:sp>
        <p:nvSpPr>
          <p:cNvPr id="9" name="Čárový popisek 2 8"/>
          <p:cNvSpPr/>
          <p:nvPr/>
        </p:nvSpPr>
        <p:spPr bwMode="auto">
          <a:xfrm>
            <a:off x="4860032" y="1844824"/>
            <a:ext cx="936104" cy="21602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80442"/>
              <a:gd name="adj6" fmla="val -113193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XDPosition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1" name="Čárový popisek 2 10"/>
          <p:cNvSpPr/>
          <p:nvPr/>
        </p:nvSpPr>
        <p:spPr bwMode="auto">
          <a:xfrm>
            <a:off x="3923928" y="3789040"/>
            <a:ext cx="936104" cy="21602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80442"/>
              <a:gd name="adj6" fmla="val -113193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XDPosition</a:t>
            </a:r>
            <a:endParaRPr kumimoji="0" lang="cs-CZ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</a:t>
            </a:r>
            <a:r>
              <a:rPr lang="cs-CZ" sz="20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– deklarace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23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683568" y="1628800"/>
            <a:ext cx="7776864" cy="4464496"/>
          </a:xfrm>
          <a:prstGeom prst="roundRect">
            <a:avLst>
              <a:gd name="adj" fmla="val 15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 </a:t>
            </a:r>
            <a:r>
              <a:rPr lang="cs-CZ" sz="900" b="1" dirty="0" err="1" smtClean="0">
                <a:latin typeface="Consolas" pitchFamily="49" charset="0"/>
              </a:rPr>
              <a:t>xmlns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="http://www.</a:t>
            </a:r>
            <a:r>
              <a:rPr lang="cs-CZ" sz="900" b="1" dirty="0" err="1" smtClean="0">
                <a:latin typeface="Consolas" pitchFamily="49" charset="0"/>
              </a:rPr>
              <a:t>syntea.cz</a:t>
            </a:r>
            <a:r>
              <a:rPr lang="cs-CZ" sz="900" b="1" dirty="0" smtClean="0">
                <a:latin typeface="Consolas" pitchFamily="49" charset="0"/>
              </a:rPr>
              <a:t>/</a:t>
            </a:r>
            <a:r>
              <a:rPr lang="cs-CZ" sz="900" b="1" dirty="0" err="1" smtClean="0">
                <a:latin typeface="Consolas" pitchFamily="49" charset="0"/>
              </a:rPr>
              <a:t>xdef</a:t>
            </a:r>
            <a:r>
              <a:rPr lang="cs-CZ" sz="900" b="1" dirty="0" smtClean="0">
                <a:latin typeface="Consolas" pitchFamily="49" charset="0"/>
              </a:rPr>
              <a:t>/3.1"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="Příklad" 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root</a:t>
            </a:r>
            <a:r>
              <a:rPr lang="cs-CZ" sz="900" b="1" dirty="0" smtClean="0">
                <a:latin typeface="Consolas" pitchFamily="49" charset="0"/>
              </a:rPr>
              <a:t>="</a:t>
            </a:r>
            <a:r>
              <a:rPr lang="cs-CZ" sz="900" b="1" dirty="0" err="1" smtClean="0">
                <a:latin typeface="Consolas" pitchFamily="49" charset="0"/>
              </a:rPr>
              <a:t>NabídkaZájezdu</a:t>
            </a:r>
            <a:r>
              <a:rPr lang="cs-CZ" sz="900" b="1" dirty="0" smtClean="0">
                <a:latin typeface="Consolas" pitchFamily="49" charset="0"/>
              </a:rPr>
              <a:t>" 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&lt;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declaration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type datum   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xdatetime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('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d.M.yyyy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');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type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ico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 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(1,99_999_999);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type jmeno      string(2,24);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type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nazevFirmy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string(2,100);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type prijmeni   string(2,36);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type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typKola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enum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('Pánské','Dámské','Dětské'); 	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type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typLode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enum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('2 osoby','4 osoby'); 	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&lt;/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xd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: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declaration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</a:t>
            </a:r>
            <a:r>
              <a:rPr lang="cs-CZ" sz="900" b="1" dirty="0" err="1" smtClean="0">
                <a:latin typeface="Consolas" pitchFamily="49" charset="0"/>
              </a:rPr>
              <a:t>NabídkaZájezdu</a:t>
            </a:r>
            <a:r>
              <a:rPr lang="cs-CZ" sz="900" b="1" dirty="0" smtClean="0">
                <a:latin typeface="Consolas" pitchFamily="49" charset="0"/>
              </a:rPr>
              <a:t>&gt;  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&lt;Objednatel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="1; 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Subjekt"/&gt;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&lt;Hotel Název="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nazev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 Lokalita="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lokalita()</a:t>
            </a:r>
            <a:r>
              <a:rPr lang="cs-CZ" sz="9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&lt;Termín Příjezd="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datum()</a:t>
            </a:r>
            <a:r>
              <a:rPr lang="cs-CZ" sz="900" b="1" dirty="0" smtClean="0">
                <a:latin typeface="Consolas" pitchFamily="49" charset="0"/>
              </a:rPr>
              <a:t>" Odjezd="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datum()</a:t>
            </a:r>
            <a:r>
              <a:rPr lang="cs-CZ" sz="9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&lt;Cestující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="1..; 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Osoba"/&gt;</a:t>
            </a:r>
          </a:p>
          <a:p>
            <a:pPr>
              <a:defRPr/>
            </a:pP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</a:t>
            </a: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mixed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&lt;Kolo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="*" Typ="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typKola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"/&gt;   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&lt;Loďka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="0..2" Typ="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typLode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</a:t>
            </a:r>
            <a:r>
              <a:rPr lang="cs-CZ" sz="900" b="1" dirty="0" err="1" smtClean="0">
                <a:latin typeface="Consolas" pitchFamily="49" charset="0"/>
              </a:rPr>
              <a:t>LetBalonem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mixed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</a:t>
            </a:r>
            <a:r>
              <a:rPr lang="cs-CZ" sz="900" b="1" dirty="0" err="1" smtClean="0">
                <a:latin typeface="Consolas" pitchFamily="49" charset="0"/>
              </a:rPr>
              <a:t>NabídkaZájezdu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&lt;Subjekt&gt;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choice</a:t>
            </a:r>
            <a:r>
              <a:rPr lang="cs-CZ" sz="900" b="1" dirty="0" smtClean="0">
                <a:latin typeface="Consolas" pitchFamily="49" charset="0"/>
              </a:rPr>
              <a:t>&gt; 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&lt;Osoba 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script</a:t>
            </a:r>
            <a:r>
              <a:rPr lang="cs-CZ" sz="900" b="1" dirty="0" smtClean="0">
                <a:latin typeface="Consolas" pitchFamily="49" charset="0"/>
              </a:rPr>
              <a:t>="</a:t>
            </a:r>
            <a:r>
              <a:rPr lang="cs-CZ" sz="900" b="1" dirty="0" err="1" smtClean="0">
                <a:latin typeface="Consolas" pitchFamily="49" charset="0"/>
              </a:rPr>
              <a:t>ref</a:t>
            </a:r>
            <a:r>
              <a:rPr lang="cs-CZ" sz="900" b="1" dirty="0" smtClean="0">
                <a:latin typeface="Consolas" pitchFamily="49" charset="0"/>
              </a:rPr>
              <a:t> Osoba"/&gt;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  &lt;Firma Název="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nazev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 IČO="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ico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()</a:t>
            </a:r>
            <a:r>
              <a:rPr lang="cs-CZ" sz="9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  &lt;/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choice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&lt;/Subjekt&gt;</a:t>
            </a:r>
          </a:p>
          <a:p>
            <a:pPr>
              <a:defRPr/>
            </a:pP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  &lt;Osoba Jméno="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jmeno()</a:t>
            </a:r>
            <a:r>
              <a:rPr lang="cs-CZ" sz="900" b="1" dirty="0" smtClean="0">
                <a:latin typeface="Consolas" pitchFamily="49" charset="0"/>
              </a:rPr>
              <a:t>" Příjmení="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prijmeni()</a:t>
            </a:r>
            <a:r>
              <a:rPr lang="cs-CZ" sz="900" b="1" dirty="0" smtClean="0">
                <a:latin typeface="Consolas" pitchFamily="49" charset="0"/>
              </a:rPr>
              <a:t>" </a:t>
            </a:r>
            <a:r>
              <a:rPr lang="cs-CZ" sz="900" b="1" dirty="0" err="1" smtClean="0">
                <a:latin typeface="Consolas" pitchFamily="49" charset="0"/>
              </a:rPr>
              <a:t>DatumNarození</a:t>
            </a:r>
            <a:r>
              <a:rPr lang="cs-CZ" sz="900" b="1" dirty="0" smtClean="0">
                <a:latin typeface="Consolas" pitchFamily="49" charset="0"/>
              </a:rPr>
              <a:t>="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datum()</a:t>
            </a:r>
            <a:r>
              <a:rPr lang="cs-CZ" sz="9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900" b="1" dirty="0" smtClean="0">
                <a:latin typeface="Consolas" pitchFamily="49" charset="0"/>
              </a:rPr>
              <a:t>&lt;/</a:t>
            </a:r>
            <a:r>
              <a:rPr lang="cs-CZ" sz="900" b="1" dirty="0" err="1" smtClean="0">
                <a:latin typeface="Consolas" pitchFamily="49" charset="0"/>
              </a:rPr>
              <a:t>xd</a:t>
            </a:r>
            <a:r>
              <a:rPr lang="cs-CZ" sz="900" b="1" dirty="0" smtClean="0">
                <a:latin typeface="Consolas" pitchFamily="49" charset="0"/>
              </a:rPr>
              <a:t>:</a:t>
            </a:r>
            <a:r>
              <a:rPr lang="cs-CZ" sz="900" b="1" dirty="0" err="1" smtClean="0">
                <a:latin typeface="Consolas" pitchFamily="49" charset="0"/>
              </a:rPr>
              <a:t>def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</a:t>
            </a:r>
            <a:r>
              <a:rPr lang="cs-CZ" sz="2000" b="1" kern="0" smtClean="0">
                <a:solidFill>
                  <a:srgbClr val="CA0383"/>
                </a:solidFill>
                <a:latin typeface="Calibri" panose="020F0502020204030204" pitchFamily="34" charset="0"/>
              </a:rPr>
              <a:t>– unikátní množiny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24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9" name="Oval 91"/>
          <p:cNvSpPr>
            <a:spLocks noChangeArrowheads="1"/>
          </p:cNvSpPr>
          <p:nvPr/>
        </p:nvSpPr>
        <p:spPr bwMode="auto">
          <a:xfrm>
            <a:off x="1619672" y="2581290"/>
            <a:ext cx="802225" cy="459738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50000">
                <a:srgbClr val="CCECFF"/>
              </a:gs>
              <a:gs pos="100000">
                <a:srgbClr val="FFCCFF"/>
              </a:gs>
            </a:gsLst>
            <a:lin ang="5400000" scaled="1"/>
          </a:gra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cs-CZ" sz="7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START</a:t>
            </a:r>
            <a:endParaRPr lang="en-US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Oval 92"/>
          <p:cNvSpPr>
            <a:spLocks noChangeArrowheads="1"/>
          </p:cNvSpPr>
          <p:nvPr/>
        </p:nvSpPr>
        <p:spPr bwMode="auto">
          <a:xfrm>
            <a:off x="4114049" y="2241785"/>
            <a:ext cx="962007" cy="459738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50000">
                <a:srgbClr val="CCECFF"/>
              </a:gs>
              <a:gs pos="100000">
                <a:srgbClr val="FFCCFF"/>
              </a:gs>
            </a:gsLst>
            <a:lin ang="5400000" scaled="1"/>
          </a:gra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cs-CZ" sz="7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WAIT</a:t>
            </a:r>
            <a:endParaRPr lang="en-US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Oval 93"/>
          <p:cNvSpPr>
            <a:spLocks noChangeArrowheads="1"/>
          </p:cNvSpPr>
          <p:nvPr/>
        </p:nvSpPr>
        <p:spPr bwMode="auto">
          <a:xfrm>
            <a:off x="2895035" y="2803687"/>
            <a:ext cx="847702" cy="459738"/>
          </a:xfrm>
          <a:prstGeom prst="ellipse">
            <a:avLst/>
          </a:prstGeom>
          <a:solidFill>
            <a:srgbClr val="FFF0C1"/>
          </a:solidFill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r>
              <a:rPr lang="cs-CZ" sz="700" b="1" dirty="0" smtClean="0">
                <a:latin typeface="Consolas" panose="020B0609020204030204" pitchFamily="49" charset="0"/>
              </a:rPr>
              <a:t>CHECK_DIR_QUEUE</a:t>
            </a:r>
            <a:endParaRPr lang="en-US" sz="700" b="1" dirty="0">
              <a:latin typeface="Consolas" panose="020B0609020204030204" pitchFamily="49" charset="0"/>
            </a:endParaRPr>
          </a:p>
        </p:txBody>
      </p:sp>
      <p:cxnSp>
        <p:nvCxnSpPr>
          <p:cNvPr id="14" name="AutoShape 94"/>
          <p:cNvCxnSpPr>
            <a:cxnSpLocks noChangeShapeType="1"/>
            <a:stCxn id="9" idx="0"/>
            <a:endCxn id="13" idx="2"/>
          </p:cNvCxnSpPr>
          <p:nvPr/>
        </p:nvCxnSpPr>
        <p:spPr bwMode="auto">
          <a:xfrm rot="16200000" flipH="1">
            <a:off x="2231777" y="2370298"/>
            <a:ext cx="452266" cy="874250"/>
          </a:xfrm>
          <a:prstGeom prst="curvedConnector4">
            <a:avLst>
              <a:gd name="adj1" fmla="val -43525"/>
              <a:gd name="adj2" fmla="val 54782"/>
            </a:avLst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</p:spPr>
      </p:cxnSp>
      <p:cxnSp>
        <p:nvCxnSpPr>
          <p:cNvPr id="15" name="AutoShape 95"/>
          <p:cNvCxnSpPr>
            <a:cxnSpLocks noChangeShapeType="1"/>
            <a:stCxn id="13" idx="4"/>
            <a:endCxn id="32" idx="2"/>
          </p:cNvCxnSpPr>
          <p:nvPr/>
        </p:nvCxnSpPr>
        <p:spPr bwMode="auto">
          <a:xfrm rot="16200000" flipH="1">
            <a:off x="3414342" y="3167969"/>
            <a:ext cx="414130" cy="605042"/>
          </a:xfrm>
          <a:prstGeom prst="curvedConnector2">
            <a:avLst/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</p:spPr>
      </p:cxnSp>
      <p:cxnSp>
        <p:nvCxnSpPr>
          <p:cNvPr id="16" name="AutoShape 96"/>
          <p:cNvCxnSpPr>
            <a:cxnSpLocks noChangeShapeType="1"/>
            <a:stCxn id="13" idx="0"/>
            <a:endCxn id="11" idx="2"/>
          </p:cNvCxnSpPr>
          <p:nvPr/>
        </p:nvCxnSpPr>
        <p:spPr bwMode="auto">
          <a:xfrm rot="5400000" flipH="1" flipV="1">
            <a:off x="3550451" y="2240090"/>
            <a:ext cx="332033" cy="795163"/>
          </a:xfrm>
          <a:prstGeom prst="curvedConnector2">
            <a:avLst/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</p:spPr>
      </p:cxnSp>
      <p:cxnSp>
        <p:nvCxnSpPr>
          <p:cNvPr id="17" name="AutoShape 97"/>
          <p:cNvCxnSpPr>
            <a:cxnSpLocks noChangeShapeType="1"/>
            <a:stCxn id="11" idx="7"/>
            <a:endCxn id="34" idx="0"/>
          </p:cNvCxnSpPr>
          <p:nvPr/>
        </p:nvCxnSpPr>
        <p:spPr bwMode="auto">
          <a:xfrm rot="16200000" flipH="1">
            <a:off x="5729347" y="1514937"/>
            <a:ext cx="157063" cy="1745412"/>
          </a:xfrm>
          <a:prstGeom prst="curvedConnector3">
            <a:avLst>
              <a:gd name="adj1" fmla="val -188413"/>
            </a:avLst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</p:spPr>
      </p:cxnSp>
      <p:cxnSp>
        <p:nvCxnSpPr>
          <p:cNvPr id="20" name="AutoShape 100"/>
          <p:cNvCxnSpPr>
            <a:cxnSpLocks noChangeShapeType="1"/>
            <a:stCxn id="11" idx="4"/>
            <a:endCxn id="13" idx="6"/>
          </p:cNvCxnSpPr>
          <p:nvPr/>
        </p:nvCxnSpPr>
        <p:spPr bwMode="auto">
          <a:xfrm rot="5400000">
            <a:off x="4002879" y="2441381"/>
            <a:ext cx="332033" cy="852316"/>
          </a:xfrm>
          <a:prstGeom prst="curvedConnector2">
            <a:avLst/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</p:spPr>
      </p:cxnSp>
      <p:sp>
        <p:nvSpPr>
          <p:cNvPr id="21" name="Oval 101"/>
          <p:cNvSpPr>
            <a:spLocks noChangeArrowheads="1"/>
          </p:cNvSpPr>
          <p:nvPr/>
        </p:nvSpPr>
        <p:spPr bwMode="auto">
          <a:xfrm>
            <a:off x="5488557" y="3161261"/>
            <a:ext cx="109114" cy="102164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r>
              <a:rPr lang="en-US" sz="600"/>
              <a:t>...</a:t>
            </a:r>
          </a:p>
        </p:txBody>
      </p:sp>
      <p:cxnSp>
        <p:nvCxnSpPr>
          <p:cNvPr id="25" name="AutoShape 105"/>
          <p:cNvCxnSpPr>
            <a:cxnSpLocks noChangeShapeType="1"/>
            <a:stCxn id="32" idx="6"/>
            <a:endCxn id="26" idx="2"/>
          </p:cNvCxnSpPr>
          <p:nvPr/>
        </p:nvCxnSpPr>
        <p:spPr bwMode="auto">
          <a:xfrm>
            <a:off x="4824781" y="3677555"/>
            <a:ext cx="554662" cy="178787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</p:spPr>
      </p:cxnSp>
      <p:sp>
        <p:nvSpPr>
          <p:cNvPr id="26" name="Oval 106"/>
          <p:cNvSpPr>
            <a:spLocks noChangeArrowheads="1"/>
          </p:cNvSpPr>
          <p:nvPr/>
        </p:nvSpPr>
        <p:spPr bwMode="auto">
          <a:xfrm>
            <a:off x="5379443" y="3805260"/>
            <a:ext cx="109114" cy="102164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r>
              <a:rPr lang="en-US" sz="600"/>
              <a:t>...</a:t>
            </a:r>
          </a:p>
        </p:txBody>
      </p:sp>
      <p:cxnSp>
        <p:nvCxnSpPr>
          <p:cNvPr id="27" name="AutoShape 107"/>
          <p:cNvCxnSpPr>
            <a:cxnSpLocks noChangeShapeType="1"/>
            <a:stCxn id="26" idx="6"/>
            <a:endCxn id="34" idx="4"/>
          </p:cNvCxnSpPr>
          <p:nvPr/>
        </p:nvCxnSpPr>
        <p:spPr bwMode="auto">
          <a:xfrm flipV="1">
            <a:off x="5488557" y="2925913"/>
            <a:ext cx="1192028" cy="930429"/>
          </a:xfrm>
          <a:prstGeom prst="curvedConnector2">
            <a:avLst/>
          </a:prstGeom>
          <a:noFill/>
          <a:ln w="3175">
            <a:solidFill>
              <a:srgbClr val="3333CC"/>
            </a:solidFill>
            <a:prstDash val="dash"/>
            <a:round/>
            <a:headEnd/>
            <a:tailEnd type="triangle" w="sm" len="sm"/>
          </a:ln>
        </p:spPr>
      </p:cxnSp>
      <p:sp>
        <p:nvSpPr>
          <p:cNvPr id="30" name="AutoShape 110"/>
          <p:cNvSpPr>
            <a:spLocks noChangeArrowheads="1"/>
          </p:cNvSpPr>
          <p:nvPr/>
        </p:nvSpPr>
        <p:spPr bwMode="auto">
          <a:xfrm>
            <a:off x="4747393" y="1671546"/>
            <a:ext cx="976735" cy="206152"/>
          </a:xfrm>
          <a:prstGeom prst="wedgeRoundRectCallout">
            <a:avLst>
              <a:gd name="adj1" fmla="val -31284"/>
              <a:gd name="adj2" fmla="val 249239"/>
              <a:gd name="adj3" fmla="val 16667"/>
            </a:avLst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cs-CZ" sz="7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Událost </a:t>
            </a:r>
            <a:r>
              <a:rPr lang="cs-CZ" sz="7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HaltRun</a:t>
            </a:r>
            <a:endParaRPr lang="en-US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AutoShape 111"/>
          <p:cNvSpPr>
            <a:spLocks noChangeArrowheads="1"/>
          </p:cNvSpPr>
          <p:nvPr/>
        </p:nvSpPr>
        <p:spPr bwMode="auto">
          <a:xfrm>
            <a:off x="1259632" y="1795561"/>
            <a:ext cx="1664911" cy="198855"/>
          </a:xfrm>
          <a:prstGeom prst="wedgeRoundRectCallout">
            <a:avLst>
              <a:gd name="adj1" fmla="val 47971"/>
              <a:gd name="adj2" fmla="val 574042"/>
              <a:gd name="adj3" fmla="val 16667"/>
            </a:avLst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cs-CZ" sz="700" b="1" dirty="0" err="1" smtClean="0">
                <a:latin typeface="Consolas" panose="020B0609020204030204" pitchFamily="49" charset="0"/>
              </a:rPr>
              <a:t>findFileAndInsertJob</a:t>
            </a:r>
            <a:r>
              <a:rPr lang="cs-CZ" sz="700" b="1" dirty="0">
                <a:latin typeface="Consolas" panose="020B0609020204030204" pitchFamily="49" charset="0"/>
              </a:rPr>
              <a:t>($</a:t>
            </a:r>
            <a:r>
              <a:rPr lang="cs-CZ" sz="700" b="1" dirty="0" err="1" smtClean="0">
                <a:latin typeface="Consolas" panose="020B0609020204030204" pitchFamily="49" charset="0"/>
              </a:rPr>
              <a:t>Misto</a:t>
            </a:r>
            <a:r>
              <a:rPr lang="cs-CZ" sz="700" b="1" dirty="0" smtClean="0">
                <a:latin typeface="Consolas" panose="020B0609020204030204" pitchFamily="49" charset="0"/>
              </a:rPr>
              <a:t>)</a:t>
            </a:r>
            <a:endParaRPr lang="en-US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Oval 112"/>
          <p:cNvSpPr>
            <a:spLocks noChangeArrowheads="1"/>
          </p:cNvSpPr>
          <p:nvPr/>
        </p:nvSpPr>
        <p:spPr bwMode="auto">
          <a:xfrm>
            <a:off x="3923928" y="3447686"/>
            <a:ext cx="900853" cy="459738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50000">
                <a:srgbClr val="CCECFF"/>
              </a:gs>
              <a:gs pos="100000">
                <a:srgbClr val="FFCCFF"/>
              </a:gs>
            </a:gsLst>
            <a:lin ang="5400000" scaled="1"/>
          </a:gra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cs-CZ" sz="700" b="1" dirty="0">
                <a:solidFill>
                  <a:srgbClr val="000000"/>
                </a:solidFill>
                <a:latin typeface="Consolas" panose="020B0609020204030204" pitchFamily="49" charset="0"/>
              </a:rPr>
              <a:t>PROGRAM_STARTING</a:t>
            </a:r>
            <a:endParaRPr lang="en-US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Oval 114"/>
          <p:cNvSpPr>
            <a:spLocks noChangeArrowheads="1"/>
          </p:cNvSpPr>
          <p:nvPr/>
        </p:nvSpPr>
        <p:spPr bwMode="auto">
          <a:xfrm>
            <a:off x="6300193" y="2466175"/>
            <a:ext cx="760784" cy="459738"/>
          </a:xfrm>
          <a:prstGeom prst="ellipse">
            <a:avLst/>
          </a:prstGeom>
          <a:gradFill rotWithShape="0">
            <a:gsLst>
              <a:gs pos="0">
                <a:srgbClr val="FFCCFF"/>
              </a:gs>
              <a:gs pos="50000">
                <a:srgbClr val="CCECFF"/>
              </a:gs>
              <a:gs pos="100000">
                <a:srgbClr val="FFCCFF"/>
              </a:gs>
            </a:gsLst>
            <a:lin ang="5400000" scaled="1"/>
          </a:gra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cs-CZ" sz="7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END</a:t>
            </a:r>
            <a:endParaRPr lang="en-US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Zaoblený obdélník 55"/>
          <p:cNvSpPr/>
          <p:nvPr/>
        </p:nvSpPr>
        <p:spPr bwMode="auto">
          <a:xfrm>
            <a:off x="818330" y="4015919"/>
            <a:ext cx="7484795" cy="2231748"/>
          </a:xfrm>
          <a:prstGeom prst="roundRect">
            <a:avLst>
              <a:gd name="adj" fmla="val 15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>
            <a:defPPr>
              <a:defRPr lang="cs-CZ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Corbel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Corbel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Corbel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Corbel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Corbe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6000" kern="1200">
                <a:solidFill>
                  <a:schemeClr val="tx1"/>
                </a:solidFill>
                <a:latin typeface="Corbe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6000" kern="1200">
                <a:solidFill>
                  <a:schemeClr val="tx1"/>
                </a:solidFill>
                <a:latin typeface="Corbe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6000" kern="1200">
                <a:solidFill>
                  <a:schemeClr val="tx1"/>
                </a:solidFill>
                <a:latin typeface="Corbe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6000" kern="1200">
                <a:solidFill>
                  <a:schemeClr val="tx1"/>
                </a:solidFill>
                <a:latin typeface="Corbe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... </a:t>
            </a:r>
            <a:endParaRPr lang="cs-CZ" sz="750" b="1" dirty="0" smtClean="0">
              <a:latin typeface="Consolas" pitchFamily="49" charset="0"/>
            </a:endParaRPr>
          </a:p>
          <a:p>
            <a:r>
              <a:rPr lang="cs-CZ" sz="750" b="1" dirty="0" smtClean="0">
                <a:latin typeface="Consolas" pitchFamily="49" charset="0"/>
              </a:rPr>
              <a:t>  </a:t>
            </a:r>
            <a:r>
              <a:rPr lang="cs-CZ" sz="700" b="1" dirty="0">
                <a:latin typeface="Consolas" panose="020B0609020204030204" pitchFamily="49" charset="0"/>
              </a:rPr>
              <a:t>&lt;Status </a:t>
            </a:r>
            <a:r>
              <a:rPr lang="cs-CZ" sz="700" b="1" dirty="0" err="1">
                <a:latin typeface="Consolas" panose="020B0609020204030204" pitchFamily="49" charset="0"/>
              </a:rPr>
              <a:t>Name</a:t>
            </a:r>
            <a:r>
              <a:rPr lang="cs-CZ" sz="700" b="1" dirty="0">
                <a:latin typeface="Consolas" panose="020B0609020204030204" pitchFamily="49" charset="0"/>
              </a:rPr>
              <a:t>="START"&gt;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      &lt;</a:t>
            </a:r>
            <a:r>
              <a:rPr lang="cs-CZ" sz="700" b="1" dirty="0" err="1">
                <a:latin typeface="Consolas" panose="020B0609020204030204" pitchFamily="49" charset="0"/>
              </a:rPr>
              <a:t>Event</a:t>
            </a:r>
            <a:r>
              <a:rPr lang="cs-CZ" sz="700" b="1" dirty="0">
                <a:latin typeface="Consolas" panose="020B0609020204030204" pitchFamily="49" charset="0"/>
              </a:rPr>
              <a:t> </a:t>
            </a:r>
            <a:r>
              <a:rPr lang="cs-CZ" sz="700" b="1" dirty="0" err="1">
                <a:latin typeface="Consolas" panose="020B0609020204030204" pitchFamily="49" charset="0"/>
              </a:rPr>
              <a:t>Name</a:t>
            </a:r>
            <a:r>
              <a:rPr lang="cs-CZ" sz="700" b="1" dirty="0">
                <a:latin typeface="Consolas" panose="020B0609020204030204" pitchFamily="49" charset="0"/>
              </a:rPr>
              <a:t>="INIT"                  </a:t>
            </a:r>
            <a:r>
              <a:rPr lang="cs-CZ" sz="700" b="1" dirty="0" err="1">
                <a:latin typeface="Consolas" panose="020B0609020204030204" pitchFamily="49" charset="0"/>
              </a:rPr>
              <a:t>NextStatus</a:t>
            </a:r>
            <a:r>
              <a:rPr lang="cs-CZ" sz="700" b="1" dirty="0">
                <a:latin typeface="Consolas" panose="020B0609020204030204" pitchFamily="49" charset="0"/>
              </a:rPr>
              <a:t>="CHECK_DIR_QUEUE"/&gt;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</a:t>
            </a:r>
            <a:r>
              <a:rPr lang="cs-CZ" sz="700" b="1" dirty="0" smtClean="0">
                <a:latin typeface="Consolas" panose="020B0609020204030204" pitchFamily="49" charset="0"/>
              </a:rPr>
              <a:t>&lt;/</a:t>
            </a:r>
            <a:r>
              <a:rPr lang="cs-CZ" sz="700" b="1" dirty="0">
                <a:latin typeface="Consolas" panose="020B0609020204030204" pitchFamily="49" charset="0"/>
              </a:rPr>
              <a:t>Status&gt;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 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</a:t>
            </a:r>
            <a:r>
              <a:rPr lang="cs-CZ" sz="700" b="1" dirty="0" smtClean="0">
                <a:latin typeface="Consolas" panose="020B0609020204030204" pitchFamily="49" charset="0"/>
              </a:rPr>
              <a:t>&lt;</a:t>
            </a:r>
            <a:r>
              <a:rPr lang="cs-CZ" sz="700" b="1" dirty="0" err="1">
                <a:latin typeface="Consolas" panose="020B0609020204030204" pitchFamily="49" charset="0"/>
              </a:rPr>
              <a:t>IfStatus</a:t>
            </a:r>
            <a:r>
              <a:rPr lang="cs-CZ" sz="700" b="1" dirty="0">
                <a:latin typeface="Consolas" panose="020B0609020204030204" pitchFamily="49" charset="0"/>
              </a:rPr>
              <a:t> </a:t>
            </a:r>
            <a:r>
              <a:rPr lang="cs-CZ" sz="700" b="1" dirty="0" err="1">
                <a:latin typeface="Consolas" panose="020B0609020204030204" pitchFamily="49" charset="0"/>
              </a:rPr>
              <a:t>Name</a:t>
            </a:r>
            <a:r>
              <a:rPr lang="cs-CZ" sz="700" b="1" dirty="0">
                <a:latin typeface="Consolas" panose="020B0609020204030204" pitchFamily="49" charset="0"/>
              </a:rPr>
              <a:t>="CHECK_DIR_QUEUE"&gt;                                          &lt;!-- Program nepracuje --&gt;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      </a:t>
            </a:r>
            <a:r>
              <a:rPr lang="cs-CZ" sz="700" b="1" dirty="0" err="1">
                <a:latin typeface="Consolas" panose="020B0609020204030204" pitchFamily="49" charset="0"/>
              </a:rPr>
              <a:t>findFileAndInsertJob</a:t>
            </a:r>
            <a:r>
              <a:rPr lang="cs-CZ" sz="700" b="1" dirty="0">
                <a:latin typeface="Consolas" panose="020B0609020204030204" pitchFamily="49" charset="0"/>
              </a:rPr>
              <a:t>($</a:t>
            </a:r>
            <a:r>
              <a:rPr lang="cs-CZ" sz="700" b="1" dirty="0" err="1">
                <a:latin typeface="Consolas" panose="020B0609020204030204" pitchFamily="49" charset="0"/>
              </a:rPr>
              <a:t>Misto</a:t>
            </a:r>
            <a:r>
              <a:rPr lang="cs-CZ" sz="700" b="1" dirty="0">
                <a:latin typeface="Consolas" panose="020B0609020204030204" pitchFamily="49" charset="0"/>
              </a:rPr>
              <a:t>);       /* Najde-li soubor, vytvoří pro něj úlohu a dá ji do fronty */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      &lt;</a:t>
            </a:r>
            <a:r>
              <a:rPr lang="cs-CZ" sz="700" b="1" dirty="0" err="1">
                <a:latin typeface="Consolas" panose="020B0609020204030204" pitchFamily="49" charset="0"/>
              </a:rPr>
              <a:t>Condition</a:t>
            </a:r>
            <a:r>
              <a:rPr lang="cs-CZ" sz="700" b="1" dirty="0">
                <a:latin typeface="Consolas" panose="020B0609020204030204" pitchFamily="49" charset="0"/>
              </a:rPr>
              <a:t>&gt;</a:t>
            </a:r>
            <a:r>
              <a:rPr lang="cs-CZ" sz="700" b="1" dirty="0" err="1">
                <a:latin typeface="Consolas" panose="020B0609020204030204" pitchFamily="49" charset="0"/>
              </a:rPr>
              <a:t>return</a:t>
            </a:r>
            <a:r>
              <a:rPr lang="cs-CZ" sz="700" b="1" dirty="0">
                <a:latin typeface="Consolas" panose="020B0609020204030204" pitchFamily="49" charset="0"/>
              </a:rPr>
              <a:t> (</a:t>
            </a:r>
            <a:r>
              <a:rPr lang="cs-CZ" sz="700" b="1" dirty="0" err="1">
                <a:latin typeface="Consolas" panose="020B0609020204030204" pitchFamily="49" charset="0"/>
              </a:rPr>
              <a:t>getQueueCount</a:t>
            </a:r>
            <a:r>
              <a:rPr lang="cs-CZ" sz="700" b="1" dirty="0">
                <a:latin typeface="Consolas" panose="020B0609020204030204" pitchFamily="49" charset="0"/>
              </a:rPr>
              <a:t>($</a:t>
            </a:r>
            <a:r>
              <a:rPr lang="cs-CZ" sz="700" b="1" dirty="0" err="1">
                <a:latin typeface="Consolas" panose="020B0609020204030204" pitchFamily="49" charset="0"/>
              </a:rPr>
              <a:t>Misto</a:t>
            </a:r>
            <a:r>
              <a:rPr lang="cs-CZ" sz="700" b="1" dirty="0">
                <a:latin typeface="Consolas" panose="020B0609020204030204" pitchFamily="49" charset="0"/>
              </a:rPr>
              <a:t>) GT 0);&lt;/</a:t>
            </a:r>
            <a:r>
              <a:rPr lang="cs-CZ" sz="700" b="1" dirty="0" err="1">
                <a:latin typeface="Consolas" panose="020B0609020204030204" pitchFamily="49" charset="0"/>
              </a:rPr>
              <a:t>Condition</a:t>
            </a:r>
            <a:r>
              <a:rPr lang="cs-CZ" sz="700" b="1" dirty="0">
                <a:latin typeface="Consolas" panose="020B0609020204030204" pitchFamily="49" charset="0"/>
              </a:rPr>
              <a:t>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      &lt;</a:t>
            </a:r>
            <a:r>
              <a:rPr lang="cs-CZ" sz="700" b="1" dirty="0" err="1">
                <a:latin typeface="Consolas" panose="020B0609020204030204" pitchFamily="49" charset="0"/>
              </a:rPr>
              <a:t>Yes</a:t>
            </a:r>
            <a:r>
              <a:rPr lang="cs-CZ" sz="700" b="1" dirty="0">
                <a:latin typeface="Consolas" panose="020B0609020204030204" pitchFamily="49" charset="0"/>
              </a:rPr>
              <a:t> </a:t>
            </a:r>
            <a:r>
              <a:rPr lang="cs-CZ" sz="700" b="1" dirty="0" err="1">
                <a:latin typeface="Consolas" panose="020B0609020204030204" pitchFamily="49" charset="0"/>
              </a:rPr>
              <a:t>NextStatus</a:t>
            </a:r>
            <a:r>
              <a:rPr lang="cs-CZ" sz="700" b="1" dirty="0">
                <a:latin typeface="Consolas" panose="020B0609020204030204" pitchFamily="49" charset="0"/>
              </a:rPr>
              <a:t>="PROGRAM_STARTING"&gt;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          </a:t>
            </a:r>
            <a:r>
              <a:rPr lang="cs-CZ" sz="700" b="1" dirty="0" err="1">
                <a:latin typeface="Consolas" panose="020B0609020204030204" pitchFamily="49" charset="0"/>
              </a:rPr>
              <a:t>requestStartPrg</a:t>
            </a:r>
            <a:r>
              <a:rPr lang="cs-CZ" sz="700" b="1" dirty="0">
                <a:latin typeface="Consolas" panose="020B0609020204030204" pitchFamily="49" charset="0"/>
              </a:rPr>
              <a:t>($</a:t>
            </a:r>
            <a:r>
              <a:rPr lang="cs-CZ" sz="700" b="1" dirty="0" err="1">
                <a:latin typeface="Consolas" panose="020B0609020204030204" pitchFamily="49" charset="0"/>
              </a:rPr>
              <a:t>Misto</a:t>
            </a:r>
            <a:r>
              <a:rPr lang="cs-CZ" sz="700" b="1" dirty="0">
                <a:latin typeface="Consolas" panose="020B0609020204030204" pitchFamily="49" charset="0"/>
              </a:rPr>
              <a:t>);        /* Žádej start programu */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      &lt;/</a:t>
            </a:r>
            <a:r>
              <a:rPr lang="cs-CZ" sz="700" b="1" dirty="0" err="1">
                <a:latin typeface="Consolas" panose="020B0609020204030204" pitchFamily="49" charset="0"/>
              </a:rPr>
              <a:t>Yes</a:t>
            </a:r>
            <a:r>
              <a:rPr lang="cs-CZ" sz="700" b="1" dirty="0">
                <a:latin typeface="Consolas" panose="020B0609020204030204" pitchFamily="49" charset="0"/>
              </a:rPr>
              <a:t>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      &lt;No  </a:t>
            </a:r>
            <a:r>
              <a:rPr lang="cs-CZ" sz="700" b="1" dirty="0" err="1">
                <a:latin typeface="Consolas" panose="020B0609020204030204" pitchFamily="49" charset="0"/>
              </a:rPr>
              <a:t>NextStatus</a:t>
            </a:r>
            <a:r>
              <a:rPr lang="cs-CZ" sz="700" b="1" dirty="0">
                <a:latin typeface="Consolas" panose="020B0609020204030204" pitchFamily="49" charset="0"/>
              </a:rPr>
              <a:t>="WAIT"/&gt;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</a:t>
            </a:r>
            <a:r>
              <a:rPr lang="cs-CZ" sz="700" b="1" dirty="0" smtClean="0">
                <a:latin typeface="Consolas" panose="020B0609020204030204" pitchFamily="49" charset="0"/>
              </a:rPr>
              <a:t>&lt;/</a:t>
            </a:r>
            <a:r>
              <a:rPr lang="cs-CZ" sz="700" b="1" dirty="0" err="1">
                <a:latin typeface="Consolas" panose="020B0609020204030204" pitchFamily="49" charset="0"/>
              </a:rPr>
              <a:t>IfStatus</a:t>
            </a:r>
            <a:r>
              <a:rPr lang="cs-CZ" sz="700" b="1" dirty="0">
                <a:latin typeface="Consolas" panose="020B0609020204030204" pitchFamily="49" charset="0"/>
              </a:rPr>
              <a:t>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 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</a:t>
            </a:r>
            <a:r>
              <a:rPr lang="cs-CZ" sz="700" b="1" dirty="0" smtClean="0">
                <a:latin typeface="Consolas" panose="020B0609020204030204" pitchFamily="49" charset="0"/>
              </a:rPr>
              <a:t>&lt;</a:t>
            </a:r>
            <a:r>
              <a:rPr lang="cs-CZ" sz="700" b="1" dirty="0">
                <a:latin typeface="Consolas" panose="020B0609020204030204" pitchFamily="49" charset="0"/>
              </a:rPr>
              <a:t>Status </a:t>
            </a:r>
            <a:r>
              <a:rPr lang="cs-CZ" sz="700" b="1" dirty="0" err="1">
                <a:latin typeface="Consolas" panose="020B0609020204030204" pitchFamily="49" charset="0"/>
              </a:rPr>
              <a:t>Name</a:t>
            </a:r>
            <a:r>
              <a:rPr lang="cs-CZ" sz="700" b="1" dirty="0">
                <a:latin typeface="Consolas" panose="020B0609020204030204" pitchFamily="49" charset="0"/>
              </a:rPr>
              <a:t>="WAIT" </a:t>
            </a:r>
            <a:r>
              <a:rPr lang="cs-CZ" sz="700" b="1" dirty="0" err="1">
                <a:latin typeface="Consolas" panose="020B0609020204030204" pitchFamily="49" charset="0"/>
              </a:rPr>
              <a:t>TimeOverStep</a:t>
            </a:r>
            <a:r>
              <a:rPr lang="cs-CZ" sz="700" b="1" dirty="0">
                <a:latin typeface="Consolas" panose="020B0609020204030204" pitchFamily="49" charset="0"/>
              </a:rPr>
              <a:t>="60" </a:t>
            </a:r>
            <a:r>
              <a:rPr lang="cs-CZ" sz="700" b="1" dirty="0" err="1">
                <a:latin typeface="Consolas" panose="020B0609020204030204" pitchFamily="49" charset="0"/>
              </a:rPr>
              <a:t>CheckPoint</a:t>
            </a:r>
            <a:r>
              <a:rPr lang="cs-CZ" sz="700" b="1" dirty="0">
                <a:latin typeface="Consolas" panose="020B0609020204030204" pitchFamily="49" charset="0"/>
              </a:rPr>
              <a:t>="Y"&gt;                      &lt;!-- Program nepracuje --&gt;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      &lt;</a:t>
            </a:r>
            <a:r>
              <a:rPr lang="cs-CZ" sz="700" b="1" dirty="0" err="1">
                <a:latin typeface="Consolas" panose="020B0609020204030204" pitchFamily="49" charset="0"/>
              </a:rPr>
              <a:t>Event</a:t>
            </a:r>
            <a:r>
              <a:rPr lang="cs-CZ" sz="700" b="1" dirty="0">
                <a:latin typeface="Consolas" panose="020B0609020204030204" pitchFamily="49" charset="0"/>
              </a:rPr>
              <a:t> </a:t>
            </a:r>
            <a:r>
              <a:rPr lang="cs-CZ" sz="700" b="1" dirty="0" err="1">
                <a:latin typeface="Consolas" panose="020B0609020204030204" pitchFamily="49" charset="0"/>
              </a:rPr>
              <a:t>Name</a:t>
            </a:r>
            <a:r>
              <a:rPr lang="cs-CZ" sz="700" b="1" dirty="0">
                <a:latin typeface="Consolas" panose="020B0609020204030204" pitchFamily="49" charset="0"/>
              </a:rPr>
              <a:t>="</a:t>
            </a:r>
            <a:r>
              <a:rPr lang="cs-CZ" sz="700" b="1" dirty="0" err="1">
                <a:latin typeface="Consolas" panose="020B0609020204030204" pitchFamily="49" charset="0"/>
              </a:rPr>
              <a:t>TimeOver</a:t>
            </a:r>
            <a:r>
              <a:rPr lang="cs-CZ" sz="700" b="1" dirty="0">
                <a:latin typeface="Consolas" panose="020B0609020204030204" pitchFamily="49" charset="0"/>
              </a:rPr>
              <a:t>_"             </a:t>
            </a:r>
            <a:r>
              <a:rPr lang="cs-CZ" sz="700" b="1" dirty="0" err="1">
                <a:latin typeface="Consolas" panose="020B0609020204030204" pitchFamily="49" charset="0"/>
              </a:rPr>
              <a:t>NextStatus</a:t>
            </a:r>
            <a:r>
              <a:rPr lang="cs-CZ" sz="700" b="1" dirty="0">
                <a:latin typeface="Consolas" panose="020B0609020204030204" pitchFamily="49" charset="0"/>
              </a:rPr>
              <a:t>="CHECK_DIR_QUEUE"/&gt;     &lt;!-- Vypršel interval monitoringu --&gt;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      &lt;</a:t>
            </a:r>
            <a:r>
              <a:rPr lang="cs-CZ" sz="700" b="1" dirty="0" err="1">
                <a:latin typeface="Consolas" panose="020B0609020204030204" pitchFamily="49" charset="0"/>
              </a:rPr>
              <a:t>Event</a:t>
            </a:r>
            <a:r>
              <a:rPr lang="cs-CZ" sz="700" b="1" dirty="0">
                <a:latin typeface="Consolas" panose="020B0609020204030204" pitchFamily="49" charset="0"/>
              </a:rPr>
              <a:t> </a:t>
            </a:r>
            <a:r>
              <a:rPr lang="cs-CZ" sz="700" b="1" dirty="0" err="1">
                <a:latin typeface="Consolas" panose="020B0609020204030204" pitchFamily="49" charset="0"/>
              </a:rPr>
              <a:t>Name</a:t>
            </a:r>
            <a:r>
              <a:rPr lang="cs-CZ" sz="700" b="1" dirty="0">
                <a:latin typeface="Consolas" panose="020B0609020204030204" pitchFamily="49" charset="0"/>
              </a:rPr>
              <a:t>="</a:t>
            </a:r>
            <a:r>
              <a:rPr lang="cs-CZ" sz="700" b="1" dirty="0" err="1">
                <a:latin typeface="Consolas" panose="020B0609020204030204" pitchFamily="49" charset="0"/>
              </a:rPr>
              <a:t>HaltRun</a:t>
            </a:r>
            <a:r>
              <a:rPr lang="cs-CZ" sz="700" b="1" dirty="0">
                <a:latin typeface="Consolas" panose="020B0609020204030204" pitchFamily="49" charset="0"/>
              </a:rPr>
              <a:t>_"              </a:t>
            </a:r>
            <a:r>
              <a:rPr lang="cs-CZ" sz="700" b="1" dirty="0" err="1">
                <a:latin typeface="Consolas" panose="020B0609020204030204" pitchFamily="49" charset="0"/>
              </a:rPr>
              <a:t>NextStatus</a:t>
            </a:r>
            <a:r>
              <a:rPr lang="cs-CZ" sz="700" b="1" dirty="0">
                <a:latin typeface="Consolas" panose="020B0609020204030204" pitchFamily="49" charset="0"/>
              </a:rPr>
              <a:t>="END"/&gt;                 &lt;!-- Žádost o rychlé zastavení systému --&gt;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      &lt;</a:t>
            </a:r>
            <a:r>
              <a:rPr lang="cs-CZ" sz="700" b="1" dirty="0" err="1">
                <a:latin typeface="Consolas" panose="020B0609020204030204" pitchFamily="49" charset="0"/>
              </a:rPr>
              <a:t>Event</a:t>
            </a:r>
            <a:r>
              <a:rPr lang="cs-CZ" sz="700" b="1" dirty="0">
                <a:latin typeface="Consolas" panose="020B0609020204030204" pitchFamily="49" charset="0"/>
              </a:rPr>
              <a:t> </a:t>
            </a:r>
            <a:r>
              <a:rPr lang="cs-CZ" sz="700" b="1" dirty="0" err="1">
                <a:latin typeface="Consolas" panose="020B0609020204030204" pitchFamily="49" charset="0"/>
              </a:rPr>
              <a:t>Name</a:t>
            </a:r>
            <a:r>
              <a:rPr lang="cs-CZ" sz="700" b="1" dirty="0">
                <a:latin typeface="Consolas" panose="020B0609020204030204" pitchFamily="49" charset="0"/>
              </a:rPr>
              <a:t>="</a:t>
            </a:r>
            <a:r>
              <a:rPr lang="cs-CZ" sz="700" b="1" dirty="0" err="1">
                <a:latin typeface="Consolas" panose="020B0609020204030204" pitchFamily="49" charset="0"/>
              </a:rPr>
              <a:t>CloseRun</a:t>
            </a:r>
            <a:r>
              <a:rPr lang="cs-CZ" sz="700" b="1" dirty="0">
                <a:latin typeface="Consolas" panose="020B0609020204030204" pitchFamily="49" charset="0"/>
              </a:rPr>
              <a:t>_"             </a:t>
            </a:r>
            <a:r>
              <a:rPr lang="cs-CZ" sz="700" b="1" dirty="0" err="1">
                <a:latin typeface="Consolas" panose="020B0609020204030204" pitchFamily="49" charset="0"/>
              </a:rPr>
              <a:t>NextStatus</a:t>
            </a:r>
            <a:r>
              <a:rPr lang="cs-CZ" sz="700" b="1" dirty="0">
                <a:latin typeface="Consolas" panose="020B0609020204030204" pitchFamily="49" charset="0"/>
              </a:rPr>
              <a:t>="END"/&gt;                 &lt;!-- Žádost o </a:t>
            </a:r>
            <a:r>
              <a:rPr lang="cs-CZ" sz="700" b="1" dirty="0" err="1">
                <a:latin typeface="Consolas" panose="020B0609020204030204" pitchFamily="49" charset="0"/>
              </a:rPr>
              <a:t>norm</a:t>
            </a:r>
            <a:r>
              <a:rPr lang="cs-CZ" sz="700" b="1" dirty="0">
                <a:latin typeface="Consolas" panose="020B0609020204030204" pitchFamily="49" charset="0"/>
              </a:rPr>
              <a:t>. zastavení systému --&gt;</a:t>
            </a:r>
          </a:p>
          <a:p>
            <a:r>
              <a:rPr lang="cs-CZ" sz="700" b="1" dirty="0">
                <a:latin typeface="Consolas" panose="020B0609020204030204" pitchFamily="49" charset="0"/>
              </a:rPr>
              <a:t>  </a:t>
            </a:r>
            <a:r>
              <a:rPr lang="cs-CZ" sz="700" b="1" dirty="0" smtClean="0">
                <a:latin typeface="Consolas" panose="020B0609020204030204" pitchFamily="49" charset="0"/>
              </a:rPr>
              <a:t>&lt;/</a:t>
            </a:r>
            <a:r>
              <a:rPr lang="cs-CZ" sz="700" b="1" dirty="0">
                <a:latin typeface="Consolas" panose="020B0609020204030204" pitchFamily="49" charset="0"/>
              </a:rPr>
              <a:t>Status&gt;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...</a:t>
            </a:r>
            <a:endParaRPr lang="cs-CZ" sz="750" b="1" dirty="0" smtClean="0">
              <a:latin typeface="Consolas" pitchFamily="49" charset="0"/>
            </a:endParaRPr>
          </a:p>
        </p:txBody>
      </p:sp>
      <p:sp>
        <p:nvSpPr>
          <p:cNvPr id="7175" name="Zaoblený obdélníkový bublinový popisek 7174"/>
          <p:cNvSpPr/>
          <p:nvPr/>
        </p:nvSpPr>
        <p:spPr bwMode="auto">
          <a:xfrm>
            <a:off x="2895035" y="2255008"/>
            <a:ext cx="792088" cy="190800"/>
          </a:xfrm>
          <a:prstGeom prst="wedgeRoundRectCallout">
            <a:avLst>
              <a:gd name="adj1" fmla="val 2302"/>
              <a:gd name="adj2" fmla="val 228051"/>
              <a:gd name="adj3" fmla="val 16667"/>
            </a:avLst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cs-CZ" sz="7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Událost NO</a:t>
            </a:r>
            <a:endParaRPr lang="cs-CZ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Zaoblený obdélníkový bublinový popisek 85"/>
          <p:cNvSpPr/>
          <p:nvPr/>
        </p:nvSpPr>
        <p:spPr bwMode="auto">
          <a:xfrm>
            <a:off x="2655109" y="3585753"/>
            <a:ext cx="792088" cy="190800"/>
          </a:xfrm>
          <a:prstGeom prst="wedgeRoundRectCallout">
            <a:avLst>
              <a:gd name="adj1" fmla="val 33567"/>
              <a:gd name="adj2" fmla="val -207929"/>
              <a:gd name="adj3" fmla="val 16667"/>
            </a:avLst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cs-CZ" sz="7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Událost YES</a:t>
            </a:r>
            <a:endParaRPr lang="cs-CZ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Zaoblený obdélníkový bublinový popisek 88"/>
          <p:cNvSpPr/>
          <p:nvPr/>
        </p:nvSpPr>
        <p:spPr bwMode="auto">
          <a:xfrm>
            <a:off x="4182641" y="3137203"/>
            <a:ext cx="1002620" cy="190800"/>
          </a:xfrm>
          <a:prstGeom prst="wedgeRoundRectCallout">
            <a:avLst>
              <a:gd name="adj1" fmla="val -9401"/>
              <a:gd name="adj2" fmla="val -267836"/>
              <a:gd name="adj3" fmla="val 16667"/>
            </a:avLst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cs-CZ" sz="7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Událost </a:t>
            </a:r>
            <a:r>
              <a:rPr lang="cs-CZ" sz="7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TimeOver</a:t>
            </a:r>
            <a:endParaRPr lang="cs-CZ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99" name="AutoShape 97"/>
          <p:cNvCxnSpPr>
            <a:cxnSpLocks noChangeShapeType="1"/>
            <a:stCxn id="11" idx="6"/>
            <a:endCxn id="34" idx="2"/>
          </p:cNvCxnSpPr>
          <p:nvPr/>
        </p:nvCxnSpPr>
        <p:spPr bwMode="auto">
          <a:xfrm>
            <a:off x="5076056" y="2471654"/>
            <a:ext cx="1224137" cy="22439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</p:spPr>
      </p:cxnSp>
      <p:sp>
        <p:nvSpPr>
          <p:cNvPr id="102" name="AutoShape 110"/>
          <p:cNvSpPr>
            <a:spLocks noChangeArrowheads="1"/>
          </p:cNvSpPr>
          <p:nvPr/>
        </p:nvSpPr>
        <p:spPr bwMode="auto">
          <a:xfrm>
            <a:off x="4883135" y="2780333"/>
            <a:ext cx="1036666" cy="206152"/>
          </a:xfrm>
          <a:prstGeom prst="wedgeRoundRectCallout">
            <a:avLst>
              <a:gd name="adj1" fmla="val -29334"/>
              <a:gd name="adj2" fmla="val -191237"/>
              <a:gd name="adj3" fmla="val 16667"/>
            </a:avLst>
          </a:prstGeom>
          <a:gradFill rotWithShape="0">
            <a:gsLst>
              <a:gs pos="0">
                <a:srgbClr val="FFFFCC"/>
              </a:gs>
              <a:gs pos="50000">
                <a:srgbClr val="FFFFFF"/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cs-CZ" sz="7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Událost </a:t>
            </a:r>
            <a:r>
              <a:rPr lang="cs-CZ" sz="7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CloseRun</a:t>
            </a:r>
            <a:endParaRPr lang="en-US" sz="7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8347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</a:t>
            </a:r>
            <a:r>
              <a:rPr lang="cs-CZ" sz="2000" b="1" kern="0" smtClean="0">
                <a:solidFill>
                  <a:srgbClr val="CA0383"/>
                </a:solidFill>
                <a:latin typeface="Calibri" panose="020F0502020204030204" pitchFamily="34" charset="0"/>
              </a:rPr>
              <a:t>– unikátní množiny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25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755650" y="1556792"/>
            <a:ext cx="8064896" cy="4680520"/>
          </a:xfrm>
          <a:prstGeom prst="roundRect">
            <a:avLst>
              <a:gd name="adj" fmla="val 15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</a:t>
            </a:r>
            <a:r>
              <a:rPr lang="cs-CZ" sz="750" b="1" dirty="0" err="1" smtClean="0">
                <a:latin typeface="Consolas" pitchFamily="49" charset="0"/>
              </a:rPr>
              <a:t>xd:def</a:t>
            </a:r>
            <a:r>
              <a:rPr lang="cs-CZ" sz="750" b="1" dirty="0" smtClean="0">
                <a:latin typeface="Consolas" pitchFamily="49" charset="0"/>
              </a:rPr>
              <a:t> </a:t>
            </a:r>
            <a:r>
              <a:rPr lang="cs-CZ" sz="750" b="1" dirty="0" err="1" smtClean="0">
                <a:latin typeface="Consolas" pitchFamily="49" charset="0"/>
              </a:rPr>
              <a:t>xmlns:xd</a:t>
            </a:r>
            <a:r>
              <a:rPr lang="cs-CZ" sz="750" b="1" dirty="0" smtClean="0">
                <a:latin typeface="Consolas" pitchFamily="49" charset="0"/>
              </a:rPr>
              <a:t>="http://www.syntea.cz/</a:t>
            </a:r>
            <a:r>
              <a:rPr lang="cs-CZ" sz="750" b="1" dirty="0" err="1" smtClean="0">
                <a:latin typeface="Consolas" pitchFamily="49" charset="0"/>
              </a:rPr>
              <a:t>xdef</a:t>
            </a:r>
            <a:r>
              <a:rPr lang="cs-CZ" sz="750" b="1" dirty="0" smtClean="0">
                <a:latin typeface="Consolas" pitchFamily="49" charset="0"/>
              </a:rPr>
              <a:t>/3.1" </a:t>
            </a:r>
            <a:r>
              <a:rPr lang="cs-CZ" sz="750" b="1" dirty="0" err="1" smtClean="0">
                <a:latin typeface="Consolas" pitchFamily="49" charset="0"/>
              </a:rPr>
              <a:t>xd:name</a:t>
            </a:r>
            <a:r>
              <a:rPr lang="cs-CZ" sz="750" b="1" dirty="0" smtClean="0">
                <a:latin typeface="Consolas" pitchFamily="49" charset="0"/>
              </a:rPr>
              <a:t>="Příklad" </a:t>
            </a:r>
            <a:r>
              <a:rPr lang="cs-CZ" sz="750" b="1" dirty="0" err="1" smtClean="0">
                <a:latin typeface="Consolas" pitchFamily="49" charset="0"/>
              </a:rPr>
              <a:t>xd:root</a:t>
            </a:r>
            <a:r>
              <a:rPr lang="cs-CZ" sz="750" b="1" dirty="0" smtClean="0">
                <a:latin typeface="Consolas" pitchFamily="49" charset="0"/>
              </a:rPr>
              <a:t>="</a:t>
            </a:r>
            <a:r>
              <a:rPr lang="cs-CZ" sz="750" b="1" dirty="0" err="1" smtClean="0">
                <a:latin typeface="Consolas" pitchFamily="49" charset="0"/>
              </a:rPr>
              <a:t>GAMscript</a:t>
            </a:r>
            <a:r>
              <a:rPr lang="cs-CZ" sz="750" b="1" dirty="0" smtClean="0">
                <a:latin typeface="Consolas" pitchFamily="49" charset="0"/>
              </a:rPr>
              <a:t>" &gt;</a:t>
            </a:r>
          </a:p>
          <a:p>
            <a:r>
              <a:rPr lang="cs-CZ" sz="750" b="1" dirty="0" smtClean="0">
                <a:latin typeface="Consolas" pitchFamily="49" charset="0"/>
              </a:rPr>
              <a:t> &lt;</a:t>
            </a:r>
            <a:r>
              <a:rPr lang="cs-CZ" sz="750" b="1" dirty="0" err="1">
                <a:latin typeface="Consolas" pitchFamily="49" charset="0"/>
              </a:rPr>
              <a:t>xd:declaration</a:t>
            </a:r>
            <a:r>
              <a:rPr lang="cs-CZ" sz="750" b="1" dirty="0">
                <a:latin typeface="Consolas" pitchFamily="49" charset="0"/>
              </a:rPr>
              <a:t>&gt;</a:t>
            </a:r>
          </a:p>
          <a:p>
            <a:r>
              <a:rPr lang="cs-CZ" sz="750" b="1" dirty="0" smtClean="0">
                <a:latin typeface="Consolas" pitchFamily="49" charset="0"/>
              </a:rPr>
              <a:t>     type </a:t>
            </a:r>
            <a:r>
              <a:rPr lang="cs-CZ" sz="750" b="1" dirty="0" err="1">
                <a:latin typeface="Consolas" pitchFamily="49" charset="0"/>
              </a:rPr>
              <a:t>isCheckPoint</a:t>
            </a:r>
            <a:r>
              <a:rPr lang="cs-CZ" sz="750" b="1" dirty="0">
                <a:latin typeface="Consolas" pitchFamily="49" charset="0"/>
              </a:rPr>
              <a:t>        </a:t>
            </a:r>
            <a:r>
              <a:rPr lang="cs-CZ" sz="750" b="1" dirty="0" err="1">
                <a:latin typeface="Consolas" pitchFamily="49" charset="0"/>
              </a:rPr>
              <a:t>enum</a:t>
            </a:r>
            <a:r>
              <a:rPr lang="cs-CZ" sz="750" b="1" dirty="0">
                <a:latin typeface="Consolas" pitchFamily="49" charset="0"/>
              </a:rPr>
              <a:t>('Y','N');</a:t>
            </a:r>
          </a:p>
          <a:p>
            <a:r>
              <a:rPr lang="cs-CZ" sz="750" b="1" dirty="0">
                <a:latin typeface="Consolas" pitchFamily="49" charset="0"/>
              </a:rPr>
              <a:t>     type </a:t>
            </a:r>
            <a:r>
              <a:rPr lang="cs-CZ" sz="750" b="1" dirty="0" err="1">
                <a:latin typeface="Consolas" pitchFamily="49" charset="0"/>
              </a:rPr>
              <a:t>name</a:t>
            </a:r>
            <a:r>
              <a:rPr lang="cs-CZ" sz="750" b="1" dirty="0">
                <a:latin typeface="Consolas" pitchFamily="49" charset="0"/>
              </a:rPr>
              <a:t>                </a:t>
            </a:r>
            <a:r>
              <a:rPr lang="cs-CZ" sz="750" b="1" dirty="0" err="1">
                <a:latin typeface="Consolas" pitchFamily="49" charset="0"/>
              </a:rPr>
              <a:t>string</a:t>
            </a:r>
            <a:r>
              <a:rPr lang="cs-CZ" sz="750" b="1" dirty="0">
                <a:latin typeface="Consolas" pitchFamily="49" charset="0"/>
              </a:rPr>
              <a:t>(1,30);</a:t>
            </a:r>
          </a:p>
          <a:p>
            <a:r>
              <a:rPr lang="cs-CZ" sz="750" b="1" dirty="0">
                <a:latin typeface="Consolas" pitchFamily="49" charset="0"/>
              </a:rPr>
              <a:t>     type </a:t>
            </a:r>
            <a:r>
              <a:rPr lang="cs-CZ" sz="750" b="1" dirty="0" err="1">
                <a:latin typeface="Consolas" pitchFamily="49" charset="0"/>
              </a:rPr>
              <a:t>script</a:t>
            </a:r>
            <a:r>
              <a:rPr lang="cs-CZ" sz="750" b="1" dirty="0">
                <a:latin typeface="Consolas" pitchFamily="49" charset="0"/>
              </a:rPr>
              <a:t>              </a:t>
            </a:r>
            <a:r>
              <a:rPr lang="cs-CZ" sz="750" b="1" dirty="0" err="1">
                <a:latin typeface="Consolas" pitchFamily="49" charset="0"/>
              </a:rPr>
              <a:t>string</a:t>
            </a:r>
            <a:r>
              <a:rPr lang="cs-CZ" sz="750" b="1" dirty="0">
                <a:latin typeface="Consolas" pitchFamily="49" charset="0"/>
              </a:rPr>
              <a:t>();</a:t>
            </a:r>
          </a:p>
          <a:p>
            <a:r>
              <a:rPr lang="cs-CZ" sz="750" b="1" dirty="0">
                <a:latin typeface="Consolas" pitchFamily="49" charset="0"/>
              </a:rPr>
              <a:t>     type </a:t>
            </a:r>
            <a:r>
              <a:rPr lang="cs-CZ" sz="750" b="1" dirty="0" err="1">
                <a:latin typeface="Consolas" pitchFamily="49" charset="0"/>
              </a:rPr>
              <a:t>timeOverSec</a:t>
            </a:r>
            <a:r>
              <a:rPr lang="cs-CZ" sz="750" b="1" dirty="0">
                <a:latin typeface="Consolas" pitchFamily="49" charset="0"/>
              </a:rPr>
              <a:t>         </a:t>
            </a:r>
            <a:r>
              <a:rPr lang="cs-CZ" sz="750" b="1" dirty="0" err="1">
                <a:latin typeface="Consolas" pitchFamily="49" charset="0"/>
              </a:rPr>
              <a:t>int</a:t>
            </a:r>
            <a:r>
              <a:rPr lang="cs-CZ" sz="750" b="1" dirty="0">
                <a:latin typeface="Consolas" pitchFamily="49" charset="0"/>
              </a:rPr>
              <a:t>(1,3600);</a:t>
            </a:r>
          </a:p>
          <a:p>
            <a:r>
              <a:rPr lang="cs-CZ" sz="750" b="1" dirty="0" smtClean="0">
                <a:latin typeface="Consolas" pitchFamily="49" charset="0"/>
              </a:rPr>
              <a:t>     </a:t>
            </a:r>
            <a:r>
              <a:rPr lang="cs-CZ" sz="750" b="1" dirty="0" err="1" smtClean="0">
                <a:latin typeface="Consolas" pitchFamily="49" charset="0"/>
              </a:rPr>
              <a:t>uniqueSet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stateSet</a:t>
            </a:r>
            <a:r>
              <a:rPr lang="cs-CZ" sz="750" b="1" dirty="0" smtClean="0">
                <a:latin typeface="Consolas" pitchFamily="49" charset="0"/>
              </a:rPr>
              <a:t>       </a:t>
            </a:r>
            <a:r>
              <a:rPr lang="cs-CZ" sz="750" b="1" dirty="0">
                <a:latin typeface="Consolas" pitchFamily="49" charset="0"/>
              </a:rPr>
              <a:t>{</a:t>
            </a:r>
            <a:r>
              <a:rPr lang="cs-CZ" sz="750" b="1" dirty="0" err="1" smtClean="0">
                <a:latin typeface="Consolas" pitchFamily="49" charset="0"/>
              </a:rPr>
              <a:t>stateName</a:t>
            </a:r>
            <a:r>
              <a:rPr lang="cs-CZ" sz="750" b="1" dirty="0">
                <a:latin typeface="Consolas" pitchFamily="49" charset="0"/>
              </a:rPr>
              <a:t>:      </a:t>
            </a:r>
            <a:r>
              <a:rPr lang="cs-CZ" sz="750" b="1" dirty="0" err="1">
                <a:latin typeface="Consolas" pitchFamily="49" charset="0"/>
              </a:rPr>
              <a:t>name</a:t>
            </a:r>
            <a:r>
              <a:rPr lang="cs-CZ" sz="750" b="1" dirty="0">
                <a:latin typeface="Consolas" pitchFamily="49" charset="0"/>
              </a:rPr>
              <a:t>()};</a:t>
            </a:r>
          </a:p>
          <a:p>
            <a:r>
              <a:rPr lang="cs-CZ" sz="750" b="1" dirty="0" smtClean="0">
                <a:latin typeface="Consolas" pitchFamily="49" charset="0"/>
              </a:rPr>
              <a:t>     </a:t>
            </a:r>
            <a:r>
              <a:rPr lang="cs-CZ" sz="750" b="1" dirty="0" err="1" smtClean="0">
                <a:latin typeface="Consolas" pitchFamily="49" charset="0"/>
              </a:rPr>
              <a:t>uniqueSet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eventStateSet</a:t>
            </a:r>
            <a:r>
              <a:rPr lang="cs-CZ" sz="750" b="1" dirty="0" smtClean="0">
                <a:latin typeface="Consolas" pitchFamily="49" charset="0"/>
              </a:rPr>
              <a:t>  {</a:t>
            </a:r>
            <a:r>
              <a:rPr lang="cs-CZ" sz="750" b="1" dirty="0" err="1" smtClean="0">
                <a:latin typeface="Consolas" pitchFamily="49" charset="0"/>
              </a:rPr>
              <a:t>stateName</a:t>
            </a:r>
            <a:r>
              <a:rPr lang="cs-CZ" sz="750" b="1" dirty="0">
                <a:latin typeface="Consolas" pitchFamily="49" charset="0"/>
              </a:rPr>
              <a:t>:      </a:t>
            </a:r>
            <a:r>
              <a:rPr lang="cs-CZ" sz="750" b="1" dirty="0" err="1">
                <a:latin typeface="Consolas" pitchFamily="49" charset="0"/>
              </a:rPr>
              <a:t>name</a:t>
            </a:r>
            <a:r>
              <a:rPr lang="cs-CZ" sz="750" b="1" dirty="0">
                <a:latin typeface="Consolas" pitchFamily="49" charset="0"/>
              </a:rPr>
              <a:t>();     </a:t>
            </a:r>
            <a:r>
              <a:rPr lang="cs-CZ" sz="750" b="1" dirty="0" err="1">
                <a:latin typeface="Consolas" pitchFamily="49" charset="0"/>
              </a:rPr>
              <a:t>eventName</a:t>
            </a:r>
            <a:r>
              <a:rPr lang="cs-CZ" sz="750" b="1" dirty="0">
                <a:latin typeface="Consolas" pitchFamily="49" charset="0"/>
              </a:rPr>
              <a:t>: </a:t>
            </a:r>
            <a:r>
              <a:rPr lang="cs-CZ" sz="750" b="1" dirty="0" err="1">
                <a:latin typeface="Consolas" pitchFamily="49" charset="0"/>
              </a:rPr>
              <a:t>name</a:t>
            </a:r>
            <a:r>
              <a:rPr lang="cs-CZ" sz="750" b="1" dirty="0">
                <a:latin typeface="Consolas" pitchFamily="49" charset="0"/>
              </a:rPr>
              <a:t>()};</a:t>
            </a:r>
          </a:p>
          <a:p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>
                <a:latin typeface="Consolas" pitchFamily="49" charset="0"/>
              </a:rPr>
              <a:t>&lt;/</a:t>
            </a:r>
            <a:r>
              <a:rPr lang="cs-CZ" sz="750" b="1" dirty="0" err="1">
                <a:latin typeface="Consolas" pitchFamily="49" charset="0"/>
              </a:rPr>
              <a:t>xd:declaration</a:t>
            </a:r>
            <a:r>
              <a:rPr lang="cs-CZ" sz="750" b="1" dirty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750" b="1" dirty="0" smtClean="0">
              <a:latin typeface="Consolas" pitchFamily="49" charset="0"/>
            </a:endParaRPr>
          </a:p>
          <a:p>
            <a:r>
              <a:rPr lang="cs-CZ" sz="750" b="1" dirty="0" smtClean="0">
                <a:latin typeface="Consolas" pitchFamily="49" charset="0"/>
              </a:rPr>
              <a:t> &lt;</a:t>
            </a:r>
            <a:r>
              <a:rPr lang="cs-CZ" sz="750" b="1" dirty="0" err="1" smtClean="0">
                <a:latin typeface="Consolas" pitchFamily="49" charset="0"/>
              </a:rPr>
              <a:t>GAMscript</a:t>
            </a:r>
            <a:r>
              <a:rPr lang="cs-CZ" sz="750" b="1" dirty="0" smtClean="0">
                <a:latin typeface="Consolas" pitchFamily="49" charset="0"/>
              </a:rPr>
              <a:t>   </a:t>
            </a:r>
            <a:r>
              <a:rPr lang="cs-CZ" sz="750" b="1" dirty="0" err="1" smtClean="0">
                <a:latin typeface="Consolas" pitchFamily="49" charset="0"/>
              </a:rPr>
              <a:t>Name</a:t>
            </a:r>
            <a:r>
              <a:rPr lang="cs-CZ" sz="750" b="1" dirty="0" smtClean="0">
                <a:latin typeface="Consolas" pitchFamily="49" charset="0"/>
              </a:rPr>
              <a:t>="</a:t>
            </a:r>
            <a:r>
              <a:rPr lang="cs-CZ" sz="750" b="1" dirty="0" err="1" smtClean="0">
                <a:latin typeface="Consolas" pitchFamily="49" charset="0"/>
              </a:rPr>
              <a:t>name</a:t>
            </a:r>
            <a:r>
              <a:rPr lang="cs-CZ" sz="750" b="1" dirty="0" smtClean="0">
                <a:latin typeface="Consolas" pitchFamily="49" charset="0"/>
              </a:rPr>
              <a:t>()" &gt;</a:t>
            </a:r>
          </a:p>
          <a:p>
            <a:endParaRPr lang="cs-CZ" sz="750" b="1" dirty="0">
              <a:latin typeface="Consolas" pitchFamily="49" charset="0"/>
            </a:endParaRPr>
          </a:p>
          <a:p>
            <a:r>
              <a:rPr lang="cs-CZ" sz="750" b="1" dirty="0">
                <a:latin typeface="Consolas" pitchFamily="49" charset="0"/>
              </a:rPr>
              <a:t>   &lt;</a:t>
            </a:r>
            <a:r>
              <a:rPr lang="cs-CZ" sz="750" b="1" dirty="0" err="1" smtClean="0">
                <a:latin typeface="Consolas" pitchFamily="49" charset="0"/>
              </a:rPr>
              <a:t>State</a:t>
            </a:r>
            <a:r>
              <a:rPr lang="cs-CZ" sz="750" b="1" dirty="0" smtClean="0">
                <a:latin typeface="Consolas" pitchFamily="49" charset="0"/>
              </a:rPr>
              <a:t>        </a:t>
            </a:r>
            <a:r>
              <a:rPr lang="cs-CZ" sz="750" b="1" dirty="0" err="1" smtClean="0">
                <a:latin typeface="Consolas" pitchFamily="49" charset="0"/>
              </a:rPr>
              <a:t>Name</a:t>
            </a:r>
            <a:r>
              <a:rPr lang="cs-CZ" sz="750" b="1" dirty="0" smtClean="0">
                <a:latin typeface="Consolas" pitchFamily="49" charset="0"/>
              </a:rPr>
              <a:t>="</a:t>
            </a:r>
            <a:r>
              <a:rPr lang="cs-CZ" sz="750" b="1" dirty="0" err="1" smtClean="0">
                <a:latin typeface="Consolas" pitchFamily="49" charset="0"/>
              </a:rPr>
              <a:t>enum</a:t>
            </a:r>
            <a:r>
              <a:rPr lang="cs-CZ" sz="750" b="1" dirty="0">
                <a:latin typeface="Consolas" pitchFamily="49" charset="0"/>
              </a:rPr>
              <a:t>('START')"&gt;</a:t>
            </a:r>
          </a:p>
          <a:p>
            <a:r>
              <a:rPr lang="cs-CZ" sz="750" b="1" dirty="0">
                <a:latin typeface="Consolas" pitchFamily="49" charset="0"/>
              </a:rPr>
              <a:t>     &lt;</a:t>
            </a:r>
            <a:r>
              <a:rPr lang="cs-CZ" sz="750" b="1" dirty="0" err="1" smtClean="0">
                <a:latin typeface="Consolas" pitchFamily="49" charset="0"/>
              </a:rPr>
              <a:t>Event</a:t>
            </a:r>
            <a:r>
              <a:rPr lang="cs-CZ" sz="750" b="1" dirty="0" smtClean="0">
                <a:latin typeface="Consolas" pitchFamily="49" charset="0"/>
              </a:rPr>
              <a:t>      </a:t>
            </a:r>
            <a:r>
              <a:rPr lang="cs-CZ" sz="750" b="1" dirty="0" err="1" smtClean="0">
                <a:latin typeface="Consolas" pitchFamily="49" charset="0"/>
              </a:rPr>
              <a:t>xd:script</a:t>
            </a:r>
            <a:r>
              <a:rPr lang="cs-CZ" sz="750" b="1" dirty="0">
                <a:latin typeface="Consolas" pitchFamily="49" charset="0"/>
              </a:rPr>
              <a:t>="</a:t>
            </a:r>
            <a:r>
              <a:rPr lang="cs-CZ" sz="750" b="1" dirty="0" err="1">
                <a:latin typeface="Consolas" pitchFamily="49" charset="0"/>
              </a:rPr>
              <a:t>ref</a:t>
            </a:r>
            <a:r>
              <a:rPr lang="cs-CZ" sz="750" b="1" dirty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Event</a:t>
            </a:r>
            <a:r>
              <a:rPr lang="cs-CZ" sz="750" b="1" dirty="0" smtClean="0">
                <a:latin typeface="Consolas" pitchFamily="49" charset="0"/>
              </a:rPr>
              <a:t>" </a:t>
            </a:r>
            <a:r>
              <a:rPr lang="cs-CZ" sz="750" b="1" dirty="0" err="1" smtClean="0">
                <a:latin typeface="Consolas" pitchFamily="49" charset="0"/>
              </a:rPr>
              <a:t>Name</a:t>
            </a:r>
            <a:r>
              <a:rPr lang="cs-CZ" sz="750" b="1" dirty="0" smtClean="0">
                <a:latin typeface="Consolas" pitchFamily="49" charset="0"/>
              </a:rPr>
              <a:t>="</a:t>
            </a:r>
            <a:r>
              <a:rPr lang="cs-CZ" sz="750" b="1" dirty="0" err="1" smtClean="0">
                <a:latin typeface="Consolas" pitchFamily="49" charset="0"/>
              </a:rPr>
              <a:t>enum</a:t>
            </a:r>
            <a:r>
              <a:rPr lang="cs-CZ" sz="750" b="1" dirty="0">
                <a:latin typeface="Consolas" pitchFamily="49" charset="0"/>
              </a:rPr>
              <a:t>('INIT')"</a:t>
            </a:r>
          </a:p>
          <a:p>
            <a:r>
              <a:rPr lang="cs-CZ" sz="750" b="1" dirty="0">
                <a:latin typeface="Consolas" pitchFamily="49" charset="0"/>
              </a:rPr>
              <a:t>     /&gt;</a:t>
            </a:r>
          </a:p>
          <a:p>
            <a:r>
              <a:rPr lang="cs-CZ" sz="750" b="1" dirty="0">
                <a:latin typeface="Consolas" pitchFamily="49" charset="0"/>
              </a:rPr>
              <a:t>   &lt;/</a:t>
            </a:r>
            <a:r>
              <a:rPr lang="cs-CZ" sz="750" b="1" dirty="0" err="1" smtClean="0">
                <a:latin typeface="Consolas" pitchFamily="49" charset="0"/>
              </a:rPr>
              <a:t>State</a:t>
            </a:r>
            <a:r>
              <a:rPr lang="cs-CZ" sz="750" b="1" dirty="0" smtClean="0">
                <a:latin typeface="Consolas" pitchFamily="49" charset="0"/>
              </a:rPr>
              <a:t>&gt;</a:t>
            </a:r>
            <a:endParaRPr lang="cs-CZ" sz="750" b="1" dirty="0">
              <a:latin typeface="Consolas" panose="020B0609020204030204" pitchFamily="49" charset="0"/>
            </a:endParaRPr>
          </a:p>
          <a:p>
            <a:endParaRPr lang="cs-CZ" sz="750" b="1" dirty="0">
              <a:latin typeface="Consolas" panose="020B0609020204030204" pitchFamily="49" charset="0"/>
            </a:endParaRPr>
          </a:p>
          <a:p>
            <a:r>
              <a:rPr lang="cs-CZ" sz="750" b="1" dirty="0">
                <a:latin typeface="Consolas" pitchFamily="49" charset="0"/>
              </a:rPr>
              <a:t>   &lt;</a:t>
            </a:r>
            <a:r>
              <a:rPr lang="cs-CZ" sz="750" b="1" dirty="0" err="1">
                <a:latin typeface="Consolas" pitchFamily="49" charset="0"/>
              </a:rPr>
              <a:t>xd:mixed</a:t>
            </a:r>
            <a:r>
              <a:rPr lang="cs-CZ" sz="750" b="1" dirty="0">
                <a:latin typeface="Consolas" pitchFamily="49" charset="0"/>
              </a:rPr>
              <a:t>&gt;</a:t>
            </a:r>
          </a:p>
          <a:p>
            <a:r>
              <a:rPr lang="cs-CZ" sz="750" b="1" dirty="0">
                <a:latin typeface="Consolas" pitchFamily="49" charset="0"/>
              </a:rPr>
              <a:t>     &lt;</a:t>
            </a:r>
            <a:r>
              <a:rPr lang="cs-CZ" sz="750" b="1" dirty="0" err="1" smtClean="0">
                <a:latin typeface="Consolas" pitchFamily="49" charset="0"/>
              </a:rPr>
              <a:t>State</a:t>
            </a:r>
            <a:r>
              <a:rPr lang="cs-CZ" sz="750" b="1" dirty="0" smtClean="0">
                <a:latin typeface="Consolas" pitchFamily="49" charset="0"/>
              </a:rPr>
              <a:t>       </a:t>
            </a:r>
            <a:r>
              <a:rPr lang="cs-CZ" sz="750" b="1" dirty="0" err="1" smtClean="0">
                <a:latin typeface="Consolas" pitchFamily="49" charset="0"/>
              </a:rPr>
              <a:t>xd:script</a:t>
            </a:r>
            <a:r>
              <a:rPr lang="cs-CZ" sz="750" b="1" dirty="0">
                <a:latin typeface="Consolas" pitchFamily="49" charset="0"/>
              </a:rPr>
              <a:t>="0</a:t>
            </a:r>
            <a:r>
              <a:rPr lang="cs-CZ" sz="750" b="1" dirty="0" smtClean="0">
                <a:latin typeface="Consolas" pitchFamily="49" charset="0"/>
              </a:rPr>
              <a:t>.." </a:t>
            </a:r>
            <a:r>
              <a:rPr lang="cs-CZ" sz="750" b="1" dirty="0" err="1" smtClean="0">
                <a:latin typeface="Consolas" pitchFamily="49" charset="0"/>
              </a:rPr>
              <a:t>Name</a:t>
            </a:r>
            <a:r>
              <a:rPr lang="cs-CZ" sz="750" b="1" dirty="0" smtClean="0">
                <a:latin typeface="Consolas" pitchFamily="49" charset="0"/>
              </a:rPr>
              <a:t>="(stateSet.stateName.ID</a:t>
            </a:r>
            <a:r>
              <a:rPr lang="cs-CZ" sz="750" b="1" dirty="0">
                <a:latin typeface="Consolas" pitchFamily="49" charset="0"/>
              </a:rPr>
              <a:t>() AND </a:t>
            </a:r>
            <a:r>
              <a:rPr lang="cs-CZ" sz="750" b="1" dirty="0" err="1" smtClean="0">
                <a:latin typeface="Consolas" pitchFamily="49" charset="0"/>
              </a:rPr>
              <a:t>eventStateSet.stateName</a:t>
            </a:r>
            <a:r>
              <a:rPr lang="cs-CZ" sz="750" b="1" dirty="0" smtClean="0">
                <a:latin typeface="Consolas" pitchFamily="49" charset="0"/>
              </a:rPr>
              <a:t>)" </a:t>
            </a:r>
            <a:r>
              <a:rPr lang="cs-CZ" sz="750" b="1" dirty="0" err="1">
                <a:latin typeface="Consolas" pitchFamily="49" charset="0"/>
              </a:rPr>
              <a:t>CheckPoint</a:t>
            </a:r>
            <a:r>
              <a:rPr lang="cs-CZ" sz="750" b="1" dirty="0">
                <a:latin typeface="Consolas" pitchFamily="49" charset="0"/>
              </a:rPr>
              <a:t>="?</a:t>
            </a:r>
            <a:r>
              <a:rPr lang="cs-CZ" sz="750" b="1" dirty="0" err="1">
                <a:latin typeface="Consolas" pitchFamily="49" charset="0"/>
              </a:rPr>
              <a:t>isCheckPoint</a:t>
            </a:r>
            <a:r>
              <a:rPr lang="cs-CZ" sz="750" b="1" dirty="0" smtClean="0">
                <a:latin typeface="Consolas" pitchFamily="49" charset="0"/>
              </a:rPr>
              <a:t>()"</a:t>
            </a:r>
          </a:p>
          <a:p>
            <a:r>
              <a:rPr lang="cs-CZ" sz="750" b="1" dirty="0">
                <a:latin typeface="Consolas" pitchFamily="49" charset="0"/>
              </a:rPr>
              <a:t> </a:t>
            </a:r>
            <a:r>
              <a:rPr lang="cs-CZ" sz="750" b="1" dirty="0" smtClean="0">
                <a:latin typeface="Consolas" pitchFamily="49" charset="0"/>
              </a:rPr>
              <a:t>                 </a:t>
            </a:r>
            <a:r>
              <a:rPr lang="cs-CZ" sz="750" b="1" dirty="0" err="1">
                <a:latin typeface="Consolas" pitchFamily="49" charset="0"/>
              </a:rPr>
              <a:t>TimeOverStep</a:t>
            </a:r>
            <a:r>
              <a:rPr lang="cs-CZ" sz="750" b="1" dirty="0">
                <a:latin typeface="Consolas" pitchFamily="49" charset="0"/>
              </a:rPr>
              <a:t>="?</a:t>
            </a:r>
            <a:r>
              <a:rPr lang="cs-CZ" sz="750" b="1" dirty="0" err="1">
                <a:latin typeface="Consolas" pitchFamily="49" charset="0"/>
              </a:rPr>
              <a:t>timeOverSec</a:t>
            </a:r>
            <a:r>
              <a:rPr lang="cs-CZ" sz="750" b="1" dirty="0">
                <a:latin typeface="Consolas" pitchFamily="49" charset="0"/>
              </a:rPr>
              <a:t>()"&gt;</a:t>
            </a:r>
            <a:endParaRPr lang="cs-CZ" sz="750" b="1" dirty="0">
              <a:latin typeface="Consolas" pitchFamily="49" charset="0"/>
            </a:endParaRPr>
          </a:p>
          <a:p>
            <a:r>
              <a:rPr lang="cs-CZ" sz="750" b="1" dirty="0">
                <a:latin typeface="Consolas" pitchFamily="49" charset="0"/>
              </a:rPr>
              <a:t> </a:t>
            </a:r>
            <a:r>
              <a:rPr lang="cs-CZ" sz="750" b="1" dirty="0" smtClean="0">
                <a:latin typeface="Consolas" pitchFamily="49" charset="0"/>
              </a:rPr>
              <a:t>                 ?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>
                <a:latin typeface="Consolas" pitchFamily="49" charset="0"/>
              </a:rPr>
              <a:t>();</a:t>
            </a:r>
          </a:p>
          <a:p>
            <a:r>
              <a:rPr lang="cs-CZ" sz="750" b="1" dirty="0">
                <a:latin typeface="Consolas" pitchFamily="49" charset="0"/>
              </a:rPr>
              <a:t>       &lt;</a:t>
            </a:r>
            <a:r>
              <a:rPr lang="cs-CZ" sz="750" b="1" dirty="0" err="1">
                <a:latin typeface="Consolas" pitchFamily="49" charset="0"/>
              </a:rPr>
              <a:t>Event</a:t>
            </a:r>
            <a:r>
              <a:rPr lang="cs-CZ" sz="750" b="1" dirty="0">
                <a:latin typeface="Consolas" pitchFamily="49" charset="0"/>
              </a:rPr>
              <a:t> </a:t>
            </a:r>
            <a:r>
              <a:rPr lang="cs-CZ" sz="750" b="1" dirty="0" smtClean="0">
                <a:latin typeface="Consolas" pitchFamily="49" charset="0"/>
              </a:rPr>
              <a:t>    </a:t>
            </a:r>
            <a:r>
              <a:rPr lang="cs-CZ" sz="750" b="1" dirty="0" err="1" smtClean="0">
                <a:latin typeface="Consolas" pitchFamily="49" charset="0"/>
              </a:rPr>
              <a:t>xd:script</a:t>
            </a:r>
            <a:r>
              <a:rPr lang="cs-CZ" sz="750" b="1" dirty="0">
                <a:latin typeface="Consolas" pitchFamily="49" charset="0"/>
              </a:rPr>
              <a:t>="1..;  </a:t>
            </a:r>
            <a:r>
              <a:rPr lang="cs-CZ" sz="750" b="1" dirty="0" err="1">
                <a:latin typeface="Consolas" pitchFamily="49" charset="0"/>
              </a:rPr>
              <a:t>ref</a:t>
            </a:r>
            <a:r>
              <a:rPr lang="cs-CZ" sz="750" b="1" dirty="0">
                <a:latin typeface="Consolas" pitchFamily="49" charset="0"/>
              </a:rPr>
              <a:t> </a:t>
            </a:r>
            <a:r>
              <a:rPr lang="cs-CZ" sz="750" b="1" dirty="0" err="1">
                <a:latin typeface="Consolas" pitchFamily="49" charset="0"/>
              </a:rPr>
              <a:t>Event</a:t>
            </a:r>
            <a:r>
              <a:rPr lang="cs-CZ" sz="750" b="1" dirty="0">
                <a:latin typeface="Consolas" pitchFamily="49" charset="0"/>
              </a:rPr>
              <a:t>"/&gt;</a:t>
            </a:r>
          </a:p>
          <a:p>
            <a:r>
              <a:rPr lang="cs-CZ" sz="750" b="1" dirty="0">
                <a:latin typeface="Consolas" pitchFamily="49" charset="0"/>
              </a:rPr>
              <a:t>     &lt;/</a:t>
            </a:r>
            <a:r>
              <a:rPr lang="cs-CZ" sz="750" b="1" dirty="0" err="1" smtClean="0">
                <a:latin typeface="Consolas" pitchFamily="49" charset="0"/>
              </a:rPr>
              <a:t>State</a:t>
            </a:r>
            <a:r>
              <a:rPr lang="cs-CZ" sz="750" b="1" dirty="0" smtClean="0">
                <a:latin typeface="Consolas" pitchFamily="49" charset="0"/>
              </a:rPr>
              <a:t>&gt;</a:t>
            </a:r>
            <a:endParaRPr lang="cs-CZ" sz="750" b="1" dirty="0">
              <a:latin typeface="Consolas" pitchFamily="49" charset="0"/>
            </a:endParaRPr>
          </a:p>
          <a:p>
            <a:endParaRPr lang="cs-CZ" sz="750" b="1" dirty="0">
              <a:latin typeface="Consolas" pitchFamily="49" charset="0"/>
            </a:endParaRPr>
          </a:p>
          <a:p>
            <a:r>
              <a:rPr lang="cs-CZ" sz="750" b="1" dirty="0">
                <a:latin typeface="Consolas" pitchFamily="49" charset="0"/>
              </a:rPr>
              <a:t>     &lt;</a:t>
            </a:r>
            <a:r>
              <a:rPr lang="cs-CZ" sz="750" b="1" dirty="0" err="1" smtClean="0">
                <a:latin typeface="Consolas" pitchFamily="49" charset="0"/>
              </a:rPr>
              <a:t>IfState</a:t>
            </a:r>
            <a:r>
              <a:rPr lang="cs-CZ" sz="750" b="1" dirty="0" smtClean="0">
                <a:latin typeface="Consolas" pitchFamily="49" charset="0"/>
              </a:rPr>
              <a:t>     </a:t>
            </a:r>
            <a:r>
              <a:rPr lang="cs-CZ" sz="750" b="1" dirty="0" err="1" smtClean="0">
                <a:latin typeface="Consolas" pitchFamily="49" charset="0"/>
              </a:rPr>
              <a:t>xd:script</a:t>
            </a:r>
            <a:r>
              <a:rPr lang="cs-CZ" sz="750" b="1" dirty="0">
                <a:latin typeface="Consolas" pitchFamily="49" charset="0"/>
              </a:rPr>
              <a:t>="0</a:t>
            </a:r>
            <a:r>
              <a:rPr lang="cs-CZ" sz="750" b="1" dirty="0" smtClean="0">
                <a:latin typeface="Consolas" pitchFamily="49" charset="0"/>
              </a:rPr>
              <a:t>..;" </a:t>
            </a:r>
            <a:r>
              <a:rPr lang="cs-CZ" sz="750" b="1" dirty="0" err="1" smtClean="0">
                <a:latin typeface="Consolas" pitchFamily="49" charset="0"/>
              </a:rPr>
              <a:t>Name</a:t>
            </a:r>
            <a:r>
              <a:rPr lang="cs-CZ" sz="750" b="1" dirty="0" smtClean="0">
                <a:latin typeface="Consolas" pitchFamily="49" charset="0"/>
              </a:rPr>
              <a:t>="stateSet.stateName.ID</a:t>
            </a:r>
            <a:r>
              <a:rPr lang="cs-CZ" sz="750" b="1" dirty="0">
                <a:latin typeface="Consolas" pitchFamily="49" charset="0"/>
              </a:rPr>
              <a:t>()" &gt;</a:t>
            </a:r>
          </a:p>
          <a:p>
            <a:r>
              <a:rPr lang="cs-CZ" sz="750" b="1" dirty="0">
                <a:latin typeface="Consolas" pitchFamily="49" charset="0"/>
              </a:rPr>
              <a:t>           </a:t>
            </a:r>
            <a:r>
              <a:rPr lang="cs-CZ" sz="750" b="1" dirty="0" smtClean="0">
                <a:latin typeface="Consolas" pitchFamily="49" charset="0"/>
              </a:rPr>
              <a:t>?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>
                <a:latin typeface="Consolas" pitchFamily="49" charset="0"/>
              </a:rPr>
              <a:t>();</a:t>
            </a:r>
          </a:p>
          <a:p>
            <a:r>
              <a:rPr lang="cs-CZ" sz="750" b="1" dirty="0">
                <a:latin typeface="Consolas" pitchFamily="49" charset="0"/>
              </a:rPr>
              <a:t>       &lt;</a:t>
            </a:r>
            <a:r>
              <a:rPr lang="cs-CZ" sz="750" b="1" dirty="0" err="1" smtClean="0">
                <a:latin typeface="Consolas" pitchFamily="49" charset="0"/>
              </a:rPr>
              <a:t>Condition</a:t>
            </a:r>
            <a:r>
              <a:rPr lang="cs-CZ" sz="750" b="1" dirty="0" smtClean="0">
                <a:latin typeface="Consolas" pitchFamily="49" charset="0"/>
              </a:rPr>
              <a:t>&gt;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>
                <a:latin typeface="Consolas" pitchFamily="49" charset="0"/>
              </a:rPr>
              <a:t>();&lt;/</a:t>
            </a:r>
            <a:r>
              <a:rPr lang="cs-CZ" sz="750" b="1" dirty="0" err="1">
                <a:latin typeface="Consolas" pitchFamily="49" charset="0"/>
              </a:rPr>
              <a:t>Condition</a:t>
            </a:r>
            <a:r>
              <a:rPr lang="cs-CZ" sz="750" b="1" dirty="0">
                <a:latin typeface="Consolas" pitchFamily="49" charset="0"/>
              </a:rPr>
              <a:t>&gt;</a:t>
            </a:r>
          </a:p>
          <a:p>
            <a:r>
              <a:rPr lang="en-US" sz="750" b="1" dirty="0">
                <a:latin typeface="Consolas" pitchFamily="49" charset="0"/>
              </a:rPr>
              <a:t>       &lt;Yes  </a:t>
            </a:r>
            <a:r>
              <a:rPr lang="cs-CZ" sz="750" b="1" dirty="0" smtClean="0">
                <a:latin typeface="Consolas" pitchFamily="49" charset="0"/>
              </a:rPr>
              <a:t>    </a:t>
            </a:r>
            <a:r>
              <a:rPr lang="en-US" sz="750" b="1" dirty="0" smtClean="0">
                <a:latin typeface="Consolas" pitchFamily="49" charset="0"/>
              </a:rPr>
              <a:t> </a:t>
            </a:r>
            <a:r>
              <a:rPr lang="en-US" sz="750" b="1" dirty="0" err="1" smtClean="0">
                <a:latin typeface="Consolas" pitchFamily="49" charset="0"/>
              </a:rPr>
              <a:t>NextStat</a:t>
            </a:r>
            <a:r>
              <a:rPr lang="cs-CZ" sz="750" b="1" dirty="0" smtClean="0">
                <a:latin typeface="Consolas" pitchFamily="49" charset="0"/>
              </a:rPr>
              <a:t>e</a:t>
            </a:r>
            <a:r>
              <a:rPr lang="en-US" sz="750" b="1" dirty="0" smtClean="0">
                <a:latin typeface="Consolas" pitchFamily="49" charset="0"/>
              </a:rPr>
              <a:t>="stat</a:t>
            </a:r>
            <a:r>
              <a:rPr lang="cs-CZ" sz="750" b="1" dirty="0" smtClean="0">
                <a:latin typeface="Consolas" pitchFamily="49" charset="0"/>
              </a:rPr>
              <a:t>e</a:t>
            </a:r>
            <a:r>
              <a:rPr lang="en-US" sz="750" b="1" dirty="0" err="1" smtClean="0">
                <a:latin typeface="Consolas" pitchFamily="49" charset="0"/>
              </a:rPr>
              <a:t>Set.stat</a:t>
            </a:r>
            <a:r>
              <a:rPr lang="cs-CZ" sz="750" b="1" dirty="0" smtClean="0">
                <a:latin typeface="Consolas" pitchFamily="49" charset="0"/>
              </a:rPr>
              <a:t>e</a:t>
            </a:r>
            <a:r>
              <a:rPr lang="en-US" sz="750" b="1" dirty="0" err="1" smtClean="0">
                <a:latin typeface="Consolas" pitchFamily="49" charset="0"/>
              </a:rPr>
              <a:t>Name.IDREF</a:t>
            </a:r>
            <a:r>
              <a:rPr lang="en-US" sz="750" b="1" dirty="0">
                <a:latin typeface="Consolas" pitchFamily="49" charset="0"/>
              </a:rPr>
              <a:t>()"&gt;? script();&lt;/Yes&gt;</a:t>
            </a:r>
          </a:p>
          <a:p>
            <a:r>
              <a:rPr lang="en-US" sz="750" b="1" dirty="0">
                <a:latin typeface="Consolas" pitchFamily="49" charset="0"/>
              </a:rPr>
              <a:t>       &lt;No    </a:t>
            </a:r>
            <a:r>
              <a:rPr lang="cs-CZ" sz="750" b="1" dirty="0" smtClean="0">
                <a:latin typeface="Consolas" pitchFamily="49" charset="0"/>
              </a:rPr>
              <a:t>    </a:t>
            </a:r>
            <a:r>
              <a:rPr lang="en-US" sz="750" b="1" dirty="0" err="1" smtClean="0">
                <a:latin typeface="Consolas" pitchFamily="49" charset="0"/>
              </a:rPr>
              <a:t>NextStat</a:t>
            </a:r>
            <a:r>
              <a:rPr lang="cs-CZ" sz="750" b="1" dirty="0" smtClean="0">
                <a:latin typeface="Consolas" pitchFamily="49" charset="0"/>
              </a:rPr>
              <a:t>e</a:t>
            </a:r>
            <a:r>
              <a:rPr lang="en-US" sz="750" b="1" dirty="0" smtClean="0">
                <a:latin typeface="Consolas" pitchFamily="49" charset="0"/>
              </a:rPr>
              <a:t>="stat</a:t>
            </a:r>
            <a:r>
              <a:rPr lang="cs-CZ" sz="750" b="1" dirty="0" smtClean="0">
                <a:latin typeface="Consolas" pitchFamily="49" charset="0"/>
              </a:rPr>
              <a:t>e</a:t>
            </a:r>
            <a:r>
              <a:rPr lang="en-US" sz="750" b="1" dirty="0" err="1" smtClean="0">
                <a:latin typeface="Consolas" pitchFamily="49" charset="0"/>
              </a:rPr>
              <a:t>Set.stat</a:t>
            </a:r>
            <a:r>
              <a:rPr lang="cs-CZ" sz="750" b="1" dirty="0" smtClean="0">
                <a:latin typeface="Consolas" pitchFamily="49" charset="0"/>
              </a:rPr>
              <a:t>e</a:t>
            </a:r>
            <a:r>
              <a:rPr lang="en-US" sz="750" b="1" dirty="0" err="1" smtClean="0">
                <a:latin typeface="Consolas" pitchFamily="49" charset="0"/>
              </a:rPr>
              <a:t>Name.IDREF</a:t>
            </a:r>
            <a:r>
              <a:rPr lang="en-US" sz="750" b="1" dirty="0">
                <a:latin typeface="Consolas" pitchFamily="49" charset="0"/>
              </a:rPr>
              <a:t>()"&gt;? script();&lt;/No&gt;</a:t>
            </a:r>
          </a:p>
          <a:p>
            <a:r>
              <a:rPr lang="cs-CZ" sz="750" b="1" dirty="0">
                <a:latin typeface="Consolas" pitchFamily="49" charset="0"/>
              </a:rPr>
              <a:t>     &lt;/</a:t>
            </a:r>
            <a:r>
              <a:rPr lang="cs-CZ" sz="750" b="1" dirty="0" err="1" smtClean="0">
                <a:latin typeface="Consolas" pitchFamily="49" charset="0"/>
              </a:rPr>
              <a:t>IfState</a:t>
            </a:r>
            <a:r>
              <a:rPr lang="cs-CZ" sz="750" b="1" dirty="0" smtClean="0">
                <a:latin typeface="Consolas" pitchFamily="49" charset="0"/>
              </a:rPr>
              <a:t>&gt;</a:t>
            </a:r>
            <a:endParaRPr lang="cs-CZ" sz="750" b="1" dirty="0">
              <a:latin typeface="Consolas" pitchFamily="49" charset="0"/>
            </a:endParaRPr>
          </a:p>
          <a:p>
            <a:r>
              <a:rPr lang="cs-CZ" sz="750" b="1" dirty="0" smtClean="0">
                <a:latin typeface="Consolas" pitchFamily="49" charset="0"/>
              </a:rPr>
              <a:t>   &lt;/</a:t>
            </a:r>
            <a:r>
              <a:rPr lang="cs-CZ" sz="750" b="1" dirty="0" err="1">
                <a:latin typeface="Consolas" pitchFamily="49" charset="0"/>
              </a:rPr>
              <a:t>xd:mixed</a:t>
            </a:r>
            <a:r>
              <a:rPr lang="cs-CZ" sz="750" b="1" dirty="0">
                <a:latin typeface="Consolas" pitchFamily="49" charset="0"/>
              </a:rPr>
              <a:t>&gt;</a:t>
            </a:r>
          </a:p>
          <a:p>
            <a:endParaRPr lang="cs-CZ" sz="750" b="1" dirty="0">
              <a:latin typeface="Consolas" panose="020B0609020204030204" pitchFamily="49" charset="0"/>
            </a:endParaRPr>
          </a:p>
          <a:p>
            <a:r>
              <a:rPr lang="cs-CZ" sz="750" b="1" dirty="0">
                <a:latin typeface="Consolas" panose="020B0609020204030204" pitchFamily="49" charset="0"/>
              </a:rPr>
              <a:t>   &lt;</a:t>
            </a:r>
            <a:r>
              <a:rPr lang="cs-CZ" sz="750" b="1" dirty="0" err="1" smtClean="0">
                <a:latin typeface="Consolas" panose="020B0609020204030204" pitchFamily="49" charset="0"/>
              </a:rPr>
              <a:t>EndState</a:t>
            </a:r>
            <a:r>
              <a:rPr lang="cs-CZ" sz="750" b="1" dirty="0" smtClean="0">
                <a:latin typeface="Consolas" panose="020B0609020204030204" pitchFamily="49" charset="0"/>
              </a:rPr>
              <a:t>      </a:t>
            </a:r>
            <a:r>
              <a:rPr lang="cs-CZ" sz="750" b="1" dirty="0" err="1" smtClean="0">
                <a:latin typeface="Consolas" panose="020B0609020204030204" pitchFamily="49" charset="0"/>
              </a:rPr>
              <a:t>xd:script</a:t>
            </a:r>
            <a:r>
              <a:rPr lang="cs-CZ" sz="750" b="1" dirty="0">
                <a:latin typeface="Consolas" panose="020B0609020204030204" pitchFamily="49" charset="0"/>
              </a:rPr>
              <a:t>="1" </a:t>
            </a:r>
            <a:r>
              <a:rPr lang="en-US" sz="750" b="1" dirty="0" smtClean="0">
                <a:latin typeface="Consolas" panose="020B0609020204030204" pitchFamily="49" charset="0"/>
              </a:rPr>
              <a:t>Name="(</a:t>
            </a:r>
            <a:r>
              <a:rPr lang="en-US" sz="750" b="1" dirty="0" err="1">
                <a:latin typeface="Consolas" panose="020B0609020204030204" pitchFamily="49" charset="0"/>
              </a:rPr>
              <a:t>enum</a:t>
            </a:r>
            <a:r>
              <a:rPr lang="en-US" sz="750" b="1" dirty="0">
                <a:latin typeface="Consolas" panose="020B0609020204030204" pitchFamily="49" charset="0"/>
              </a:rPr>
              <a:t>('END') AND </a:t>
            </a:r>
            <a:r>
              <a:rPr lang="en-US" sz="750" b="1" dirty="0" smtClean="0">
                <a:latin typeface="Consolas" panose="020B0609020204030204" pitchFamily="49" charset="0"/>
              </a:rPr>
              <a:t>stat</a:t>
            </a:r>
            <a:r>
              <a:rPr lang="cs-CZ" sz="750" b="1" dirty="0" smtClean="0">
                <a:latin typeface="Consolas" panose="020B0609020204030204" pitchFamily="49" charset="0"/>
              </a:rPr>
              <a:t>e</a:t>
            </a:r>
            <a:r>
              <a:rPr lang="en-US" sz="750" b="1" dirty="0" err="1" smtClean="0">
                <a:latin typeface="Consolas" panose="020B0609020204030204" pitchFamily="49" charset="0"/>
              </a:rPr>
              <a:t>Set.stat</a:t>
            </a:r>
            <a:r>
              <a:rPr lang="cs-CZ" sz="750" b="1" dirty="0" smtClean="0">
                <a:latin typeface="Consolas" panose="020B0609020204030204" pitchFamily="49" charset="0"/>
              </a:rPr>
              <a:t>e</a:t>
            </a:r>
            <a:r>
              <a:rPr lang="en-US" sz="750" b="1" dirty="0" smtClean="0">
                <a:latin typeface="Consolas" panose="020B0609020204030204" pitchFamily="49" charset="0"/>
              </a:rPr>
              <a:t>Name.ID</a:t>
            </a:r>
            <a:r>
              <a:rPr lang="en-US" sz="750" b="1" dirty="0">
                <a:latin typeface="Consolas" panose="020B0609020204030204" pitchFamily="49" charset="0"/>
              </a:rPr>
              <a:t>())"&gt;</a:t>
            </a:r>
          </a:p>
          <a:p>
            <a:r>
              <a:rPr lang="cs-CZ" sz="750" b="1" dirty="0">
                <a:latin typeface="Consolas" panose="020B0609020204030204" pitchFamily="49" charset="0"/>
              </a:rPr>
              <a:t>           </a:t>
            </a:r>
            <a:r>
              <a:rPr lang="cs-CZ" sz="750" b="1" dirty="0" smtClean="0">
                <a:latin typeface="Consolas" panose="020B0609020204030204" pitchFamily="49" charset="0"/>
              </a:rPr>
              <a:t>?</a:t>
            </a:r>
            <a:r>
              <a:rPr lang="cs-CZ" sz="750" b="1" dirty="0" err="1" smtClean="0">
                <a:latin typeface="Consolas" panose="020B0609020204030204" pitchFamily="49" charset="0"/>
              </a:rPr>
              <a:t>script</a:t>
            </a:r>
            <a:r>
              <a:rPr lang="cs-CZ" sz="750" b="1" dirty="0">
                <a:latin typeface="Consolas" panose="020B0609020204030204" pitchFamily="49" charset="0"/>
              </a:rPr>
              <a:t>();</a:t>
            </a:r>
          </a:p>
          <a:p>
            <a:r>
              <a:rPr lang="cs-CZ" sz="750" b="1" dirty="0">
                <a:latin typeface="Consolas" panose="020B0609020204030204" pitchFamily="49" charset="0"/>
              </a:rPr>
              <a:t>   &lt;/</a:t>
            </a:r>
            <a:r>
              <a:rPr lang="cs-CZ" sz="750" b="1" dirty="0" err="1" smtClean="0">
                <a:latin typeface="Consolas" panose="020B0609020204030204" pitchFamily="49" charset="0"/>
              </a:rPr>
              <a:t>EndState</a:t>
            </a:r>
            <a:r>
              <a:rPr lang="cs-CZ" sz="750" b="1" dirty="0" smtClean="0">
                <a:latin typeface="Consolas" panose="020B0609020204030204" pitchFamily="49" charset="0"/>
              </a:rPr>
              <a:t>&gt;</a:t>
            </a:r>
            <a:endParaRPr lang="cs-CZ" sz="750" b="1" dirty="0">
              <a:latin typeface="Consolas" panose="020B0609020204030204" pitchFamily="49" charset="0"/>
            </a:endParaRPr>
          </a:p>
          <a:p>
            <a:r>
              <a:rPr lang="cs-CZ" sz="750" b="1" dirty="0" smtClean="0">
                <a:latin typeface="Consolas" panose="020B0609020204030204" pitchFamily="49" charset="0"/>
              </a:rPr>
              <a:t> &lt;/</a:t>
            </a:r>
            <a:r>
              <a:rPr lang="cs-CZ" sz="750" b="1" dirty="0" err="1">
                <a:latin typeface="Consolas" panose="020B0609020204030204" pitchFamily="49" charset="0"/>
              </a:rPr>
              <a:t>GAMscript</a:t>
            </a:r>
            <a:r>
              <a:rPr lang="cs-CZ" sz="750" b="1" dirty="0">
                <a:latin typeface="Consolas" panose="020B0609020204030204" pitchFamily="49" charset="0"/>
              </a:rPr>
              <a:t>&gt;</a:t>
            </a:r>
          </a:p>
          <a:p>
            <a:endParaRPr lang="cs-CZ" sz="750" b="1" dirty="0">
              <a:latin typeface="Consolas" panose="020B0609020204030204" pitchFamily="49" charset="0"/>
            </a:endParaRPr>
          </a:p>
          <a:p>
            <a:r>
              <a:rPr lang="cs-CZ" sz="750" b="1" dirty="0">
                <a:latin typeface="Consolas" panose="020B0609020204030204" pitchFamily="49" charset="0"/>
              </a:rPr>
              <a:t> &lt;</a:t>
            </a:r>
            <a:r>
              <a:rPr lang="cs-CZ" sz="750" b="1" dirty="0" err="1">
                <a:latin typeface="Consolas" panose="020B0609020204030204" pitchFamily="49" charset="0"/>
              </a:rPr>
              <a:t>Event</a:t>
            </a:r>
            <a:r>
              <a:rPr lang="cs-CZ" sz="750" b="1" dirty="0">
                <a:latin typeface="Consolas" panose="020B0609020204030204" pitchFamily="49" charset="0"/>
              </a:rPr>
              <a:t>         </a:t>
            </a:r>
            <a:r>
              <a:rPr lang="cs-CZ" sz="750" b="1" dirty="0" smtClean="0">
                <a:latin typeface="Consolas" panose="020B0609020204030204" pitchFamily="49" charset="0"/>
              </a:rPr>
              <a:t>  </a:t>
            </a:r>
            <a:r>
              <a:rPr lang="cs-CZ" sz="750" b="1" dirty="0" err="1">
                <a:latin typeface="Consolas" panose="020B0609020204030204" pitchFamily="49" charset="0"/>
              </a:rPr>
              <a:t>xd:script</a:t>
            </a:r>
            <a:r>
              <a:rPr lang="cs-CZ" sz="750" b="1" dirty="0">
                <a:latin typeface="Consolas" panose="020B0609020204030204" pitchFamily="49" charset="0"/>
              </a:rPr>
              <a:t>="</a:t>
            </a:r>
            <a:r>
              <a:rPr lang="cs-CZ" sz="750" b="1" dirty="0" err="1">
                <a:latin typeface="Consolas" panose="020B0609020204030204" pitchFamily="49" charset="0"/>
              </a:rPr>
              <a:t>finally</a:t>
            </a:r>
            <a:r>
              <a:rPr lang="cs-CZ" sz="750" b="1" dirty="0">
                <a:latin typeface="Consolas" panose="020B0609020204030204" pitchFamily="49" charset="0"/>
              </a:rPr>
              <a:t> </a:t>
            </a:r>
            <a:r>
              <a:rPr lang="cs-CZ" sz="750" b="1" dirty="0" smtClean="0">
                <a:latin typeface="Consolas" panose="020B0609020204030204" pitchFamily="49" charset="0"/>
              </a:rPr>
              <a:t>eventStateSet.ID()" </a:t>
            </a:r>
            <a:r>
              <a:rPr lang="cs-CZ" sz="750" b="1" dirty="0" err="1" smtClean="0">
                <a:latin typeface="Consolas" panose="020B0609020204030204" pitchFamily="49" charset="0"/>
              </a:rPr>
              <a:t>Name</a:t>
            </a:r>
            <a:r>
              <a:rPr lang="cs-CZ" sz="750" b="1" dirty="0" smtClean="0">
                <a:latin typeface="Consolas" panose="020B0609020204030204" pitchFamily="49" charset="0"/>
              </a:rPr>
              <a:t>="</a:t>
            </a:r>
            <a:r>
              <a:rPr lang="cs-CZ" sz="750" b="1" dirty="0" err="1" smtClean="0">
                <a:latin typeface="Consolas" panose="020B0609020204030204" pitchFamily="49" charset="0"/>
              </a:rPr>
              <a:t>eventStateSet.eventName</a:t>
            </a:r>
            <a:r>
              <a:rPr lang="cs-CZ" sz="750" b="1" dirty="0" smtClean="0">
                <a:latin typeface="Consolas" panose="020B0609020204030204" pitchFamily="49" charset="0"/>
              </a:rPr>
              <a:t>" </a:t>
            </a:r>
            <a:r>
              <a:rPr lang="cs-CZ" sz="750" b="1" dirty="0" err="1" smtClean="0">
                <a:latin typeface="Consolas" panose="020B0609020204030204" pitchFamily="49" charset="0"/>
              </a:rPr>
              <a:t>NextState</a:t>
            </a:r>
            <a:r>
              <a:rPr lang="cs-CZ" sz="750" b="1" dirty="0" smtClean="0">
                <a:latin typeface="Consolas" panose="020B0609020204030204" pitchFamily="49" charset="0"/>
              </a:rPr>
              <a:t>="? </a:t>
            </a:r>
            <a:r>
              <a:rPr lang="cs-CZ" sz="750" b="1" dirty="0" err="1" smtClean="0">
                <a:latin typeface="Consolas" panose="020B0609020204030204" pitchFamily="49" charset="0"/>
              </a:rPr>
              <a:t>stateSet.stateName.IDREF</a:t>
            </a:r>
            <a:r>
              <a:rPr lang="cs-CZ" sz="750" b="1" dirty="0" smtClean="0">
                <a:latin typeface="Consolas" panose="020B0609020204030204" pitchFamily="49" charset="0"/>
              </a:rPr>
              <a:t>()"&gt; ?</a:t>
            </a:r>
            <a:r>
              <a:rPr lang="cs-CZ" sz="750" b="1" dirty="0" err="1" smtClean="0">
                <a:latin typeface="Consolas" panose="020B0609020204030204" pitchFamily="49" charset="0"/>
              </a:rPr>
              <a:t>script</a:t>
            </a:r>
            <a:r>
              <a:rPr lang="cs-CZ" sz="750" b="1" dirty="0" smtClean="0">
                <a:latin typeface="Consolas" panose="020B0609020204030204" pitchFamily="49" charset="0"/>
              </a:rPr>
              <a:t>() &lt;/</a:t>
            </a:r>
            <a:r>
              <a:rPr lang="cs-CZ" sz="750" b="1" dirty="0" err="1" smtClean="0">
                <a:latin typeface="Consolas" panose="020B0609020204030204" pitchFamily="49" charset="0"/>
              </a:rPr>
              <a:t>Event</a:t>
            </a:r>
            <a:r>
              <a:rPr lang="cs-CZ" sz="750" b="1" dirty="0" smtClean="0">
                <a:latin typeface="Consolas" panose="020B0609020204030204" pitchFamily="49" charset="0"/>
              </a:rPr>
              <a:t>&gt;</a:t>
            </a:r>
            <a:endParaRPr lang="cs-CZ" sz="750" b="1" dirty="0">
              <a:latin typeface="Consolas" panose="020B0609020204030204" pitchFamily="49" charset="0"/>
            </a:endParaRPr>
          </a:p>
          <a:p>
            <a:r>
              <a:rPr lang="cs-CZ" sz="750" b="1" dirty="0">
                <a:latin typeface="Consolas" panose="020B0609020204030204" pitchFamily="49" charset="0"/>
              </a:rPr>
              <a:t>&lt;/</a:t>
            </a:r>
            <a:r>
              <a:rPr lang="cs-CZ" sz="750" b="1" dirty="0" err="1" smtClean="0">
                <a:latin typeface="Consolas" panose="020B0609020204030204" pitchFamily="49" charset="0"/>
              </a:rPr>
              <a:t>xd:def</a:t>
            </a:r>
            <a:r>
              <a:rPr lang="cs-CZ" sz="750" b="1" dirty="0" smtClean="0">
                <a:latin typeface="Consolas" panose="020B0609020204030204" pitchFamily="49" charset="0"/>
              </a:rPr>
              <a:t>&gt;</a:t>
            </a:r>
            <a:endParaRPr lang="cs-CZ" sz="750" b="1" dirty="0" smtClean="0">
              <a:latin typeface="Consolas" pitchFamily="49" charset="0"/>
            </a:endParaRPr>
          </a:p>
          <a:p>
            <a:pPr>
              <a:defRPr/>
            </a:pPr>
            <a:endParaRPr lang="cs-CZ" sz="700" b="1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4467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Jazyk X-definic </a:t>
            </a:r>
            <a:r>
              <a:rPr lang="cs-CZ" sz="20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– unikátní množiny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26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683568" y="1628800"/>
            <a:ext cx="7776864" cy="3744416"/>
          </a:xfrm>
          <a:prstGeom prst="roundRect">
            <a:avLst>
              <a:gd name="adj" fmla="val 15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</a:t>
            </a:r>
            <a:r>
              <a:rPr lang="cs-CZ" sz="750" b="1" dirty="0" err="1" smtClean="0">
                <a:latin typeface="Consolas" pitchFamily="49" charset="0"/>
              </a:rPr>
              <a:t>SeznamDomů</a:t>
            </a:r>
            <a:r>
              <a:rPr lang="cs-CZ" sz="750" b="1" dirty="0" smtClean="0">
                <a:latin typeface="Consolas" pitchFamily="49" charset="0"/>
              </a:rPr>
              <a:t>&gt;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&lt;Dům Lokalita="Husova 3"&gt;   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&lt;Byt Číslo="01" Typ="1+1"/&gt;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&lt;Byt Číslo="02" Typ="1+1"/&gt;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&lt;Byt Číslo="11" Typ="2+1"/&gt;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&lt;Byt Číslo="12" Typ="2+</a:t>
            </a:r>
            <a:r>
              <a:rPr lang="cs-CZ" sz="750" b="1" dirty="0" err="1" smtClean="0">
                <a:latin typeface="Consolas" pitchFamily="49" charset="0"/>
              </a:rPr>
              <a:t>kk</a:t>
            </a:r>
            <a:r>
              <a:rPr lang="cs-CZ" sz="75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&lt;Byt Číslo="13" Typ="3+1"/&gt;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&lt;Byt Číslo="21" Typ="2+1"/&gt;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&lt;Byt Číslo="22" Typ="2+</a:t>
            </a:r>
            <a:r>
              <a:rPr lang="cs-CZ" sz="750" b="1" dirty="0" err="1" smtClean="0">
                <a:latin typeface="Consolas" pitchFamily="49" charset="0"/>
              </a:rPr>
              <a:t>kk</a:t>
            </a:r>
            <a:r>
              <a:rPr lang="cs-CZ" sz="75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&lt;Byt Číslo="23" Typ="3+1"/&gt;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&lt;Obsazení&gt;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&lt;Osoba Jméno="Bouška Karel" Byt="23" Typ="Nájemník"/&gt;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&lt;Osoba Jméno="Novák Josef" Byt="02" Typ="Nájemník"/&gt;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...     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&lt;Osoba Jméno="Ryšavá Jana" Byt="02" Typ="Spolubydlící"/&gt;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&lt;Osoba Jméno="Zrzavý Jan" Byt="02" Typ="Nájemník"/&gt;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&lt;/Obsazení&gt;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&lt;/Dům&gt;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...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&lt;Dům Lokalita="Husova 11"&gt;   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&lt;Byt Číslo="01" Typ="2+1"/&gt;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&lt;Byt Číslo="02" Typ="2+1"/&gt;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...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&lt;Obsazení&gt;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&lt;Osoba Jméno="Adamec Jiří" Byt="12" Typ="Nájemník"/&gt;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&lt;Osoba Jméno="Bystrý Ladislav" Byt="11" Typ="Nájemník"/&gt;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&lt;Osoba Jméno="Malá Ludmila" Byt="01" Typ="Spolubydlící"/&gt;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 ...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&lt;Osoba Jméno="Troufalý </a:t>
            </a:r>
            <a:r>
              <a:rPr lang="cs-CZ" sz="750" b="1" dirty="0" err="1" smtClean="0">
                <a:latin typeface="Consolas" pitchFamily="49" charset="0"/>
              </a:rPr>
              <a:t>Luďek</a:t>
            </a:r>
            <a:r>
              <a:rPr lang="cs-CZ" sz="750" b="1" dirty="0" smtClean="0">
                <a:latin typeface="Consolas" pitchFamily="49" charset="0"/>
              </a:rPr>
              <a:t>" Byt="12" Typ="Spolubydlící"/&gt;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&lt;/Obsazení&gt;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&lt;/Dům&gt;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&lt;/</a:t>
            </a:r>
            <a:r>
              <a:rPr lang="cs-CZ" sz="750" b="1" dirty="0" err="1" smtClean="0">
                <a:latin typeface="Consolas" pitchFamily="49" charset="0"/>
              </a:rPr>
              <a:t>SeznamDomů</a:t>
            </a:r>
            <a:r>
              <a:rPr lang="cs-CZ" sz="750" b="1" dirty="0" smtClean="0">
                <a:latin typeface="Consolas" pitchFamily="49" charset="0"/>
              </a:rPr>
              <a:t>&gt; </a:t>
            </a:r>
            <a:endParaRPr lang="cs-CZ" sz="750" b="1" dirty="0">
              <a:latin typeface="Consolas" pitchFamily="49" charset="0"/>
            </a:endParaRPr>
          </a:p>
        </p:txBody>
      </p:sp>
      <p:sp>
        <p:nvSpPr>
          <p:cNvPr id="8" name="TextovéPole 7"/>
          <p:cNvSpPr txBox="1"/>
          <p:nvPr/>
        </p:nvSpPr>
        <p:spPr>
          <a:xfrm>
            <a:off x="755576" y="5445224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cs-CZ" sz="900" b="1" dirty="0" smtClean="0">
                <a:latin typeface="Calibri" pitchFamily="34" charset="0"/>
                <a:cs typeface="Calibri" pitchFamily="34" charset="0"/>
              </a:rPr>
              <a:t>Každý dům je unikátní</a:t>
            </a:r>
          </a:p>
          <a:p>
            <a:pPr marL="228600" indent="-228600">
              <a:buAutoNum type="arabicParenR"/>
            </a:pPr>
            <a:r>
              <a:rPr lang="cs-CZ" sz="900" b="1" dirty="0" smtClean="0">
                <a:latin typeface="Calibri" pitchFamily="34" charset="0"/>
                <a:cs typeface="Calibri" pitchFamily="34" charset="0"/>
              </a:rPr>
              <a:t>Každý byt v domě je unikátní</a:t>
            </a:r>
          </a:p>
          <a:p>
            <a:pPr marL="228600" indent="-228600">
              <a:buAutoNum type="arabicParenR"/>
            </a:pPr>
            <a:r>
              <a:rPr lang="cs-CZ" sz="900" b="1" dirty="0" smtClean="0">
                <a:latin typeface="Calibri" pitchFamily="34" charset="0"/>
                <a:cs typeface="Calibri" pitchFamily="34" charset="0"/>
              </a:rPr>
              <a:t>Každá osoba je umístěna v bytě, který existuje</a:t>
            </a:r>
          </a:p>
          <a:p>
            <a:pPr marL="228600" indent="-228600">
              <a:buAutoNum type="arabicParenR"/>
            </a:pPr>
            <a:r>
              <a:rPr lang="cs-CZ" sz="900" b="1" dirty="0" smtClean="0">
                <a:latin typeface="Calibri" pitchFamily="34" charset="0"/>
                <a:cs typeface="Calibri" pitchFamily="34" charset="0"/>
              </a:rPr>
              <a:t>Každý byt má pouze jednoho nájemníka</a:t>
            </a:r>
          </a:p>
          <a:p>
            <a:pPr marL="228600" indent="-228600">
              <a:buAutoNum type="arabicParenR"/>
            </a:pPr>
            <a:r>
              <a:rPr lang="cs-CZ" sz="900" b="1" dirty="0" smtClean="0">
                <a:latin typeface="Calibri" pitchFamily="34" charset="0"/>
                <a:cs typeface="Calibri" pitchFamily="34" charset="0"/>
              </a:rPr>
              <a:t>Žádný byt není prázdný </a:t>
            </a:r>
          </a:p>
          <a:p>
            <a:pPr marL="228600" indent="-228600">
              <a:buAutoNum type="arabicParenR"/>
            </a:pPr>
            <a:endParaRPr lang="cs-CZ" sz="9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04863" y="806450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Standardní dostupné nástroje pro xml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357188" y="1557338"/>
            <a:ext cx="8137525" cy="3383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Co jsou X-definice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Validace a konstrukce 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Konstrukce 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Některé zajímavé možnosti 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altLang="cs-CZ" sz="1600" b="1" kern="0" dirty="0" smtClean="0">
                <a:latin typeface="Calibri" panose="020F0502020204030204" pitchFamily="34" charset="0"/>
              </a:rPr>
              <a:t>Použití ve větším reálném systému </a:t>
            </a:r>
            <a:endParaRPr lang="cs-CZ" altLang="cs-CZ" sz="1600" b="1" dirty="0"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27</a:t>
            </a:fld>
            <a:endParaRPr lang="cs-CZ" altLang="cs-CZ">
              <a:latin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08720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X-definice pro validaci / konstrukci</a:t>
            </a:r>
            <a:endParaRPr lang="cs-CZ" sz="24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28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Přímá spojovací šipka 131"/>
          <p:cNvCxnSpPr/>
          <p:nvPr/>
        </p:nvCxnSpPr>
        <p:spPr bwMode="auto">
          <a:xfrm>
            <a:off x="2987824" y="2924944"/>
            <a:ext cx="648072" cy="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8" name="Zaoblený obdélník 147"/>
          <p:cNvSpPr/>
          <p:nvPr/>
        </p:nvSpPr>
        <p:spPr bwMode="auto">
          <a:xfrm>
            <a:off x="1547664" y="2780928"/>
            <a:ext cx="1440160" cy="313730"/>
          </a:xfrm>
          <a:prstGeom prst="roundRect">
            <a:avLst>
              <a:gd name="adj" fmla="val 421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cs-CZ" sz="1400" b="1" dirty="0" smtClean="0">
                <a:latin typeface="Consolas" pitchFamily="49" charset="0"/>
              </a:rPr>
              <a:t>Xml-data</a:t>
            </a:r>
            <a:endParaRPr lang="cs-CZ" sz="1400" b="1" dirty="0">
              <a:latin typeface="Consolas" pitchFamily="49" charset="0"/>
            </a:endParaRPr>
          </a:p>
        </p:txBody>
      </p:sp>
      <p:cxnSp>
        <p:nvCxnSpPr>
          <p:cNvPr id="138" name="Přímá spojovací šipka 137"/>
          <p:cNvCxnSpPr/>
          <p:nvPr/>
        </p:nvCxnSpPr>
        <p:spPr bwMode="auto">
          <a:xfrm>
            <a:off x="4211960" y="2276872"/>
            <a:ext cx="0" cy="36004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3" name="Zaoblený obdélník 142"/>
          <p:cNvSpPr/>
          <p:nvPr/>
        </p:nvSpPr>
        <p:spPr bwMode="auto">
          <a:xfrm>
            <a:off x="3635896" y="1772816"/>
            <a:ext cx="1224136" cy="504056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cs-CZ" sz="1400" b="1" dirty="0" smtClean="0">
                <a:latin typeface="Consolas" pitchFamily="49" charset="0"/>
                <a:cs typeface="Calibri" pitchFamily="34" charset="0"/>
              </a:rPr>
              <a:t>Přepis</a:t>
            </a:r>
          </a:p>
          <a:p>
            <a:pPr algn="ctr"/>
            <a:r>
              <a:rPr lang="cs-CZ" sz="1400" b="1" dirty="0" smtClean="0">
                <a:latin typeface="Consolas" pitchFamily="49" charset="0"/>
                <a:cs typeface="Calibri" pitchFamily="34" charset="0"/>
              </a:rPr>
              <a:t>X-definice</a:t>
            </a:r>
          </a:p>
        </p:txBody>
      </p:sp>
      <p:sp>
        <p:nvSpPr>
          <p:cNvPr id="30" name="Zaoblený obdélník 29"/>
          <p:cNvSpPr/>
          <p:nvPr/>
        </p:nvSpPr>
        <p:spPr bwMode="auto">
          <a:xfrm>
            <a:off x="5508104" y="2504972"/>
            <a:ext cx="648072" cy="407849"/>
          </a:xfrm>
          <a:prstGeom prst="roundRect">
            <a:avLst>
              <a:gd name="adj" fmla="val 429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950" b="1" dirty="0" smtClean="0">
                <a:latin typeface="Calibri" pitchFamily="34" charset="0"/>
                <a:cs typeface="Calibri" pitchFamily="34" charset="0"/>
              </a:rPr>
              <a:t>Validní data</a:t>
            </a:r>
            <a:endParaRPr lang="cs-CZ" sz="95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1" name="Přímá spojovací šipka 30"/>
          <p:cNvCxnSpPr>
            <a:stCxn id="37" idx="3"/>
          </p:cNvCxnSpPr>
          <p:nvPr/>
        </p:nvCxnSpPr>
        <p:spPr bwMode="auto">
          <a:xfrm flipV="1">
            <a:off x="4860032" y="2708920"/>
            <a:ext cx="648072" cy="21602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37" name="Zaoblený obdélník 36"/>
          <p:cNvSpPr/>
          <p:nvPr/>
        </p:nvSpPr>
        <p:spPr bwMode="auto">
          <a:xfrm>
            <a:off x="3635896" y="2636912"/>
            <a:ext cx="1224136" cy="576064"/>
          </a:xfrm>
          <a:prstGeom prst="roundRect">
            <a:avLst>
              <a:gd name="adj" fmla="val 2814"/>
            </a:avLst>
          </a:prstGeom>
          <a:solidFill>
            <a:srgbClr val="FFA3A3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400" b="1" dirty="0" err="1" smtClean="0">
                <a:latin typeface="Consolas" pitchFamily="49" charset="0"/>
              </a:rPr>
              <a:t>Xdef</a:t>
            </a:r>
            <a:r>
              <a:rPr lang="cs-CZ" sz="1400" b="1" dirty="0" smtClean="0">
                <a:latin typeface="Consolas" pitchFamily="49" charset="0"/>
              </a:rPr>
              <a:t>-Procesor</a:t>
            </a:r>
            <a:endParaRPr lang="cs-CZ" sz="1400" b="1" dirty="0">
              <a:latin typeface="Consolas" pitchFamily="49" charset="0"/>
            </a:endParaRPr>
          </a:p>
        </p:txBody>
      </p:sp>
      <p:sp>
        <p:nvSpPr>
          <p:cNvPr id="33" name="Obdélník 32"/>
          <p:cNvSpPr/>
          <p:nvPr/>
        </p:nvSpPr>
        <p:spPr bwMode="auto">
          <a:xfrm>
            <a:off x="3131840" y="2852936"/>
            <a:ext cx="180000" cy="180000"/>
          </a:xfrm>
          <a:prstGeom prst="rect">
            <a:avLst/>
          </a:prstGeom>
          <a:solidFill>
            <a:schemeClr val="bg1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</a:rPr>
              <a:t>1</a:t>
            </a:r>
          </a:p>
        </p:txBody>
      </p:sp>
      <p:sp>
        <p:nvSpPr>
          <p:cNvPr id="34" name="Obdélník 33"/>
          <p:cNvSpPr/>
          <p:nvPr/>
        </p:nvSpPr>
        <p:spPr bwMode="auto">
          <a:xfrm>
            <a:off x="4139952" y="2348880"/>
            <a:ext cx="180000" cy="180000"/>
          </a:xfrm>
          <a:prstGeom prst="rect">
            <a:avLst/>
          </a:prstGeom>
          <a:solidFill>
            <a:schemeClr val="bg1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</a:rPr>
              <a:t>2</a:t>
            </a:r>
          </a:p>
        </p:txBody>
      </p:sp>
      <p:sp>
        <p:nvSpPr>
          <p:cNvPr id="38" name="Zaoblený obdélník 37"/>
          <p:cNvSpPr/>
          <p:nvPr/>
        </p:nvSpPr>
        <p:spPr bwMode="auto">
          <a:xfrm>
            <a:off x="5508104" y="3147392"/>
            <a:ext cx="648072" cy="250984"/>
          </a:xfrm>
          <a:prstGeom prst="roundRect">
            <a:avLst>
              <a:gd name="adj" fmla="val 429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950" b="1" dirty="0" smtClean="0">
                <a:latin typeface="Calibri" pitchFamily="34" charset="0"/>
                <a:cs typeface="Calibri" pitchFamily="34" charset="0"/>
              </a:rPr>
              <a:t>Chyby</a:t>
            </a:r>
            <a:endParaRPr lang="cs-CZ" sz="95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9" name="Přímá spojovací šipka 38"/>
          <p:cNvCxnSpPr>
            <a:stCxn id="37" idx="3"/>
            <a:endCxn id="38" idx="1"/>
          </p:cNvCxnSpPr>
          <p:nvPr/>
        </p:nvCxnSpPr>
        <p:spPr bwMode="auto">
          <a:xfrm>
            <a:off x="4860032" y="2924944"/>
            <a:ext cx="648072" cy="34794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43" name="Obdélník 42"/>
          <p:cNvSpPr/>
          <p:nvPr/>
        </p:nvSpPr>
        <p:spPr bwMode="auto">
          <a:xfrm>
            <a:off x="5004048" y="2708920"/>
            <a:ext cx="360008" cy="180000"/>
          </a:xfrm>
          <a:prstGeom prst="rect">
            <a:avLst/>
          </a:prstGeom>
          <a:solidFill>
            <a:schemeClr val="bg1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</a:rPr>
              <a:t>3a</a:t>
            </a:r>
          </a:p>
        </p:txBody>
      </p:sp>
      <p:sp>
        <p:nvSpPr>
          <p:cNvPr id="44" name="Obdélník 43"/>
          <p:cNvSpPr/>
          <p:nvPr/>
        </p:nvSpPr>
        <p:spPr bwMode="auto">
          <a:xfrm>
            <a:off x="5004048" y="2996952"/>
            <a:ext cx="360008" cy="180000"/>
          </a:xfrm>
          <a:prstGeom prst="rect">
            <a:avLst/>
          </a:prstGeom>
          <a:solidFill>
            <a:schemeClr val="bg1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</a:rPr>
              <a:t>3b</a:t>
            </a:r>
          </a:p>
        </p:txBody>
      </p:sp>
      <p:cxnSp>
        <p:nvCxnSpPr>
          <p:cNvPr id="45" name="Přímá spojovací šipka 44"/>
          <p:cNvCxnSpPr>
            <a:stCxn id="63" idx="1"/>
          </p:cNvCxnSpPr>
          <p:nvPr/>
        </p:nvCxnSpPr>
        <p:spPr bwMode="auto">
          <a:xfrm>
            <a:off x="2987824" y="5221582"/>
            <a:ext cx="720080" cy="7618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46" name="Zaoblený obdélník 45"/>
          <p:cNvSpPr/>
          <p:nvPr/>
        </p:nvSpPr>
        <p:spPr bwMode="auto">
          <a:xfrm>
            <a:off x="5580112" y="5085184"/>
            <a:ext cx="1440160" cy="313730"/>
          </a:xfrm>
          <a:prstGeom prst="roundRect">
            <a:avLst>
              <a:gd name="adj" fmla="val 421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cs-CZ" sz="1400" b="1" dirty="0" smtClean="0">
                <a:latin typeface="Consolas" pitchFamily="49" charset="0"/>
              </a:rPr>
              <a:t>Xml-data</a:t>
            </a:r>
            <a:endParaRPr lang="cs-CZ" sz="1400" b="1" dirty="0">
              <a:latin typeface="Consolas" pitchFamily="49" charset="0"/>
            </a:endParaRPr>
          </a:p>
        </p:txBody>
      </p:sp>
      <p:cxnSp>
        <p:nvCxnSpPr>
          <p:cNvPr id="47" name="Přímá spojovací šipka 46"/>
          <p:cNvCxnSpPr/>
          <p:nvPr/>
        </p:nvCxnSpPr>
        <p:spPr bwMode="auto">
          <a:xfrm>
            <a:off x="4283968" y="4581128"/>
            <a:ext cx="0" cy="36004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48" name="Zaoblený obdélník 47"/>
          <p:cNvSpPr/>
          <p:nvPr/>
        </p:nvSpPr>
        <p:spPr bwMode="auto">
          <a:xfrm>
            <a:off x="3707904" y="4077072"/>
            <a:ext cx="1224136" cy="504056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cs-CZ" sz="1400" b="1" dirty="0" smtClean="0">
                <a:latin typeface="Consolas" pitchFamily="49" charset="0"/>
                <a:cs typeface="Calibri" pitchFamily="34" charset="0"/>
              </a:rPr>
              <a:t>Přepis</a:t>
            </a:r>
          </a:p>
          <a:p>
            <a:pPr algn="ctr"/>
            <a:r>
              <a:rPr lang="cs-CZ" sz="1400" b="1" dirty="0" smtClean="0">
                <a:latin typeface="Consolas" pitchFamily="49" charset="0"/>
                <a:cs typeface="Calibri" pitchFamily="34" charset="0"/>
              </a:rPr>
              <a:t>X-definice</a:t>
            </a:r>
          </a:p>
        </p:txBody>
      </p:sp>
      <p:sp>
        <p:nvSpPr>
          <p:cNvPr id="49" name="Zaoblený obdélník 48"/>
          <p:cNvSpPr/>
          <p:nvPr/>
        </p:nvSpPr>
        <p:spPr bwMode="auto">
          <a:xfrm>
            <a:off x="1763688" y="4869160"/>
            <a:ext cx="720080" cy="250984"/>
          </a:xfrm>
          <a:prstGeom prst="roundRect">
            <a:avLst>
              <a:gd name="adj" fmla="val 429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950" b="1" dirty="0" smtClean="0">
                <a:latin typeface="Calibri" pitchFamily="34" charset="0"/>
                <a:cs typeface="Calibri" pitchFamily="34" charset="0"/>
              </a:rPr>
              <a:t>Xml-data</a:t>
            </a:r>
            <a:endParaRPr lang="cs-CZ" sz="95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50" name="Přímá spojovací šipka 49"/>
          <p:cNvCxnSpPr>
            <a:stCxn id="51" idx="3"/>
          </p:cNvCxnSpPr>
          <p:nvPr/>
        </p:nvCxnSpPr>
        <p:spPr bwMode="auto">
          <a:xfrm>
            <a:off x="4932040" y="5229200"/>
            <a:ext cx="648072" cy="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51" name="Zaoblený obdélník 50"/>
          <p:cNvSpPr/>
          <p:nvPr/>
        </p:nvSpPr>
        <p:spPr bwMode="auto">
          <a:xfrm>
            <a:off x="3707904" y="4941168"/>
            <a:ext cx="1224136" cy="576064"/>
          </a:xfrm>
          <a:prstGeom prst="roundRect">
            <a:avLst>
              <a:gd name="adj" fmla="val 2814"/>
            </a:avLst>
          </a:prstGeom>
          <a:solidFill>
            <a:srgbClr val="FFA3A3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400" b="1" dirty="0" err="1" smtClean="0">
                <a:latin typeface="Consolas" pitchFamily="49" charset="0"/>
              </a:rPr>
              <a:t>Xdef</a:t>
            </a:r>
            <a:r>
              <a:rPr lang="cs-CZ" sz="1400" b="1" dirty="0" smtClean="0">
                <a:latin typeface="Consolas" pitchFamily="49" charset="0"/>
              </a:rPr>
              <a:t>-Procesor</a:t>
            </a:r>
            <a:endParaRPr lang="cs-CZ" sz="1400" b="1" dirty="0">
              <a:latin typeface="Consolas" pitchFamily="49" charset="0"/>
            </a:endParaRPr>
          </a:p>
        </p:txBody>
      </p:sp>
      <p:sp>
        <p:nvSpPr>
          <p:cNvPr id="52" name="Obdélník 51"/>
          <p:cNvSpPr/>
          <p:nvPr/>
        </p:nvSpPr>
        <p:spPr bwMode="auto">
          <a:xfrm>
            <a:off x="3203848" y="5157192"/>
            <a:ext cx="180000" cy="180000"/>
          </a:xfrm>
          <a:prstGeom prst="rect">
            <a:avLst/>
          </a:prstGeom>
          <a:solidFill>
            <a:schemeClr val="bg1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</a:rPr>
              <a:t>2</a:t>
            </a:r>
          </a:p>
        </p:txBody>
      </p:sp>
      <p:sp>
        <p:nvSpPr>
          <p:cNvPr id="53" name="Obdélník 52"/>
          <p:cNvSpPr/>
          <p:nvPr/>
        </p:nvSpPr>
        <p:spPr bwMode="auto">
          <a:xfrm>
            <a:off x="4211960" y="4653136"/>
            <a:ext cx="180000" cy="180000"/>
          </a:xfrm>
          <a:prstGeom prst="rect">
            <a:avLst/>
          </a:prstGeom>
          <a:solidFill>
            <a:schemeClr val="bg1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</a:rPr>
              <a:t>1</a:t>
            </a:r>
          </a:p>
        </p:txBody>
      </p:sp>
      <p:sp>
        <p:nvSpPr>
          <p:cNvPr id="58" name="Obdélník 57"/>
          <p:cNvSpPr/>
          <p:nvPr/>
        </p:nvSpPr>
        <p:spPr bwMode="auto">
          <a:xfrm>
            <a:off x="5148064" y="5157192"/>
            <a:ext cx="180000" cy="180000"/>
          </a:xfrm>
          <a:prstGeom prst="rect">
            <a:avLst/>
          </a:prstGeom>
          <a:solidFill>
            <a:schemeClr val="bg1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</a:rPr>
              <a:t>3</a:t>
            </a:r>
          </a:p>
        </p:txBody>
      </p:sp>
      <p:sp>
        <p:nvSpPr>
          <p:cNvPr id="60" name="Zaoblený obdélník 59"/>
          <p:cNvSpPr/>
          <p:nvPr/>
        </p:nvSpPr>
        <p:spPr bwMode="auto">
          <a:xfrm>
            <a:off x="1691680" y="5085184"/>
            <a:ext cx="720080" cy="250984"/>
          </a:xfrm>
          <a:prstGeom prst="roundRect">
            <a:avLst>
              <a:gd name="adj" fmla="val 429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950" b="1" dirty="0" smtClean="0">
                <a:latin typeface="Calibri" pitchFamily="34" charset="0"/>
                <a:cs typeface="Calibri" pitchFamily="34" charset="0"/>
              </a:rPr>
              <a:t>objekt</a:t>
            </a:r>
            <a:endParaRPr lang="cs-CZ" sz="95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1" name="Zaoblený obdélník 60"/>
          <p:cNvSpPr/>
          <p:nvPr/>
        </p:nvSpPr>
        <p:spPr bwMode="auto">
          <a:xfrm>
            <a:off x="1619672" y="5301208"/>
            <a:ext cx="720080" cy="250984"/>
          </a:xfrm>
          <a:prstGeom prst="roundRect">
            <a:avLst>
              <a:gd name="adj" fmla="val 429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cs-CZ" sz="950" b="1" dirty="0" err="1" smtClean="0">
                <a:latin typeface="Calibri" pitchFamily="34" charset="0"/>
                <a:cs typeface="Calibri" pitchFamily="34" charset="0"/>
              </a:rPr>
              <a:t>Db</a:t>
            </a:r>
            <a:r>
              <a:rPr lang="cs-CZ" sz="950" b="1" dirty="0" smtClean="0">
                <a:latin typeface="Calibri" pitchFamily="34" charset="0"/>
                <a:cs typeface="Calibri" pitchFamily="34" charset="0"/>
              </a:rPr>
              <a:t>-data</a:t>
            </a:r>
            <a:endParaRPr lang="cs-CZ" sz="95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3" name="Levá složená závorka 62"/>
          <p:cNvSpPr/>
          <p:nvPr/>
        </p:nvSpPr>
        <p:spPr bwMode="auto">
          <a:xfrm flipH="1">
            <a:off x="2915816" y="4869160"/>
            <a:ext cx="72008" cy="720080"/>
          </a:xfrm>
          <a:prstGeom prst="leftBrace">
            <a:avLst>
              <a:gd name="adj1" fmla="val 24206"/>
              <a:gd name="adj2" fmla="val 48942"/>
            </a:avLst>
          </a:prstGeom>
          <a:noFill/>
          <a:ln w="63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65" name="Čárový popisek 2 64"/>
          <p:cNvSpPr/>
          <p:nvPr/>
        </p:nvSpPr>
        <p:spPr bwMode="auto">
          <a:xfrm>
            <a:off x="2339752" y="2132856"/>
            <a:ext cx="720080" cy="216024"/>
          </a:xfrm>
          <a:prstGeom prst="borderCallout2">
            <a:avLst>
              <a:gd name="adj1" fmla="val 16002"/>
              <a:gd name="adj2" fmla="val 105373"/>
              <a:gd name="adj3" fmla="val 16001"/>
              <a:gd name="adj4" fmla="val 113530"/>
              <a:gd name="adj5" fmla="val 148233"/>
              <a:gd name="adj6" fmla="val 245952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validace</a:t>
            </a:r>
          </a:p>
        </p:txBody>
      </p:sp>
      <p:sp>
        <p:nvSpPr>
          <p:cNvPr id="66" name="Čárový popisek 2 65"/>
          <p:cNvSpPr/>
          <p:nvPr/>
        </p:nvSpPr>
        <p:spPr bwMode="auto">
          <a:xfrm>
            <a:off x="2339752" y="2132856"/>
            <a:ext cx="720080" cy="216024"/>
          </a:xfrm>
          <a:prstGeom prst="borderCallout2">
            <a:avLst>
              <a:gd name="adj1" fmla="val 16002"/>
              <a:gd name="adj2" fmla="val 105373"/>
              <a:gd name="adj3" fmla="val 16001"/>
              <a:gd name="adj4" fmla="val 113530"/>
              <a:gd name="adj5" fmla="val 318414"/>
              <a:gd name="adj6" fmla="val 126724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validace</a:t>
            </a:r>
          </a:p>
        </p:txBody>
      </p:sp>
      <p:sp>
        <p:nvSpPr>
          <p:cNvPr id="68" name="Čárový popisek 2 67"/>
          <p:cNvSpPr/>
          <p:nvPr/>
        </p:nvSpPr>
        <p:spPr bwMode="auto">
          <a:xfrm>
            <a:off x="1979712" y="4221088"/>
            <a:ext cx="864096" cy="216024"/>
          </a:xfrm>
          <a:prstGeom prst="borderCallout2">
            <a:avLst>
              <a:gd name="adj1" fmla="val 16002"/>
              <a:gd name="adj2" fmla="val 105373"/>
              <a:gd name="adj3" fmla="val 16153"/>
              <a:gd name="adj4" fmla="val 118627"/>
              <a:gd name="adj5" fmla="val 269566"/>
              <a:gd name="adj6" fmla="val 25398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konstrukce</a:t>
            </a:r>
          </a:p>
        </p:txBody>
      </p:sp>
      <p:sp>
        <p:nvSpPr>
          <p:cNvPr id="69" name="Čárový popisek 2 68"/>
          <p:cNvSpPr/>
          <p:nvPr/>
        </p:nvSpPr>
        <p:spPr bwMode="auto">
          <a:xfrm>
            <a:off x="1979712" y="4221088"/>
            <a:ext cx="864096" cy="216024"/>
          </a:xfrm>
          <a:prstGeom prst="borderCallout2">
            <a:avLst>
              <a:gd name="adj1" fmla="val 16002"/>
              <a:gd name="adj2" fmla="val 105373"/>
              <a:gd name="adj3" fmla="val 16153"/>
              <a:gd name="adj4" fmla="val 118627"/>
              <a:gd name="adj5" fmla="val 428413"/>
              <a:gd name="adj6" fmla="val 152193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rbel" pitchFamily="34" charset="0"/>
              </a:rPr>
              <a:t>konstrukce</a:t>
            </a:r>
          </a:p>
        </p:txBody>
      </p:sp>
      <p:sp>
        <p:nvSpPr>
          <p:cNvPr id="70" name="TextovéPole 69"/>
          <p:cNvSpPr txBox="1"/>
          <p:nvPr/>
        </p:nvSpPr>
        <p:spPr>
          <a:xfrm>
            <a:off x="1331640" y="2348880"/>
            <a:ext cx="18165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Zpracování řídí vstupní data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1" name="TextovéPole 70"/>
          <p:cNvSpPr txBox="1"/>
          <p:nvPr/>
        </p:nvSpPr>
        <p:spPr>
          <a:xfrm>
            <a:off x="1259632" y="4437112"/>
            <a:ext cx="16738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Zpracování řídí X-definice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2" name="TextovéPole 71"/>
          <p:cNvSpPr txBox="1"/>
          <p:nvPr/>
        </p:nvSpPr>
        <p:spPr>
          <a:xfrm>
            <a:off x="6300192" y="5903694"/>
            <a:ext cx="21515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Oba režimy je možné kombinovat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73" name="Přímá spojnice 10"/>
          <p:cNvCxnSpPr/>
          <p:nvPr/>
        </p:nvCxnSpPr>
        <p:spPr bwMode="auto">
          <a:xfrm>
            <a:off x="755154" y="3717032"/>
            <a:ext cx="7561262" cy="0"/>
          </a:xfrm>
          <a:prstGeom prst="line">
            <a:avLst/>
          </a:prstGeom>
          <a:ln w="9525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ovéPole 73"/>
          <p:cNvSpPr txBox="1"/>
          <p:nvPr/>
        </p:nvSpPr>
        <p:spPr>
          <a:xfrm>
            <a:off x="2339752" y="5085184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Kontext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3" grpId="0" animBg="1"/>
      <p:bldP spid="37" grpId="0" animBg="1"/>
      <p:bldP spid="46" grpId="0" animBg="1"/>
      <p:bldP spid="48" grpId="0" animBg="1"/>
      <p:bldP spid="5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Konstrukční režim 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29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683568" y="1916832"/>
            <a:ext cx="7704856" cy="1656184"/>
          </a:xfrm>
          <a:prstGeom prst="roundRect">
            <a:avLst>
              <a:gd name="adj" fmla="val 1241"/>
            </a:avLst>
          </a:prstGeom>
          <a:solidFill>
            <a:srgbClr val="F0F0FF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r>
              <a:rPr lang="cs-CZ" sz="900" b="1" dirty="0" smtClean="0">
                <a:latin typeface="Consolas" pitchFamily="49" charset="0"/>
              </a:rPr>
              <a:t>...</a:t>
            </a:r>
          </a:p>
          <a:p>
            <a:r>
              <a:rPr lang="en-US" sz="900" b="1" dirty="0" smtClean="0">
                <a:latin typeface="Consolas" pitchFamily="49" charset="0"/>
              </a:rPr>
              <a:t>XDPool xpool = XDFactory.compileXD(...);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XDDocument xd = xpool.createXDDocument(name); 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en-US" sz="900" b="1" dirty="0" smtClean="0">
                <a:latin typeface="Consolas" pitchFamily="49" charset="0"/>
              </a:rPr>
              <a:t>/* </a:t>
            </a:r>
            <a:r>
              <a:rPr lang="cs-CZ" sz="900" b="1" dirty="0" smtClean="0">
                <a:latin typeface="Consolas" pitchFamily="49" charset="0"/>
              </a:rPr>
              <a:t>jméno </a:t>
            </a:r>
            <a:r>
              <a:rPr lang="en-US" sz="900" b="1" dirty="0" smtClean="0">
                <a:latin typeface="Consolas" pitchFamily="49" charset="0"/>
              </a:rPr>
              <a:t>X-defini</a:t>
            </a:r>
            <a:r>
              <a:rPr lang="cs-CZ" sz="900" b="1" dirty="0" err="1" smtClean="0">
                <a:latin typeface="Consolas" pitchFamily="49" charset="0"/>
              </a:rPr>
              <a:t>ce</a:t>
            </a:r>
            <a:r>
              <a:rPr lang="en-US" sz="900" b="1" dirty="0" smtClean="0">
                <a:latin typeface="Consolas" pitchFamily="49" charset="0"/>
              </a:rPr>
              <a:t> */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QName qname = new QName(uri, name); </a:t>
            </a:r>
            <a:r>
              <a:rPr lang="cs-CZ" sz="900" b="1" dirty="0" smtClean="0">
                <a:latin typeface="Consolas" pitchFamily="49" charset="0"/>
              </a:rPr>
              <a:t>           </a:t>
            </a:r>
            <a:r>
              <a:rPr lang="en-US" sz="900" b="1" dirty="0" smtClean="0">
                <a:latin typeface="Consolas" pitchFamily="49" charset="0"/>
              </a:rPr>
              <a:t>/* reference </a:t>
            </a:r>
            <a:r>
              <a:rPr lang="cs-CZ" sz="900" b="1" dirty="0" smtClean="0">
                <a:latin typeface="Consolas" pitchFamily="49" charset="0"/>
              </a:rPr>
              <a:t>na</a:t>
            </a:r>
            <a:r>
              <a:rPr lang="en-US" sz="900" b="1" dirty="0" smtClean="0">
                <a:latin typeface="Consolas" pitchFamily="49" charset="0"/>
              </a:rPr>
              <a:t> model */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...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ArrayReporter reporter = new ArrayReporter();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solidFill>
                  <a:srgbClr val="0000FF"/>
                </a:solidFill>
                <a:latin typeface="Consolas" pitchFamily="49" charset="0"/>
              </a:rPr>
              <a:t>Element elem = xd.xcreate(qname, reporter);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</a:t>
            </a:r>
            <a:r>
              <a:rPr lang="en-US" sz="900" b="1" dirty="0" smtClean="0">
                <a:latin typeface="Consolas" pitchFamily="49" charset="0"/>
              </a:rPr>
              <a:t>/* </a:t>
            </a:r>
            <a:r>
              <a:rPr lang="cs-CZ" sz="900" b="1" dirty="0" smtClean="0">
                <a:latin typeface="Consolas" pitchFamily="49" charset="0"/>
              </a:rPr>
              <a:t>spuštění konstrukčního režimu</a:t>
            </a:r>
            <a:r>
              <a:rPr lang="en-US" sz="900" b="1" dirty="0" smtClean="0">
                <a:latin typeface="Consolas" pitchFamily="49" charset="0"/>
              </a:rPr>
              <a:t> */</a:t>
            </a:r>
            <a:endParaRPr lang="cs-CZ" sz="900" b="1" dirty="0" smtClean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if (reporter.errors()) {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 </a:t>
            </a:r>
            <a:r>
              <a:rPr lang="cs-CZ" sz="900" b="1" dirty="0" smtClean="0">
                <a:latin typeface="Consolas" pitchFamily="49" charset="0"/>
              </a:rPr>
              <a:t>   </a:t>
            </a:r>
            <a:r>
              <a:rPr lang="en-US" sz="900" b="1" dirty="0" smtClean="0">
                <a:latin typeface="Consolas" pitchFamily="49" charset="0"/>
              </a:rPr>
              <a:t>// processing of errors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cs-CZ" sz="900" b="1" dirty="0" smtClean="0">
                <a:latin typeface="Consolas" pitchFamily="49" charset="0"/>
              </a:rPr>
              <a:t>}</a:t>
            </a:r>
          </a:p>
          <a:p>
            <a:r>
              <a:rPr lang="cs-CZ" sz="900" b="1" dirty="0" smtClean="0">
                <a:latin typeface="Consolas" pitchFamily="49" charset="0"/>
              </a:rPr>
              <a:t>...</a:t>
            </a: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  <p:sp>
        <p:nvSpPr>
          <p:cNvPr id="11" name="Zaoblený obdélník 10"/>
          <p:cNvSpPr/>
          <p:nvPr/>
        </p:nvSpPr>
        <p:spPr bwMode="auto">
          <a:xfrm>
            <a:off x="683568" y="3789040"/>
            <a:ext cx="7704856" cy="432048"/>
          </a:xfrm>
          <a:prstGeom prst="roundRect">
            <a:avLst>
              <a:gd name="adj" fmla="val 1241"/>
            </a:avLst>
          </a:prstGeom>
          <a:solidFill>
            <a:srgbClr val="F0F0FF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x</a:t>
            </a:r>
            <a:r>
              <a:rPr lang="en-US" sz="900" b="1" dirty="0" smtClean="0">
                <a:solidFill>
                  <a:srgbClr val="0000FF"/>
                </a:solidFill>
                <a:latin typeface="Consolas" pitchFamily="49" charset="0"/>
              </a:rPr>
              <a:t>d.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setXDContext</a:t>
            </a:r>
            <a:r>
              <a:rPr lang="en-US" sz="900" b="1" dirty="0" smtClean="0">
                <a:solidFill>
                  <a:srgbClr val="0000FF"/>
                </a:solidFill>
                <a:latin typeface="Consolas" pitchFamily="49" charset="0"/>
              </a:rPr>
              <a:t>(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"</a:t>
            </a:r>
            <a:r>
              <a:rPr lang="cs-CZ" sz="900" b="1" dirty="0" err="1" smtClean="0">
                <a:solidFill>
                  <a:srgbClr val="0000FF"/>
                </a:solidFill>
                <a:latin typeface="Consolas" pitchFamily="49" charset="0"/>
              </a:rPr>
              <a:t>project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/data.xml"</a:t>
            </a:r>
            <a:r>
              <a:rPr lang="en-US" sz="900" b="1" dirty="0" smtClean="0">
                <a:solidFill>
                  <a:srgbClr val="0000FF"/>
                </a:solidFill>
                <a:latin typeface="Consolas" pitchFamily="49" charset="0"/>
              </a:rPr>
              <a:t>);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       </a:t>
            </a:r>
            <a:r>
              <a:rPr lang="en-US" sz="900" b="1" dirty="0" smtClean="0">
                <a:latin typeface="Consolas" pitchFamily="49" charset="0"/>
              </a:rPr>
              <a:t>/* </a:t>
            </a:r>
            <a:r>
              <a:rPr lang="cs-CZ" sz="900" b="1" dirty="0" smtClean="0">
                <a:latin typeface="Consolas" pitchFamily="49" charset="0"/>
              </a:rPr>
              <a:t>nastavení zdrojových dat - kontextu</a:t>
            </a:r>
            <a:r>
              <a:rPr lang="en-US" sz="900" b="1" dirty="0" smtClean="0">
                <a:latin typeface="Consolas" pitchFamily="49" charset="0"/>
              </a:rPr>
              <a:t> */</a:t>
            </a:r>
            <a:endParaRPr lang="cs-CZ" sz="900" b="1" dirty="0" smtClean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cs-CZ" sz="900" b="1" dirty="0" smtClean="0">
                <a:latin typeface="Consolas" pitchFamily="49" charset="0"/>
              </a:rPr>
              <a:t>x</a:t>
            </a:r>
            <a:r>
              <a:rPr lang="en-US" sz="900" b="1" dirty="0" smtClean="0">
                <a:latin typeface="Consolas" pitchFamily="49" charset="0"/>
              </a:rPr>
              <a:t>d.xcreate(qname, reporter);</a:t>
            </a:r>
            <a:endParaRPr lang="cs-CZ" sz="900" b="1" dirty="0" smtClean="0">
              <a:latin typeface="Consolas" pitchFamily="49" charset="0"/>
            </a:endParaRP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Konstrukční režim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30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7" name="Zaoblený obdélník 6"/>
          <p:cNvSpPr/>
          <p:nvPr/>
        </p:nvSpPr>
        <p:spPr bwMode="auto">
          <a:xfrm>
            <a:off x="683568" y="1628800"/>
            <a:ext cx="7704856" cy="432048"/>
          </a:xfrm>
          <a:prstGeom prst="roundRect">
            <a:avLst>
              <a:gd name="adj" fmla="val 1573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def</a:t>
            </a:r>
            <a:r>
              <a:rPr lang="cs-CZ" sz="800" b="1" dirty="0" smtClean="0">
                <a:latin typeface="Consolas" pitchFamily="49" charset="0"/>
              </a:rPr>
              <a:t> </a:t>
            </a:r>
            <a:r>
              <a:rPr lang="cs-CZ" sz="800" b="1" dirty="0" err="1" smtClean="0">
                <a:latin typeface="Consolas" pitchFamily="49" charset="0"/>
              </a:rPr>
              <a:t>xmlns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="http://www.</a:t>
            </a:r>
            <a:r>
              <a:rPr lang="cs-CZ" sz="800" b="1" dirty="0" err="1" smtClean="0">
                <a:latin typeface="Consolas" pitchFamily="49" charset="0"/>
              </a:rPr>
              <a:t>syntea.cz</a:t>
            </a:r>
            <a:r>
              <a:rPr lang="cs-CZ" sz="800" b="1" dirty="0" smtClean="0">
                <a:latin typeface="Consolas" pitchFamily="49" charset="0"/>
              </a:rPr>
              <a:t>/</a:t>
            </a:r>
            <a:r>
              <a:rPr lang="cs-CZ" sz="800" b="1" dirty="0" err="1" smtClean="0">
                <a:latin typeface="Consolas" pitchFamily="49" charset="0"/>
              </a:rPr>
              <a:t>xdef</a:t>
            </a:r>
            <a:r>
              <a:rPr lang="cs-CZ" sz="800" b="1" dirty="0" smtClean="0">
                <a:latin typeface="Consolas" pitchFamily="49" charset="0"/>
              </a:rPr>
              <a:t>/3.1"&gt;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&lt;A    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script</a:t>
            </a:r>
            <a:r>
              <a:rPr lang="cs-CZ" sz="800" b="1" dirty="0" smtClean="0">
                <a:latin typeface="Consolas" pitchFamily="49" charset="0"/>
              </a:rPr>
              <a:t>="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create</a:t>
            </a:r>
            <a:r>
              <a:rPr lang="cs-CZ" sz="800" b="1" dirty="0" smtClean="0">
                <a:solidFill>
                  <a:srgbClr val="0000FF"/>
                </a:solidFill>
                <a:latin typeface="Consolas" pitchFamily="49" charset="0"/>
              </a:rPr>
              <a:t> ???</a:t>
            </a:r>
            <a:r>
              <a:rPr lang="cs-CZ" sz="8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&lt;/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def</a:t>
            </a:r>
            <a:r>
              <a:rPr lang="cs-CZ" sz="8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800" b="1" dirty="0">
              <a:latin typeface="Consolas" pitchFamily="49" charset="0"/>
            </a:endParaRPr>
          </a:p>
        </p:txBody>
      </p:sp>
      <p:sp>
        <p:nvSpPr>
          <p:cNvPr id="11" name="Zaoblený obdélník 10"/>
          <p:cNvSpPr/>
          <p:nvPr/>
        </p:nvSpPr>
        <p:spPr bwMode="auto">
          <a:xfrm>
            <a:off x="683568" y="2708920"/>
            <a:ext cx="7704856" cy="216024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&lt;A/&gt;</a:t>
            </a:r>
          </a:p>
        </p:txBody>
      </p:sp>
      <p:sp>
        <p:nvSpPr>
          <p:cNvPr id="13" name="Zaoblený obdélník 12"/>
          <p:cNvSpPr/>
          <p:nvPr/>
        </p:nvSpPr>
        <p:spPr bwMode="auto">
          <a:xfrm>
            <a:off x="683568" y="3068960"/>
            <a:ext cx="7704856" cy="720080"/>
          </a:xfrm>
          <a:prstGeom prst="roundRect">
            <a:avLst>
              <a:gd name="adj" fmla="val 1573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def</a:t>
            </a:r>
            <a:r>
              <a:rPr lang="cs-CZ" sz="800" b="1" dirty="0" smtClean="0">
                <a:latin typeface="Consolas" pitchFamily="49" charset="0"/>
              </a:rPr>
              <a:t> </a:t>
            </a:r>
            <a:r>
              <a:rPr lang="cs-CZ" sz="800" b="1" dirty="0" err="1" smtClean="0">
                <a:latin typeface="Consolas" pitchFamily="49" charset="0"/>
              </a:rPr>
              <a:t>xmlns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="http://www.</a:t>
            </a:r>
            <a:r>
              <a:rPr lang="cs-CZ" sz="800" b="1" dirty="0" err="1" smtClean="0">
                <a:latin typeface="Consolas" pitchFamily="49" charset="0"/>
              </a:rPr>
              <a:t>syntea.cz</a:t>
            </a:r>
            <a:r>
              <a:rPr lang="cs-CZ" sz="800" b="1" dirty="0" smtClean="0">
                <a:latin typeface="Consolas" pitchFamily="49" charset="0"/>
              </a:rPr>
              <a:t>/</a:t>
            </a:r>
            <a:r>
              <a:rPr lang="cs-CZ" sz="800" b="1" dirty="0" err="1" smtClean="0">
                <a:latin typeface="Consolas" pitchFamily="49" charset="0"/>
              </a:rPr>
              <a:t>xdef</a:t>
            </a:r>
            <a:r>
              <a:rPr lang="cs-CZ" sz="800" b="1" dirty="0" smtClean="0">
                <a:latin typeface="Consolas" pitchFamily="49" charset="0"/>
              </a:rPr>
              <a:t>/3.1" 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name</a:t>
            </a:r>
            <a:r>
              <a:rPr lang="cs-CZ" sz="800" b="1" dirty="0" smtClean="0">
                <a:latin typeface="Consolas" pitchFamily="49" charset="0"/>
              </a:rPr>
              <a:t>="Příklad-K2"&gt;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&lt;A    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script</a:t>
            </a:r>
            <a:r>
              <a:rPr lang="cs-CZ" sz="800" b="1" dirty="0" smtClean="0">
                <a:latin typeface="Consolas" pitchFamily="49" charset="0"/>
              </a:rPr>
              <a:t>="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create</a:t>
            </a:r>
            <a:r>
              <a:rPr lang="cs-CZ" sz="800" b="1" dirty="0" smtClean="0">
                <a:solidFill>
                  <a:srgbClr val="0000FF"/>
                </a:solidFill>
                <a:latin typeface="Consolas" pitchFamily="49" charset="0"/>
              </a:rPr>
              <a:t> 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true</a:t>
            </a:r>
            <a:r>
              <a:rPr lang="cs-CZ" sz="8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  &lt;B  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script</a:t>
            </a:r>
            <a:r>
              <a:rPr lang="cs-CZ" sz="800" b="1" dirty="0" smtClean="0">
                <a:latin typeface="Consolas" pitchFamily="49" charset="0"/>
              </a:rPr>
              <a:t>="</a:t>
            </a:r>
            <a:r>
              <a:rPr lang="cs-CZ" sz="800" b="1" dirty="0" err="1" smtClean="0">
                <a:latin typeface="Consolas" pitchFamily="49" charset="0"/>
              </a:rPr>
              <a:t>occurs</a:t>
            </a:r>
            <a:r>
              <a:rPr lang="cs-CZ" sz="800" b="1" dirty="0" smtClean="0">
                <a:latin typeface="Consolas" pitchFamily="49" charset="0"/>
              </a:rPr>
              <a:t> *; 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create</a:t>
            </a:r>
            <a:r>
              <a:rPr lang="cs-CZ" sz="800" b="1" dirty="0" smtClean="0">
                <a:solidFill>
                  <a:srgbClr val="0000FF"/>
                </a:solidFill>
                <a:latin typeface="Consolas" pitchFamily="49" charset="0"/>
              </a:rPr>
              <a:t> 3</a:t>
            </a:r>
            <a:r>
              <a:rPr lang="cs-CZ" sz="8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&lt;/A&gt;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&lt;/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def</a:t>
            </a:r>
            <a:r>
              <a:rPr lang="cs-CZ" sz="8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800" b="1" dirty="0">
              <a:latin typeface="Consolas" pitchFamily="49" charset="0"/>
            </a:endParaRPr>
          </a:p>
        </p:txBody>
      </p:sp>
      <p:sp>
        <p:nvSpPr>
          <p:cNvPr id="16" name="Zaoblený obdélník 15"/>
          <p:cNvSpPr/>
          <p:nvPr/>
        </p:nvSpPr>
        <p:spPr bwMode="auto">
          <a:xfrm>
            <a:off x="683568" y="3861048"/>
            <a:ext cx="7704856" cy="720080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&lt;A&gt;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&lt;B/&gt;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&lt;B/&gt;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&lt;B/&gt;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&lt;/A&gt;</a:t>
            </a:r>
          </a:p>
          <a:p>
            <a:pPr>
              <a:defRPr/>
            </a:pPr>
            <a:endParaRPr lang="cs-CZ" sz="800" b="1" dirty="0">
              <a:latin typeface="Consolas" pitchFamily="49" charset="0"/>
            </a:endParaRPr>
          </a:p>
        </p:txBody>
      </p:sp>
      <p:sp>
        <p:nvSpPr>
          <p:cNvPr id="17" name="Zaoblený obdélník 16"/>
          <p:cNvSpPr/>
          <p:nvPr/>
        </p:nvSpPr>
        <p:spPr bwMode="auto">
          <a:xfrm>
            <a:off x="683568" y="2204864"/>
            <a:ext cx="7704856" cy="432048"/>
          </a:xfrm>
          <a:prstGeom prst="roundRect">
            <a:avLst>
              <a:gd name="adj" fmla="val 1573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def</a:t>
            </a:r>
            <a:r>
              <a:rPr lang="cs-CZ" sz="800" b="1" dirty="0" smtClean="0">
                <a:latin typeface="Consolas" pitchFamily="49" charset="0"/>
              </a:rPr>
              <a:t> </a:t>
            </a:r>
            <a:r>
              <a:rPr lang="cs-CZ" sz="800" b="1" dirty="0" err="1" smtClean="0">
                <a:latin typeface="Consolas" pitchFamily="49" charset="0"/>
              </a:rPr>
              <a:t>xmlns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="http://www.</a:t>
            </a:r>
            <a:r>
              <a:rPr lang="cs-CZ" sz="800" b="1" dirty="0" err="1" smtClean="0">
                <a:latin typeface="Consolas" pitchFamily="49" charset="0"/>
              </a:rPr>
              <a:t>syntea.cz</a:t>
            </a:r>
            <a:r>
              <a:rPr lang="cs-CZ" sz="800" b="1" dirty="0" smtClean="0">
                <a:latin typeface="Consolas" pitchFamily="49" charset="0"/>
              </a:rPr>
              <a:t>/</a:t>
            </a:r>
            <a:r>
              <a:rPr lang="cs-CZ" sz="800" b="1" dirty="0" err="1" smtClean="0">
                <a:latin typeface="Consolas" pitchFamily="49" charset="0"/>
              </a:rPr>
              <a:t>xdef</a:t>
            </a:r>
            <a:r>
              <a:rPr lang="cs-CZ" sz="800" b="1" dirty="0" smtClean="0">
                <a:latin typeface="Consolas" pitchFamily="49" charset="0"/>
              </a:rPr>
              <a:t>/3.1" 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name</a:t>
            </a:r>
            <a:r>
              <a:rPr lang="cs-CZ" sz="800" b="1" dirty="0" smtClean="0">
                <a:latin typeface="Consolas" pitchFamily="49" charset="0"/>
              </a:rPr>
              <a:t>="Příklad-K1"&gt;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&lt;A    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script</a:t>
            </a:r>
            <a:r>
              <a:rPr lang="cs-CZ" sz="800" b="1" dirty="0" smtClean="0">
                <a:latin typeface="Consolas" pitchFamily="49" charset="0"/>
              </a:rPr>
              <a:t>="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create</a:t>
            </a:r>
            <a:r>
              <a:rPr lang="cs-CZ" sz="800" b="1" dirty="0" smtClean="0">
                <a:solidFill>
                  <a:srgbClr val="0000FF"/>
                </a:solidFill>
                <a:latin typeface="Consolas" pitchFamily="49" charset="0"/>
              </a:rPr>
              <a:t> 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true</a:t>
            </a:r>
            <a:r>
              <a:rPr lang="cs-CZ" sz="8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&lt;/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def</a:t>
            </a:r>
            <a:r>
              <a:rPr lang="cs-CZ" sz="8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  <p:cxnSp>
        <p:nvCxnSpPr>
          <p:cNvPr id="18" name="Přímá spojnice 10"/>
          <p:cNvCxnSpPr/>
          <p:nvPr/>
        </p:nvCxnSpPr>
        <p:spPr bwMode="auto">
          <a:xfrm>
            <a:off x="539552" y="2132856"/>
            <a:ext cx="8352928" cy="0"/>
          </a:xfrm>
          <a:prstGeom prst="line">
            <a:avLst/>
          </a:prstGeom>
          <a:ln w="9525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Přímá spojnice 10"/>
          <p:cNvCxnSpPr/>
          <p:nvPr/>
        </p:nvCxnSpPr>
        <p:spPr bwMode="auto">
          <a:xfrm>
            <a:off x="539552" y="2996952"/>
            <a:ext cx="8352928" cy="0"/>
          </a:xfrm>
          <a:prstGeom prst="line">
            <a:avLst/>
          </a:prstGeom>
          <a:ln w="9525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Zaoblený obdélník 20"/>
          <p:cNvSpPr/>
          <p:nvPr/>
        </p:nvSpPr>
        <p:spPr bwMode="auto">
          <a:xfrm>
            <a:off x="683568" y="4725144"/>
            <a:ext cx="7704856" cy="720080"/>
          </a:xfrm>
          <a:prstGeom prst="roundRect">
            <a:avLst>
              <a:gd name="adj" fmla="val 1573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def</a:t>
            </a:r>
            <a:r>
              <a:rPr lang="cs-CZ" sz="800" b="1" dirty="0" smtClean="0">
                <a:latin typeface="Consolas" pitchFamily="49" charset="0"/>
              </a:rPr>
              <a:t> </a:t>
            </a:r>
            <a:r>
              <a:rPr lang="cs-CZ" sz="800" b="1" dirty="0" err="1" smtClean="0">
                <a:latin typeface="Consolas" pitchFamily="49" charset="0"/>
              </a:rPr>
              <a:t>xmlns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="http://www.</a:t>
            </a:r>
            <a:r>
              <a:rPr lang="cs-CZ" sz="800" b="1" dirty="0" err="1" smtClean="0">
                <a:latin typeface="Consolas" pitchFamily="49" charset="0"/>
              </a:rPr>
              <a:t>syntea.cz</a:t>
            </a:r>
            <a:r>
              <a:rPr lang="cs-CZ" sz="800" b="1" dirty="0" smtClean="0">
                <a:latin typeface="Consolas" pitchFamily="49" charset="0"/>
              </a:rPr>
              <a:t>/</a:t>
            </a:r>
            <a:r>
              <a:rPr lang="cs-CZ" sz="800" b="1" dirty="0" err="1" smtClean="0">
                <a:latin typeface="Consolas" pitchFamily="49" charset="0"/>
              </a:rPr>
              <a:t>xdef</a:t>
            </a:r>
            <a:r>
              <a:rPr lang="cs-CZ" sz="800" b="1" dirty="0" smtClean="0">
                <a:latin typeface="Consolas" pitchFamily="49" charset="0"/>
              </a:rPr>
              <a:t>/3.1" 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name</a:t>
            </a:r>
            <a:r>
              <a:rPr lang="cs-CZ" sz="800" b="1" dirty="0" smtClean="0">
                <a:latin typeface="Consolas" pitchFamily="49" charset="0"/>
              </a:rPr>
              <a:t>="Příklad-K3"&gt;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&lt;A    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script</a:t>
            </a:r>
            <a:r>
              <a:rPr lang="cs-CZ" sz="800" b="1" dirty="0" smtClean="0">
                <a:latin typeface="Consolas" pitchFamily="49" charset="0"/>
              </a:rPr>
              <a:t>="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create</a:t>
            </a:r>
            <a:r>
              <a:rPr lang="cs-CZ" sz="800" b="1" dirty="0" smtClean="0">
                <a:solidFill>
                  <a:srgbClr val="0000FF"/>
                </a:solidFill>
                <a:latin typeface="Consolas" pitchFamily="49" charset="0"/>
              </a:rPr>
              <a:t> 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true</a:t>
            </a:r>
            <a:r>
              <a:rPr lang="cs-CZ" sz="8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  &lt;B  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script</a:t>
            </a:r>
            <a:r>
              <a:rPr lang="cs-CZ" sz="800" b="1" dirty="0" smtClean="0">
                <a:latin typeface="Consolas" pitchFamily="49" charset="0"/>
              </a:rPr>
              <a:t>="</a:t>
            </a:r>
            <a:r>
              <a:rPr lang="cs-CZ" sz="800" b="1" dirty="0" err="1" smtClean="0">
                <a:latin typeface="Consolas" pitchFamily="49" charset="0"/>
              </a:rPr>
              <a:t>occurs</a:t>
            </a:r>
            <a:r>
              <a:rPr lang="cs-CZ" sz="800" b="1" dirty="0" smtClean="0">
                <a:latin typeface="Consolas" pitchFamily="49" charset="0"/>
              </a:rPr>
              <a:t> *; 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create</a:t>
            </a:r>
            <a:r>
              <a:rPr lang="cs-CZ" sz="800" b="1" dirty="0" smtClean="0">
                <a:solidFill>
                  <a:srgbClr val="0000FF"/>
                </a:solidFill>
                <a:latin typeface="Consolas" pitchFamily="49" charset="0"/>
              </a:rPr>
              <a:t> [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false</a:t>
            </a:r>
            <a:r>
              <a:rPr lang="cs-CZ" sz="800" b="1" dirty="0" smtClean="0">
                <a:solidFill>
                  <a:srgbClr val="0000FF"/>
                </a:solidFill>
                <a:latin typeface="Consolas" pitchFamily="49" charset="0"/>
              </a:rPr>
              <a:t>, 0, '</a:t>
            </a:r>
            <a:r>
              <a:rPr lang="cs-CZ" sz="800" b="1" dirty="0" err="1" smtClean="0">
                <a:solidFill>
                  <a:srgbClr val="0000FF"/>
                </a:solidFill>
                <a:latin typeface="Consolas" pitchFamily="49" charset="0"/>
              </a:rPr>
              <a:t>abc</a:t>
            </a:r>
            <a:r>
              <a:rPr lang="cs-CZ" sz="800" b="1" dirty="0" smtClean="0">
                <a:solidFill>
                  <a:srgbClr val="0000FF"/>
                </a:solidFill>
                <a:latin typeface="Consolas" pitchFamily="49" charset="0"/>
              </a:rPr>
              <a:t>' ]</a:t>
            </a:r>
            <a:r>
              <a:rPr lang="cs-CZ" sz="8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&lt;/A&gt;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&lt;/</a:t>
            </a:r>
            <a:r>
              <a:rPr lang="cs-CZ" sz="800" b="1" dirty="0" err="1" smtClean="0">
                <a:latin typeface="Consolas" pitchFamily="49" charset="0"/>
              </a:rPr>
              <a:t>xd</a:t>
            </a:r>
            <a:r>
              <a:rPr lang="cs-CZ" sz="800" b="1" dirty="0" smtClean="0">
                <a:latin typeface="Consolas" pitchFamily="49" charset="0"/>
              </a:rPr>
              <a:t>:</a:t>
            </a:r>
            <a:r>
              <a:rPr lang="cs-CZ" sz="800" b="1" dirty="0" err="1" smtClean="0">
                <a:latin typeface="Consolas" pitchFamily="49" charset="0"/>
              </a:rPr>
              <a:t>def</a:t>
            </a:r>
            <a:r>
              <a:rPr lang="cs-CZ" sz="8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800" b="1" dirty="0">
              <a:latin typeface="Consolas" pitchFamily="49" charset="0"/>
            </a:endParaRPr>
          </a:p>
        </p:txBody>
      </p:sp>
      <p:sp>
        <p:nvSpPr>
          <p:cNvPr id="22" name="Zaoblený obdélník 21"/>
          <p:cNvSpPr/>
          <p:nvPr/>
        </p:nvSpPr>
        <p:spPr bwMode="auto">
          <a:xfrm>
            <a:off x="683568" y="5517232"/>
            <a:ext cx="7704856" cy="720080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&lt;A&gt;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&lt;B/&gt;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&lt;B/&gt;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  &lt;B/&gt;</a:t>
            </a:r>
          </a:p>
          <a:p>
            <a:pPr>
              <a:defRPr/>
            </a:pPr>
            <a:r>
              <a:rPr lang="cs-CZ" sz="800" b="1" dirty="0" smtClean="0">
                <a:latin typeface="Consolas" pitchFamily="49" charset="0"/>
              </a:rPr>
              <a:t>&lt;/A&gt;</a:t>
            </a:r>
          </a:p>
          <a:p>
            <a:pPr>
              <a:defRPr/>
            </a:pPr>
            <a:endParaRPr lang="cs-CZ" sz="800" b="1" dirty="0">
              <a:latin typeface="Consolas" pitchFamily="49" charset="0"/>
            </a:endParaRPr>
          </a:p>
        </p:txBody>
      </p:sp>
      <p:cxnSp>
        <p:nvCxnSpPr>
          <p:cNvPr id="23" name="Přímá spojnice 10"/>
          <p:cNvCxnSpPr/>
          <p:nvPr/>
        </p:nvCxnSpPr>
        <p:spPr bwMode="auto">
          <a:xfrm>
            <a:off x="539552" y="4653136"/>
            <a:ext cx="8352928" cy="0"/>
          </a:xfrm>
          <a:prstGeom prst="line">
            <a:avLst/>
          </a:prstGeom>
          <a:ln w="9525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Konstrukční režim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31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13" name="Zaoblený obdélník 12"/>
          <p:cNvSpPr/>
          <p:nvPr/>
        </p:nvSpPr>
        <p:spPr bwMode="auto">
          <a:xfrm>
            <a:off x="683568" y="2636912"/>
            <a:ext cx="7704856" cy="2016224"/>
          </a:xfrm>
          <a:prstGeom prst="roundRect">
            <a:avLst>
              <a:gd name="adj" fmla="val 1573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def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xmlns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="http://www.</a:t>
            </a:r>
            <a:r>
              <a:rPr lang="cs-CZ" sz="750" b="1" dirty="0" err="1" smtClean="0">
                <a:latin typeface="Consolas" pitchFamily="49" charset="0"/>
              </a:rPr>
              <a:t>syntea.cz</a:t>
            </a:r>
            <a:r>
              <a:rPr lang="cs-CZ" sz="750" b="1" dirty="0" smtClean="0">
                <a:latin typeface="Consolas" pitchFamily="49" charset="0"/>
              </a:rPr>
              <a:t>/</a:t>
            </a:r>
            <a:r>
              <a:rPr lang="cs-CZ" sz="750" b="1" dirty="0" err="1" smtClean="0">
                <a:latin typeface="Consolas" pitchFamily="49" charset="0"/>
              </a:rPr>
              <a:t>xdef</a:t>
            </a:r>
            <a:r>
              <a:rPr lang="cs-CZ" sz="750" b="1" dirty="0" smtClean="0">
                <a:latin typeface="Consolas" pitchFamily="49" charset="0"/>
              </a:rPr>
              <a:t>/3.1"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name</a:t>
            </a:r>
            <a:r>
              <a:rPr lang="cs-CZ" sz="750" b="1" dirty="0" smtClean="0">
                <a:latin typeface="Consolas" pitchFamily="49" charset="0"/>
              </a:rPr>
              <a:t>="Příklad-K4"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root</a:t>
            </a:r>
            <a:r>
              <a:rPr lang="cs-CZ" sz="750" b="1" dirty="0" smtClean="0">
                <a:latin typeface="Consolas" pitchFamily="49" charset="0"/>
              </a:rPr>
              <a:t>="Škola"&gt;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declaration</a:t>
            </a:r>
            <a:r>
              <a:rPr lang="cs-CZ" sz="75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Element zdroj = </a:t>
            </a:r>
            <a:r>
              <a:rPr lang="cs-CZ" sz="750" b="1" dirty="0" err="1" smtClean="0">
                <a:latin typeface="Consolas" pitchFamily="49" charset="0"/>
              </a:rPr>
              <a:t>xparse</a:t>
            </a:r>
            <a:r>
              <a:rPr lang="cs-CZ" sz="750" b="1" dirty="0" smtClean="0">
                <a:latin typeface="Consolas" pitchFamily="49" charset="0"/>
              </a:rPr>
              <a:t>('seznam.xml');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&lt;/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declaration</a:t>
            </a:r>
            <a:r>
              <a:rPr lang="cs-CZ" sz="75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&lt;Škola&gt;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&lt;Třída_1A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 smtClean="0">
                <a:latin typeface="Consolas" pitchFamily="49" charset="0"/>
              </a:rPr>
              <a:t>="0..1; </a:t>
            </a:r>
            <a:r>
              <a:rPr lang="cs-CZ" sz="750" b="1" dirty="0" err="1" smtClean="0">
                <a:latin typeface="Consolas" pitchFamily="49" charset="0"/>
              </a:rPr>
              <a:t>create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from</a:t>
            </a:r>
            <a:r>
              <a:rPr lang="cs-CZ" sz="750" b="1" dirty="0" smtClean="0">
                <a:latin typeface="Consolas" pitchFamily="49" charset="0"/>
              </a:rPr>
              <a:t>('//Účastník[@Třída=\'1A\']')"&gt;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&lt;Žák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 smtClean="0">
                <a:latin typeface="Consolas" pitchFamily="49" charset="0"/>
              </a:rPr>
              <a:t>="</a:t>
            </a:r>
            <a:r>
              <a:rPr lang="cs-CZ" sz="750" b="1" dirty="0" err="1" smtClean="0">
                <a:latin typeface="Consolas" pitchFamily="49" charset="0"/>
              </a:rPr>
              <a:t>occurs</a:t>
            </a:r>
            <a:r>
              <a:rPr lang="cs-CZ" sz="750" b="1" dirty="0" smtClean="0">
                <a:latin typeface="Consolas" pitchFamily="49" charset="0"/>
              </a:rPr>
              <a:t> 1..; </a:t>
            </a:r>
            <a:r>
              <a:rPr lang="cs-CZ" sz="750" b="1" dirty="0" err="1" smtClean="0">
                <a:latin typeface="Consolas" pitchFamily="49" charset="0"/>
              </a:rPr>
              <a:t>create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from</a:t>
            </a:r>
            <a:r>
              <a:rPr lang="cs-CZ" sz="750" b="1" dirty="0" smtClean="0">
                <a:latin typeface="Consolas" pitchFamily="49" charset="0"/>
              </a:rPr>
              <a:t>('//Účastník[@Třída=\'1A\']')"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     Jméno = "string()"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/&gt;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&lt;/Třída_1A&gt;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&lt;Třída_2A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 smtClean="0">
                <a:latin typeface="Consolas" pitchFamily="49" charset="0"/>
              </a:rPr>
              <a:t>="0..1; </a:t>
            </a:r>
            <a:r>
              <a:rPr lang="cs-CZ" sz="750" b="1" dirty="0" err="1" smtClean="0">
                <a:latin typeface="Consolas" pitchFamily="49" charset="0"/>
              </a:rPr>
              <a:t>create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from</a:t>
            </a:r>
            <a:r>
              <a:rPr lang="cs-CZ" sz="750" b="1" dirty="0" smtClean="0">
                <a:latin typeface="Consolas" pitchFamily="49" charset="0"/>
              </a:rPr>
              <a:t>('//Účastník[@Třída=\'2A\']')"&gt;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&lt;Žák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 smtClean="0">
                <a:latin typeface="Consolas" pitchFamily="49" charset="0"/>
              </a:rPr>
              <a:t>="</a:t>
            </a:r>
            <a:r>
              <a:rPr lang="cs-CZ" sz="750" b="1" dirty="0" err="1" smtClean="0">
                <a:latin typeface="Consolas" pitchFamily="49" charset="0"/>
              </a:rPr>
              <a:t>occurs</a:t>
            </a:r>
            <a:r>
              <a:rPr lang="cs-CZ" sz="750" b="1" dirty="0" smtClean="0">
                <a:latin typeface="Consolas" pitchFamily="49" charset="0"/>
              </a:rPr>
              <a:t> 1..; </a:t>
            </a:r>
            <a:r>
              <a:rPr lang="cs-CZ" sz="750" b="1" dirty="0" err="1" smtClean="0">
                <a:latin typeface="Consolas" pitchFamily="49" charset="0"/>
              </a:rPr>
              <a:t>create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from</a:t>
            </a:r>
            <a:r>
              <a:rPr lang="cs-CZ" sz="750" b="1" dirty="0" smtClean="0">
                <a:latin typeface="Consolas" pitchFamily="49" charset="0"/>
              </a:rPr>
              <a:t>('//Účastník[@Třída=\'2A\']')"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     Jméno = "string()"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/&gt;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&lt;/Třída_2A&gt;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&lt;/Škola&gt;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&lt;/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def</a:t>
            </a:r>
            <a:r>
              <a:rPr lang="cs-CZ" sz="75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750" b="1" dirty="0">
              <a:latin typeface="Consolas" pitchFamily="49" charset="0"/>
            </a:endParaRPr>
          </a:p>
        </p:txBody>
      </p:sp>
      <p:sp>
        <p:nvSpPr>
          <p:cNvPr id="16" name="Zaoblený obdélník 15"/>
          <p:cNvSpPr/>
          <p:nvPr/>
        </p:nvSpPr>
        <p:spPr bwMode="auto">
          <a:xfrm>
            <a:off x="683568" y="1628800"/>
            <a:ext cx="7704856" cy="889299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&lt;Seznam&gt;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&lt;Účastník Jméno="</a:t>
            </a:r>
            <a:r>
              <a:rPr lang="cs-CZ" sz="750" b="1" dirty="0" err="1" smtClean="0">
                <a:latin typeface="Consolas" pitchFamily="49" charset="0"/>
              </a:rPr>
              <a:t>Vopička</a:t>
            </a:r>
            <a:r>
              <a:rPr lang="cs-CZ" sz="750" b="1" dirty="0" smtClean="0">
                <a:latin typeface="Consolas" pitchFamily="49" charset="0"/>
              </a:rPr>
              <a:t> Karel" Třída="1A"/&gt;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&lt;Účastník Jméno="Malá Jana" Třída="2A"/&gt;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&lt;Účastník Jméno="Svatá Eva" Třída="2A"/&gt;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&lt;Účastník Jméno="Novák Ivo" Třída="2A"/&gt;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&lt;Účastník Jméno="Krátká Eliška" Třída="1A"/&gt;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&lt;/Seznam&gt;</a:t>
            </a:r>
          </a:p>
          <a:p>
            <a:pPr>
              <a:defRPr/>
            </a:pPr>
            <a:endParaRPr lang="cs-CZ" sz="750" b="1" dirty="0">
              <a:latin typeface="Consolas" pitchFamily="49" charset="0"/>
            </a:endParaRPr>
          </a:p>
        </p:txBody>
      </p:sp>
      <p:sp>
        <p:nvSpPr>
          <p:cNvPr id="22" name="Zaoblený obdélník 21"/>
          <p:cNvSpPr/>
          <p:nvPr/>
        </p:nvSpPr>
        <p:spPr bwMode="auto">
          <a:xfrm>
            <a:off x="683568" y="4797152"/>
            <a:ext cx="7704856" cy="1368152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&lt;Škola&gt;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&lt;Třída_1A&gt;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&lt;Žák Jméno="</a:t>
            </a:r>
            <a:r>
              <a:rPr lang="cs-CZ" sz="750" b="1" dirty="0" err="1" smtClean="0">
                <a:latin typeface="Consolas" pitchFamily="49" charset="0"/>
              </a:rPr>
              <a:t>Vopička</a:t>
            </a:r>
            <a:r>
              <a:rPr lang="cs-CZ" sz="750" b="1" dirty="0" smtClean="0">
                <a:latin typeface="Consolas" pitchFamily="49" charset="0"/>
              </a:rPr>
              <a:t> Karel"/&gt;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&lt;Žák Jméno="Krátká Eliška"/&gt;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&lt;/Třída_1A&gt;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&lt;Třída_2A&gt;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&lt;Žák Jméno="Malá Jana"/&gt;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&lt;Žák Jméno="Svatá Eva"/&gt;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&lt;Žák Jméno="Novák Ivo"/&gt;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&lt;/Třída_2A&gt;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&lt;/Škola&gt;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27584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en-US" sz="3600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Na co se </a:t>
            </a:r>
            <a:r>
              <a:rPr lang="cs-CZ" sz="3600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dnes zaměříme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357188" y="1701354"/>
            <a:ext cx="8137525" cy="3383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>
                <a:latin typeface="Calibri" panose="020F0502020204030204" pitchFamily="34" charset="0"/>
              </a:rPr>
              <a:t>XML a X-definice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Jazyk X-definic 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600" b="1" kern="0" dirty="0" smtClean="0">
                <a:latin typeface="Calibri" panose="020F0502020204030204" pitchFamily="34" charset="0"/>
              </a:rPr>
              <a:t>Validace </a:t>
            </a:r>
            <a:r>
              <a:rPr lang="cs-CZ" sz="1600" b="1" kern="0" dirty="0" smtClean="0">
                <a:latin typeface="Calibri" panose="020F0502020204030204" pitchFamily="34" charset="0"/>
              </a:rPr>
              <a:t>a </a:t>
            </a:r>
            <a:r>
              <a:rPr lang="cs-CZ" sz="1600" b="1" kern="0" dirty="0" smtClean="0">
                <a:latin typeface="Calibri" panose="020F0502020204030204" pitchFamily="34" charset="0"/>
              </a:rPr>
              <a:t>konstrukce </a:t>
            </a:r>
            <a:endParaRPr lang="cs-CZ" sz="1600" b="1" kern="0" dirty="0" smtClean="0">
              <a:latin typeface="Calibri" panose="020F0502020204030204" pitchFamily="34" charset="0"/>
            </a:endParaRP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2400" b="1" kern="0" dirty="0">
                <a:solidFill>
                  <a:srgbClr val="0000FF"/>
                </a:solidFill>
                <a:latin typeface="Calibri" panose="020F0502020204030204" pitchFamily="34" charset="0"/>
              </a:rPr>
              <a:t>Programování 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altLang="cs-CZ" sz="1600" b="1" kern="0" dirty="0" smtClean="0">
                <a:latin typeface="Calibri" panose="020F0502020204030204" pitchFamily="34" charset="0"/>
              </a:rPr>
              <a:t>Použití ve větším reálném systému </a:t>
            </a:r>
            <a:endParaRPr lang="cs-CZ" altLang="cs-CZ" sz="1600" b="1" dirty="0"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32</a:t>
            </a:fld>
            <a:endParaRPr lang="cs-CZ" altLang="cs-CZ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8452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18331" y="913854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Programování</a:t>
            </a:r>
            <a:endParaRPr lang="cs-CZ" sz="20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7174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FD4A6DE-255A-4C0E-A52E-71B2D7B9E259}" type="slidenum">
              <a:rPr lang="cs-CZ" altLang="cs-CZ">
                <a:latin typeface="Calibri" pitchFamily="34" charset="0"/>
              </a:rPr>
              <a:pPr/>
              <a:t>33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13" name="Zaoblený obdélník 12"/>
          <p:cNvSpPr/>
          <p:nvPr/>
        </p:nvSpPr>
        <p:spPr bwMode="auto">
          <a:xfrm>
            <a:off x="612204" y="4517699"/>
            <a:ext cx="7704856" cy="2016224"/>
          </a:xfrm>
          <a:prstGeom prst="roundRect">
            <a:avLst>
              <a:gd name="adj" fmla="val 1573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def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xmlns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="http://www.</a:t>
            </a:r>
            <a:r>
              <a:rPr lang="cs-CZ" sz="750" b="1" dirty="0" err="1" smtClean="0">
                <a:latin typeface="Consolas" pitchFamily="49" charset="0"/>
              </a:rPr>
              <a:t>syntea.cz</a:t>
            </a:r>
            <a:r>
              <a:rPr lang="cs-CZ" sz="750" b="1" dirty="0" smtClean="0">
                <a:latin typeface="Consolas" pitchFamily="49" charset="0"/>
              </a:rPr>
              <a:t>/</a:t>
            </a:r>
            <a:r>
              <a:rPr lang="cs-CZ" sz="750" b="1" dirty="0" err="1" smtClean="0">
                <a:latin typeface="Consolas" pitchFamily="49" charset="0"/>
              </a:rPr>
              <a:t>xdef</a:t>
            </a:r>
            <a:r>
              <a:rPr lang="cs-CZ" sz="750" b="1" dirty="0" smtClean="0">
                <a:latin typeface="Consolas" pitchFamily="49" charset="0"/>
              </a:rPr>
              <a:t>/3.1"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name</a:t>
            </a:r>
            <a:r>
              <a:rPr lang="cs-CZ" sz="750" b="1" dirty="0" smtClean="0">
                <a:latin typeface="Consolas" pitchFamily="49" charset="0"/>
              </a:rPr>
              <a:t>="Příklad-K4"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root</a:t>
            </a:r>
            <a:r>
              <a:rPr lang="cs-CZ" sz="750" b="1" dirty="0" smtClean="0">
                <a:latin typeface="Consolas" pitchFamily="49" charset="0"/>
              </a:rPr>
              <a:t>="Škola"&gt;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declaration</a:t>
            </a:r>
            <a:r>
              <a:rPr lang="cs-CZ" sz="75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Element zdroj = </a:t>
            </a:r>
            <a:r>
              <a:rPr lang="cs-CZ" sz="750" b="1" dirty="0" err="1" smtClean="0">
                <a:latin typeface="Consolas" pitchFamily="49" charset="0"/>
              </a:rPr>
              <a:t>xparse</a:t>
            </a:r>
            <a:r>
              <a:rPr lang="cs-CZ" sz="750" b="1" dirty="0" smtClean="0">
                <a:latin typeface="Consolas" pitchFamily="49" charset="0"/>
              </a:rPr>
              <a:t>('seznam.xml');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&lt;/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declaration</a:t>
            </a:r>
            <a:r>
              <a:rPr lang="cs-CZ" sz="75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&lt;Škola&gt;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&lt;Třída_1A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 smtClean="0">
                <a:latin typeface="Consolas" pitchFamily="49" charset="0"/>
              </a:rPr>
              <a:t>="0..1; </a:t>
            </a:r>
            <a:r>
              <a:rPr lang="cs-CZ" sz="750" b="1" dirty="0" err="1" smtClean="0">
                <a:latin typeface="Consolas" pitchFamily="49" charset="0"/>
              </a:rPr>
              <a:t>create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from</a:t>
            </a:r>
            <a:r>
              <a:rPr lang="cs-CZ" sz="750" b="1" dirty="0" smtClean="0">
                <a:latin typeface="Consolas" pitchFamily="49" charset="0"/>
              </a:rPr>
              <a:t>('//Účastník[@Třída=\'1A\']')"&gt;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&lt;Žák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 smtClean="0">
                <a:latin typeface="Consolas" pitchFamily="49" charset="0"/>
              </a:rPr>
              <a:t>="</a:t>
            </a:r>
            <a:r>
              <a:rPr lang="cs-CZ" sz="750" b="1" dirty="0" err="1" smtClean="0">
                <a:latin typeface="Consolas" pitchFamily="49" charset="0"/>
              </a:rPr>
              <a:t>occurs</a:t>
            </a:r>
            <a:r>
              <a:rPr lang="cs-CZ" sz="750" b="1" dirty="0" smtClean="0">
                <a:latin typeface="Consolas" pitchFamily="49" charset="0"/>
              </a:rPr>
              <a:t> 1..; </a:t>
            </a:r>
            <a:r>
              <a:rPr lang="cs-CZ" sz="750" b="1" dirty="0" err="1" smtClean="0">
                <a:latin typeface="Consolas" pitchFamily="49" charset="0"/>
              </a:rPr>
              <a:t>create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from</a:t>
            </a:r>
            <a:r>
              <a:rPr lang="cs-CZ" sz="750" b="1" dirty="0" smtClean="0">
                <a:latin typeface="Consolas" pitchFamily="49" charset="0"/>
              </a:rPr>
              <a:t>('//Účastník[@Třída=\'1A\']')"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     Jméno = "string()"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/&gt;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&lt;/Třída_1A&gt;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&lt;Třída_2A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 smtClean="0">
                <a:latin typeface="Consolas" pitchFamily="49" charset="0"/>
              </a:rPr>
              <a:t>="0..1; </a:t>
            </a:r>
            <a:r>
              <a:rPr lang="cs-CZ" sz="750" b="1" dirty="0" err="1" smtClean="0">
                <a:latin typeface="Consolas" pitchFamily="49" charset="0"/>
              </a:rPr>
              <a:t>create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from</a:t>
            </a:r>
            <a:r>
              <a:rPr lang="cs-CZ" sz="750" b="1" dirty="0" smtClean="0">
                <a:latin typeface="Consolas" pitchFamily="49" charset="0"/>
              </a:rPr>
              <a:t>('//Účastník[@Třída=\'2A\']')"&gt;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&lt;Žák 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script</a:t>
            </a:r>
            <a:r>
              <a:rPr lang="cs-CZ" sz="750" b="1" dirty="0" smtClean="0">
                <a:latin typeface="Consolas" pitchFamily="49" charset="0"/>
              </a:rPr>
              <a:t>="</a:t>
            </a:r>
            <a:r>
              <a:rPr lang="cs-CZ" sz="750" b="1" dirty="0" err="1" smtClean="0">
                <a:latin typeface="Consolas" pitchFamily="49" charset="0"/>
              </a:rPr>
              <a:t>occurs</a:t>
            </a:r>
            <a:r>
              <a:rPr lang="cs-CZ" sz="750" b="1" dirty="0" smtClean="0">
                <a:latin typeface="Consolas" pitchFamily="49" charset="0"/>
              </a:rPr>
              <a:t> 1..; </a:t>
            </a:r>
            <a:r>
              <a:rPr lang="cs-CZ" sz="750" b="1" dirty="0" err="1" smtClean="0">
                <a:latin typeface="Consolas" pitchFamily="49" charset="0"/>
              </a:rPr>
              <a:t>create</a:t>
            </a:r>
            <a:r>
              <a:rPr lang="cs-CZ" sz="750" b="1" dirty="0" smtClean="0">
                <a:latin typeface="Consolas" pitchFamily="49" charset="0"/>
              </a:rPr>
              <a:t> </a:t>
            </a:r>
            <a:r>
              <a:rPr lang="cs-CZ" sz="750" b="1" dirty="0" err="1" smtClean="0">
                <a:latin typeface="Consolas" pitchFamily="49" charset="0"/>
              </a:rPr>
              <a:t>from</a:t>
            </a:r>
            <a:r>
              <a:rPr lang="cs-CZ" sz="750" b="1" dirty="0" smtClean="0">
                <a:latin typeface="Consolas" pitchFamily="49" charset="0"/>
              </a:rPr>
              <a:t>('//Účastník[@Třída=\'2A\']')"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     Jméno = "string()"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  /&gt;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&lt;/Třída_2A&gt;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&lt;/Škola&gt;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&lt;/</a:t>
            </a:r>
            <a:r>
              <a:rPr lang="cs-CZ" sz="750" b="1" dirty="0" err="1" smtClean="0">
                <a:latin typeface="Consolas" pitchFamily="49" charset="0"/>
              </a:rPr>
              <a:t>xd</a:t>
            </a:r>
            <a:r>
              <a:rPr lang="cs-CZ" sz="750" b="1" dirty="0" smtClean="0">
                <a:latin typeface="Consolas" pitchFamily="49" charset="0"/>
              </a:rPr>
              <a:t>:</a:t>
            </a:r>
            <a:r>
              <a:rPr lang="cs-CZ" sz="750" b="1" dirty="0" err="1" smtClean="0">
                <a:latin typeface="Consolas" pitchFamily="49" charset="0"/>
              </a:rPr>
              <a:t>def</a:t>
            </a:r>
            <a:r>
              <a:rPr lang="cs-CZ" sz="75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750" b="1" dirty="0">
              <a:latin typeface="Consolas" pitchFamily="49" charset="0"/>
            </a:endParaRPr>
          </a:p>
        </p:txBody>
      </p:sp>
      <p:sp>
        <p:nvSpPr>
          <p:cNvPr id="16" name="Zaoblený obdélník 15"/>
          <p:cNvSpPr/>
          <p:nvPr/>
        </p:nvSpPr>
        <p:spPr bwMode="auto">
          <a:xfrm>
            <a:off x="632297" y="3593527"/>
            <a:ext cx="7704856" cy="889299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&lt;Seznam&gt;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&lt;Účastník Jméno="</a:t>
            </a:r>
            <a:r>
              <a:rPr lang="cs-CZ" sz="750" b="1" dirty="0" err="1" smtClean="0">
                <a:latin typeface="Consolas" pitchFamily="49" charset="0"/>
              </a:rPr>
              <a:t>Vopička</a:t>
            </a:r>
            <a:r>
              <a:rPr lang="cs-CZ" sz="750" b="1" dirty="0" smtClean="0">
                <a:latin typeface="Consolas" pitchFamily="49" charset="0"/>
              </a:rPr>
              <a:t> Karel" Třída="1A"/&gt;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&lt;Účastník Jméno="Malá Jana" Třída="2A"/&gt; 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&lt;Účastník Jméno="Svatá Eva" Třída="2A"/&gt;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&lt;Účastník Jméno="Novák Ivo" Třída="2A"/&gt;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&lt;Účastník Jméno="Krátká Eliška" Třída="1A"/&gt;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&lt;/Seznam&gt;</a:t>
            </a:r>
          </a:p>
          <a:p>
            <a:pPr>
              <a:defRPr/>
            </a:pPr>
            <a:endParaRPr lang="cs-CZ" sz="750" b="1" dirty="0">
              <a:latin typeface="Consolas" pitchFamily="49" charset="0"/>
            </a:endParaRPr>
          </a:p>
        </p:txBody>
      </p:sp>
      <p:sp>
        <p:nvSpPr>
          <p:cNvPr id="22" name="Zaoblený obdélník 21"/>
          <p:cNvSpPr/>
          <p:nvPr/>
        </p:nvSpPr>
        <p:spPr bwMode="auto">
          <a:xfrm>
            <a:off x="683568" y="4797152"/>
            <a:ext cx="7704856" cy="1368152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&lt;Škola&gt;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&lt;Třída_1A&gt;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&lt;Žák Jméno="</a:t>
            </a:r>
            <a:r>
              <a:rPr lang="cs-CZ" sz="750" b="1" dirty="0" err="1" smtClean="0">
                <a:latin typeface="Consolas" pitchFamily="49" charset="0"/>
              </a:rPr>
              <a:t>Vopička</a:t>
            </a:r>
            <a:r>
              <a:rPr lang="cs-CZ" sz="750" b="1" dirty="0" smtClean="0">
                <a:latin typeface="Consolas" pitchFamily="49" charset="0"/>
              </a:rPr>
              <a:t> Karel"/&gt;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&lt;Žák Jméno="Krátká Eliška"/&gt;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&lt;/Třída_1A&gt;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&lt;Třída_2A&gt;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&lt;Žák Jméno="Malá Jana"/&gt;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&lt;Žák Jméno="Svatá Eva"/&gt;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  &lt;Žák Jméno="Novák Ivo"/&gt;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  &lt;/Třída_2A&gt;</a:t>
            </a:r>
          </a:p>
          <a:p>
            <a:pPr>
              <a:defRPr/>
            </a:pPr>
            <a:r>
              <a:rPr lang="cs-CZ" sz="750" b="1" dirty="0" smtClean="0">
                <a:latin typeface="Consolas" pitchFamily="49" charset="0"/>
              </a:rPr>
              <a:t>&lt;/Škola&gt;</a:t>
            </a:r>
          </a:p>
        </p:txBody>
      </p:sp>
      <p:sp>
        <p:nvSpPr>
          <p:cNvPr id="9" name="Zaoblený obdélník 8"/>
          <p:cNvSpPr/>
          <p:nvPr/>
        </p:nvSpPr>
        <p:spPr bwMode="auto">
          <a:xfrm>
            <a:off x="608806" y="1623017"/>
            <a:ext cx="8067650" cy="1656184"/>
          </a:xfrm>
          <a:prstGeom prst="roundRect">
            <a:avLst>
              <a:gd name="adj" fmla="val 1241"/>
            </a:avLst>
          </a:prstGeom>
          <a:solidFill>
            <a:srgbClr val="F0F0FF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r>
              <a:rPr lang="cs-CZ" sz="900" b="1" dirty="0" smtClean="0">
                <a:latin typeface="Consolas" pitchFamily="49" charset="0"/>
              </a:rPr>
              <a:t>...</a:t>
            </a:r>
          </a:p>
          <a:p>
            <a:r>
              <a:rPr lang="en-US" sz="900" b="1" dirty="0" smtClean="0">
                <a:latin typeface="Consolas" pitchFamily="49" charset="0"/>
              </a:rPr>
              <a:t>XDPool xpool = XDFactory.compileXD(...);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XDDocument xd = xpool.createXDDocument(name); 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en-US" sz="900" b="1" dirty="0" smtClean="0">
                <a:latin typeface="Consolas" pitchFamily="49" charset="0"/>
              </a:rPr>
              <a:t>/* </a:t>
            </a:r>
            <a:r>
              <a:rPr lang="cs-CZ" sz="900" b="1" dirty="0" smtClean="0">
                <a:latin typeface="Consolas" pitchFamily="49" charset="0"/>
              </a:rPr>
              <a:t>jméno </a:t>
            </a:r>
            <a:r>
              <a:rPr lang="en-US" sz="900" b="1" dirty="0" smtClean="0">
                <a:latin typeface="Consolas" pitchFamily="49" charset="0"/>
              </a:rPr>
              <a:t>X-defini</a:t>
            </a:r>
            <a:r>
              <a:rPr lang="cs-CZ" sz="900" b="1" dirty="0" err="1" smtClean="0">
                <a:latin typeface="Consolas" pitchFamily="49" charset="0"/>
              </a:rPr>
              <a:t>ce</a:t>
            </a:r>
            <a:r>
              <a:rPr lang="en-US" sz="900" b="1" dirty="0" smtClean="0">
                <a:latin typeface="Consolas" pitchFamily="49" charset="0"/>
              </a:rPr>
              <a:t> */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QName qname = new QName(uri, name); </a:t>
            </a:r>
            <a:r>
              <a:rPr lang="cs-CZ" sz="900" b="1" dirty="0" smtClean="0">
                <a:latin typeface="Consolas" pitchFamily="49" charset="0"/>
              </a:rPr>
              <a:t>           </a:t>
            </a:r>
            <a:r>
              <a:rPr lang="en-US" sz="900" b="1" dirty="0" smtClean="0">
                <a:latin typeface="Consolas" pitchFamily="49" charset="0"/>
              </a:rPr>
              <a:t>/* reference </a:t>
            </a:r>
            <a:r>
              <a:rPr lang="cs-CZ" sz="900" b="1" dirty="0" smtClean="0">
                <a:latin typeface="Consolas" pitchFamily="49" charset="0"/>
              </a:rPr>
              <a:t>na</a:t>
            </a:r>
            <a:r>
              <a:rPr lang="en-US" sz="900" b="1" dirty="0" smtClean="0">
                <a:latin typeface="Consolas" pitchFamily="49" charset="0"/>
              </a:rPr>
              <a:t> model */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...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ArrayReporter reporter = new ArrayReporter();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solidFill>
                  <a:srgbClr val="0000FF"/>
                </a:solidFill>
                <a:latin typeface="Consolas" pitchFamily="49" charset="0"/>
              </a:rPr>
              <a:t>Element elem = xd.xcreate(qname, reporter);</a:t>
            </a:r>
            <a:r>
              <a:rPr lang="cs-CZ" sz="900" b="1" dirty="0" smtClean="0">
                <a:solidFill>
                  <a:srgbClr val="0000FF"/>
                </a:solidFill>
                <a:latin typeface="Consolas" pitchFamily="49" charset="0"/>
              </a:rPr>
              <a:t>    </a:t>
            </a:r>
            <a:r>
              <a:rPr lang="en-US" sz="900" b="1" dirty="0" smtClean="0">
                <a:latin typeface="Consolas" pitchFamily="49" charset="0"/>
              </a:rPr>
              <a:t>/* </a:t>
            </a:r>
            <a:r>
              <a:rPr lang="cs-CZ" sz="900" b="1" dirty="0" smtClean="0">
                <a:latin typeface="Consolas" pitchFamily="49" charset="0"/>
              </a:rPr>
              <a:t>spuštění konstrukčního režimu</a:t>
            </a:r>
            <a:r>
              <a:rPr lang="en-US" sz="900" b="1" dirty="0" smtClean="0">
                <a:latin typeface="Consolas" pitchFamily="49" charset="0"/>
              </a:rPr>
              <a:t> */</a:t>
            </a:r>
            <a:endParaRPr lang="cs-CZ" sz="900" b="1" dirty="0" smtClean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if (reporter.errors()) {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en-US" sz="900" b="1" dirty="0" smtClean="0">
                <a:latin typeface="Consolas" pitchFamily="49" charset="0"/>
              </a:rPr>
              <a:t> </a:t>
            </a:r>
            <a:r>
              <a:rPr lang="cs-CZ" sz="900" b="1" dirty="0" smtClean="0">
                <a:latin typeface="Consolas" pitchFamily="49" charset="0"/>
              </a:rPr>
              <a:t>   </a:t>
            </a:r>
            <a:r>
              <a:rPr lang="en-US" sz="900" b="1" dirty="0" smtClean="0">
                <a:latin typeface="Consolas" pitchFamily="49" charset="0"/>
              </a:rPr>
              <a:t>// processing of errors</a:t>
            </a:r>
            <a:endParaRPr lang="cs-CZ" sz="900" b="1" dirty="0" smtClean="0">
              <a:latin typeface="Consolas" pitchFamily="49" charset="0"/>
            </a:endParaRPr>
          </a:p>
          <a:p>
            <a:r>
              <a:rPr lang="cs-CZ" sz="900" b="1" dirty="0" smtClean="0">
                <a:latin typeface="Consolas" pitchFamily="49" charset="0"/>
              </a:rPr>
              <a:t>}</a:t>
            </a:r>
          </a:p>
          <a:p>
            <a:r>
              <a:rPr lang="cs-CZ" sz="900" b="1" dirty="0" smtClean="0">
                <a:latin typeface="Consolas" pitchFamily="49" charset="0"/>
              </a:rPr>
              <a:t>...</a:t>
            </a:r>
          </a:p>
          <a:p>
            <a:pPr>
              <a:defRPr/>
            </a:pPr>
            <a:endParaRPr lang="cs-CZ" sz="900" b="1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0444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Skupina 84"/>
          <p:cNvGrpSpPr>
            <a:grpSpLocks/>
          </p:cNvGrpSpPr>
          <p:nvPr/>
        </p:nvGrpSpPr>
        <p:grpSpPr bwMode="auto">
          <a:xfrm>
            <a:off x="1907704" y="2060848"/>
            <a:ext cx="432048" cy="144016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21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22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23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24" name="Přímá spojovací čára 102"/>
            <p:cNvCxnSpPr>
              <a:cxnSpLocks noChangeShapeType="1"/>
              <a:stCxn id="123" idx="6"/>
              <a:endCxn id="121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25" name="Přímá spojovací čára 103"/>
            <p:cNvCxnSpPr>
              <a:cxnSpLocks noChangeShapeType="1"/>
              <a:stCxn id="123" idx="2"/>
              <a:endCxn id="121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14" name="Skupina 84"/>
          <p:cNvGrpSpPr>
            <a:grpSpLocks/>
          </p:cNvGrpSpPr>
          <p:nvPr/>
        </p:nvGrpSpPr>
        <p:grpSpPr bwMode="auto">
          <a:xfrm>
            <a:off x="1979712" y="2132856"/>
            <a:ext cx="432048" cy="144016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15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16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17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18" name="Přímá spojovací čára 102"/>
            <p:cNvCxnSpPr>
              <a:cxnSpLocks noChangeShapeType="1"/>
              <a:stCxn id="117" idx="6"/>
              <a:endCxn id="115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19" name="Přímá spojovací čára 103"/>
            <p:cNvCxnSpPr>
              <a:cxnSpLocks noChangeShapeType="1"/>
              <a:stCxn id="117" idx="2"/>
              <a:endCxn id="115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Trochu větší IS</a:t>
            </a:r>
            <a:endParaRPr lang="cs-CZ" sz="24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34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14" name="Rectangle 3"/>
          <p:cNvSpPr txBox="1">
            <a:spLocks noChangeArrowheads="1"/>
          </p:cNvSpPr>
          <p:nvPr/>
        </p:nvSpPr>
        <p:spPr bwMode="auto">
          <a:xfrm>
            <a:off x="755650" y="1611313"/>
            <a:ext cx="8137525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000" tIns="0" rIns="36000" bIns="36000"/>
          <a:lstStyle/>
          <a:p>
            <a:pPr algn="just" eaLnBrk="1" hangingPunct="1">
              <a:spcBef>
                <a:spcPts val="2400"/>
              </a:spcBef>
            </a:pPr>
            <a:endParaRPr lang="cs-CZ" altLang="cs-CZ" sz="1600" b="1" dirty="0" smtClean="0">
              <a:solidFill>
                <a:srgbClr val="CA0383"/>
              </a:solidFill>
              <a:latin typeface="Calibri" pitchFamily="34" charset="0"/>
            </a:endParaRPr>
          </a:p>
          <a:p>
            <a:pPr marL="449263" lvl="1" indent="-266700" algn="just" eaLnBrk="1" hangingPunct="1">
              <a:spcBef>
                <a:spcPts val="600"/>
              </a:spcBef>
            </a:pPr>
            <a:endParaRPr lang="cs-CZ" altLang="cs-CZ" sz="1400" b="1" i="1" dirty="0">
              <a:latin typeface="Calibri" pitchFamily="34" charset="0"/>
            </a:endParaRPr>
          </a:p>
        </p:txBody>
      </p:sp>
      <p:sp>
        <p:nvSpPr>
          <p:cNvPr id="8" name="Zaoblený obdélník 7"/>
          <p:cNvSpPr/>
          <p:nvPr/>
        </p:nvSpPr>
        <p:spPr bwMode="auto">
          <a:xfrm>
            <a:off x="971600" y="3068959"/>
            <a:ext cx="7200800" cy="3024337"/>
          </a:xfrm>
          <a:prstGeom prst="roundRect">
            <a:avLst>
              <a:gd name="adj" fmla="val 2814"/>
            </a:avLst>
          </a:prstGeom>
          <a:gradFill>
            <a:gsLst>
              <a:gs pos="0">
                <a:srgbClr val="BEFEE6"/>
              </a:gs>
              <a:gs pos="50000">
                <a:srgbClr val="C8DCDE"/>
              </a:gs>
              <a:gs pos="100000">
                <a:srgbClr val="9BD8D9"/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grpSp>
        <p:nvGrpSpPr>
          <p:cNvPr id="3" name="Skupina 84"/>
          <p:cNvGrpSpPr>
            <a:grpSpLocks/>
          </p:cNvGrpSpPr>
          <p:nvPr/>
        </p:nvGrpSpPr>
        <p:grpSpPr bwMode="auto">
          <a:xfrm>
            <a:off x="1331640" y="2204864"/>
            <a:ext cx="432048" cy="144016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36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38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39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40" name="Přímá spojovací čára 102"/>
            <p:cNvCxnSpPr>
              <a:cxnSpLocks noChangeShapeType="1"/>
              <a:stCxn id="39" idx="6"/>
              <a:endCxn id="36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1" name="Přímá spojovací čára 103"/>
            <p:cNvCxnSpPr>
              <a:cxnSpLocks noChangeShapeType="1"/>
              <a:stCxn id="39" idx="2"/>
              <a:endCxn id="36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63" name="Skupina 62"/>
          <p:cNvGrpSpPr/>
          <p:nvPr/>
        </p:nvGrpSpPr>
        <p:grpSpPr>
          <a:xfrm>
            <a:off x="1403648" y="2348880"/>
            <a:ext cx="288032" cy="720080"/>
            <a:chOff x="2411760" y="2348880"/>
            <a:chExt cx="288032" cy="720080"/>
          </a:xfrm>
        </p:grpSpPr>
        <p:cxnSp>
          <p:nvCxnSpPr>
            <p:cNvPr id="42" name="Přímá spojovací čára 41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4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44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45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46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pic>
        <p:nvPicPr>
          <p:cNvPr id="52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912" y="1988840"/>
            <a:ext cx="414180" cy="295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1988840"/>
            <a:ext cx="414180" cy="295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Zaoblený obdélník 36"/>
          <p:cNvSpPr/>
          <p:nvPr/>
        </p:nvSpPr>
        <p:spPr bwMode="auto">
          <a:xfrm>
            <a:off x="1259632" y="3573016"/>
            <a:ext cx="1800200" cy="2304256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 algn="ctr">
              <a:defRPr/>
            </a:pPr>
            <a:r>
              <a:rPr lang="cs-CZ" sz="2000" b="1" dirty="0" smtClean="0"/>
              <a:t>Subsystém</a:t>
            </a:r>
            <a:endParaRPr lang="cs-CZ" sz="1000" b="1" dirty="0"/>
          </a:p>
          <a:p>
            <a:pPr algn="ctr">
              <a:defRPr/>
            </a:pPr>
            <a:r>
              <a:rPr lang="cs-CZ" sz="1400" b="1" dirty="0" smtClean="0"/>
              <a:t>S-A</a:t>
            </a:r>
            <a:endParaRPr lang="cs-CZ" sz="1400" b="1" dirty="0"/>
          </a:p>
        </p:txBody>
      </p:sp>
      <p:cxnSp>
        <p:nvCxnSpPr>
          <p:cNvPr id="132" name="Přímá spojovací šipka 131"/>
          <p:cNvCxnSpPr/>
          <p:nvPr/>
        </p:nvCxnSpPr>
        <p:spPr bwMode="auto">
          <a:xfrm>
            <a:off x="1763688" y="2492896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cxnSp>
        <p:nvCxnSpPr>
          <p:cNvPr id="136" name="Přímá spojovací šipka 135"/>
          <p:cNvCxnSpPr/>
          <p:nvPr/>
        </p:nvCxnSpPr>
        <p:spPr bwMode="auto">
          <a:xfrm flipV="1">
            <a:off x="6084168" y="2492896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54" name="TextovéPole 53"/>
          <p:cNvSpPr txBox="1"/>
          <p:nvPr/>
        </p:nvSpPr>
        <p:spPr>
          <a:xfrm>
            <a:off x="5292080" y="450912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. . . 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64" name="Skupina 63"/>
          <p:cNvGrpSpPr/>
          <p:nvPr/>
        </p:nvGrpSpPr>
        <p:grpSpPr>
          <a:xfrm>
            <a:off x="2987824" y="2348880"/>
            <a:ext cx="288032" cy="720080"/>
            <a:chOff x="2411760" y="2348880"/>
            <a:chExt cx="288032" cy="720080"/>
          </a:xfrm>
        </p:grpSpPr>
        <p:cxnSp>
          <p:nvCxnSpPr>
            <p:cNvPr id="65" name="Přímá spojovací čára 64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66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67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68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69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70" name="Skupina 69"/>
          <p:cNvGrpSpPr/>
          <p:nvPr/>
        </p:nvGrpSpPr>
        <p:grpSpPr>
          <a:xfrm>
            <a:off x="4716016" y="2348880"/>
            <a:ext cx="288032" cy="720080"/>
            <a:chOff x="2411760" y="2348880"/>
            <a:chExt cx="288032" cy="720080"/>
          </a:xfrm>
        </p:grpSpPr>
        <p:cxnSp>
          <p:nvCxnSpPr>
            <p:cNvPr id="71" name="Přímá spojovací čára 70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72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73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74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75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76" name="Skupina 75"/>
          <p:cNvGrpSpPr/>
          <p:nvPr/>
        </p:nvGrpSpPr>
        <p:grpSpPr>
          <a:xfrm>
            <a:off x="3851920" y="2348880"/>
            <a:ext cx="288032" cy="720080"/>
            <a:chOff x="2411760" y="2348880"/>
            <a:chExt cx="288032" cy="720080"/>
          </a:xfrm>
        </p:grpSpPr>
        <p:cxnSp>
          <p:nvCxnSpPr>
            <p:cNvPr id="77" name="Přímá spojovací čára 76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78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79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80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81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88" name="Skupina 87"/>
          <p:cNvGrpSpPr/>
          <p:nvPr/>
        </p:nvGrpSpPr>
        <p:grpSpPr>
          <a:xfrm>
            <a:off x="7092280" y="2348880"/>
            <a:ext cx="288032" cy="720080"/>
            <a:chOff x="2411760" y="2348880"/>
            <a:chExt cx="288032" cy="720080"/>
          </a:xfrm>
        </p:grpSpPr>
        <p:cxnSp>
          <p:nvCxnSpPr>
            <p:cNvPr id="89" name="Přímá spojovací čára 88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90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91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92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93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94" name="Skupina 93"/>
          <p:cNvGrpSpPr/>
          <p:nvPr/>
        </p:nvGrpSpPr>
        <p:grpSpPr>
          <a:xfrm>
            <a:off x="5724128" y="2348880"/>
            <a:ext cx="288032" cy="720080"/>
            <a:chOff x="2411760" y="2348880"/>
            <a:chExt cx="288032" cy="720080"/>
          </a:xfrm>
        </p:grpSpPr>
        <p:cxnSp>
          <p:nvCxnSpPr>
            <p:cNvPr id="95" name="Přímá spojovací čára 94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96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97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98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99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101" name="Skupina 84"/>
          <p:cNvGrpSpPr>
            <a:grpSpLocks/>
          </p:cNvGrpSpPr>
          <p:nvPr/>
        </p:nvGrpSpPr>
        <p:grpSpPr bwMode="auto">
          <a:xfrm>
            <a:off x="2051720" y="2204864"/>
            <a:ext cx="432048" cy="144016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02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03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04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05" name="Přímá spojovací čára 102"/>
            <p:cNvCxnSpPr>
              <a:cxnSpLocks noChangeShapeType="1"/>
              <a:stCxn id="104" idx="6"/>
              <a:endCxn id="102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6" name="Přímá spojovací čára 103"/>
            <p:cNvCxnSpPr>
              <a:cxnSpLocks noChangeShapeType="1"/>
              <a:stCxn id="104" idx="2"/>
              <a:endCxn id="102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07" name="Skupina 106"/>
          <p:cNvGrpSpPr/>
          <p:nvPr/>
        </p:nvGrpSpPr>
        <p:grpSpPr>
          <a:xfrm>
            <a:off x="2123728" y="2348880"/>
            <a:ext cx="288032" cy="720080"/>
            <a:chOff x="2411760" y="2348880"/>
            <a:chExt cx="288032" cy="720080"/>
          </a:xfrm>
        </p:grpSpPr>
        <p:cxnSp>
          <p:nvCxnSpPr>
            <p:cNvPr id="108" name="Přímá spojovací čára 107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109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110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11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12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cxnSp>
        <p:nvCxnSpPr>
          <p:cNvPr id="113" name="Přímá spojovací šipka 112"/>
          <p:cNvCxnSpPr/>
          <p:nvPr/>
        </p:nvCxnSpPr>
        <p:spPr bwMode="auto">
          <a:xfrm>
            <a:off x="2483768" y="2492896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grpSp>
        <p:nvGrpSpPr>
          <p:cNvPr id="126" name="Skupina 84"/>
          <p:cNvGrpSpPr>
            <a:grpSpLocks/>
          </p:cNvGrpSpPr>
          <p:nvPr/>
        </p:nvGrpSpPr>
        <p:grpSpPr bwMode="auto">
          <a:xfrm>
            <a:off x="2915816" y="2204864"/>
            <a:ext cx="432048" cy="144016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27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28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30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31" name="Přímá spojovací čára 102"/>
            <p:cNvCxnSpPr>
              <a:cxnSpLocks noChangeShapeType="1"/>
              <a:stCxn id="130" idx="6"/>
              <a:endCxn id="127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" name="Přímá spojovací čára 103"/>
            <p:cNvCxnSpPr>
              <a:cxnSpLocks noChangeShapeType="1"/>
              <a:stCxn id="130" idx="2"/>
              <a:endCxn id="127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34" name="Přímá spojovací šipka 133"/>
          <p:cNvCxnSpPr/>
          <p:nvPr/>
        </p:nvCxnSpPr>
        <p:spPr bwMode="auto">
          <a:xfrm flipV="1">
            <a:off x="3347864" y="2420888"/>
            <a:ext cx="0" cy="504056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39" name="TextovéPole 138"/>
          <p:cNvSpPr txBox="1"/>
          <p:nvPr/>
        </p:nvSpPr>
        <p:spPr>
          <a:xfrm>
            <a:off x="2483768" y="2420888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. . . 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0" name="TextovéPole 139"/>
          <p:cNvSpPr txBox="1"/>
          <p:nvPr/>
        </p:nvSpPr>
        <p:spPr>
          <a:xfrm>
            <a:off x="4211960" y="2420888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. . . 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41" name="Přímá spojovací šipka 140"/>
          <p:cNvCxnSpPr/>
          <p:nvPr/>
        </p:nvCxnSpPr>
        <p:spPr bwMode="auto">
          <a:xfrm>
            <a:off x="4211960" y="2420888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cxnSp>
        <p:nvCxnSpPr>
          <p:cNvPr id="142" name="Přímá spojovací šipka 141"/>
          <p:cNvCxnSpPr/>
          <p:nvPr/>
        </p:nvCxnSpPr>
        <p:spPr bwMode="auto">
          <a:xfrm>
            <a:off x="5076056" y="2492896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43" name="Zaoblený obdélník 142"/>
          <p:cNvSpPr/>
          <p:nvPr/>
        </p:nvSpPr>
        <p:spPr bwMode="auto">
          <a:xfrm>
            <a:off x="5436096" y="1988840"/>
            <a:ext cx="864096" cy="360040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Cizí systém</a:t>
            </a:r>
          </a:p>
        </p:txBody>
      </p:sp>
      <p:sp>
        <p:nvSpPr>
          <p:cNvPr id="145" name="Zaoblený obdélník 144"/>
          <p:cNvSpPr/>
          <p:nvPr/>
        </p:nvSpPr>
        <p:spPr bwMode="auto">
          <a:xfrm>
            <a:off x="6804248" y="1988840"/>
            <a:ext cx="864096" cy="360040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Cizí systém</a:t>
            </a:r>
          </a:p>
        </p:txBody>
      </p:sp>
      <p:cxnSp>
        <p:nvCxnSpPr>
          <p:cNvPr id="146" name="Přímá spojovací šipka 145"/>
          <p:cNvCxnSpPr/>
          <p:nvPr/>
        </p:nvCxnSpPr>
        <p:spPr bwMode="auto">
          <a:xfrm flipV="1">
            <a:off x="7524328" y="2420888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stealth" w="med" len="med"/>
            <a:tailEnd type="stealth"/>
          </a:ln>
          <a:effectLst/>
        </p:spPr>
      </p:cxnSp>
      <p:sp>
        <p:nvSpPr>
          <p:cNvPr id="147" name="TextovéPole 146"/>
          <p:cNvSpPr txBox="1"/>
          <p:nvPr/>
        </p:nvSpPr>
        <p:spPr>
          <a:xfrm>
            <a:off x="6300192" y="2492896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. . . 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8" name="Zaoblený obdélník 147"/>
          <p:cNvSpPr/>
          <p:nvPr/>
        </p:nvSpPr>
        <p:spPr bwMode="auto">
          <a:xfrm>
            <a:off x="1403648" y="4149080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P12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0" name="Zaoblený obdélník 149"/>
          <p:cNvSpPr/>
          <p:nvPr/>
        </p:nvSpPr>
        <p:spPr bwMode="auto">
          <a:xfrm>
            <a:off x="2051720" y="429309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P28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1" name="Zaoblený obdélník 150"/>
          <p:cNvSpPr/>
          <p:nvPr/>
        </p:nvSpPr>
        <p:spPr bwMode="auto">
          <a:xfrm>
            <a:off x="1547664" y="465313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P20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2" name="Zaoblený obdélník 151"/>
          <p:cNvSpPr/>
          <p:nvPr/>
        </p:nvSpPr>
        <p:spPr bwMode="auto">
          <a:xfrm>
            <a:off x="2195736" y="4869160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P65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3" name="Zaoblený obdélník 152"/>
          <p:cNvSpPr/>
          <p:nvPr/>
        </p:nvSpPr>
        <p:spPr bwMode="auto">
          <a:xfrm>
            <a:off x="1331640" y="5157192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P07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4" name="Zaoblený obdélník 153"/>
          <p:cNvSpPr/>
          <p:nvPr/>
        </p:nvSpPr>
        <p:spPr bwMode="auto">
          <a:xfrm>
            <a:off x="2051720" y="544522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P14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5" name="Zaoblený obdélník 154"/>
          <p:cNvSpPr/>
          <p:nvPr/>
        </p:nvSpPr>
        <p:spPr bwMode="auto">
          <a:xfrm>
            <a:off x="3275856" y="3573016"/>
            <a:ext cx="1800200" cy="2304256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 algn="ctr">
              <a:defRPr/>
            </a:pPr>
            <a:r>
              <a:rPr lang="cs-CZ" sz="2000" b="1" dirty="0" smtClean="0"/>
              <a:t>Subsystém</a:t>
            </a:r>
            <a:endParaRPr lang="cs-CZ" sz="1000" b="1" dirty="0"/>
          </a:p>
          <a:p>
            <a:pPr algn="ctr">
              <a:defRPr/>
            </a:pPr>
            <a:r>
              <a:rPr lang="cs-CZ" sz="1400" b="1" dirty="0" smtClean="0"/>
              <a:t>S-B</a:t>
            </a:r>
            <a:endParaRPr lang="cs-CZ" sz="1400" b="1" dirty="0"/>
          </a:p>
        </p:txBody>
      </p:sp>
      <p:sp>
        <p:nvSpPr>
          <p:cNvPr id="156" name="Zaoblený obdélník 155"/>
          <p:cNvSpPr/>
          <p:nvPr/>
        </p:nvSpPr>
        <p:spPr bwMode="auto">
          <a:xfrm>
            <a:off x="3419872" y="4149080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P05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7" name="Zaoblený obdélník 156"/>
          <p:cNvSpPr/>
          <p:nvPr/>
        </p:nvSpPr>
        <p:spPr bwMode="auto">
          <a:xfrm>
            <a:off x="4283968" y="4149080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P89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8" name="Zaoblený obdélník 157"/>
          <p:cNvSpPr/>
          <p:nvPr/>
        </p:nvSpPr>
        <p:spPr bwMode="auto">
          <a:xfrm>
            <a:off x="3779912" y="4509120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P34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9" name="Zaoblený obdélník 158"/>
          <p:cNvSpPr/>
          <p:nvPr/>
        </p:nvSpPr>
        <p:spPr bwMode="auto">
          <a:xfrm>
            <a:off x="4283968" y="472514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P23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0" name="Zaoblený obdélník 159"/>
          <p:cNvSpPr/>
          <p:nvPr/>
        </p:nvSpPr>
        <p:spPr bwMode="auto">
          <a:xfrm>
            <a:off x="3347864" y="4797152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P18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1" name="Zaoblený obdélník 160"/>
          <p:cNvSpPr/>
          <p:nvPr/>
        </p:nvSpPr>
        <p:spPr bwMode="auto">
          <a:xfrm>
            <a:off x="3851920" y="501317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P14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2" name="Zaoblený obdélník 161"/>
          <p:cNvSpPr/>
          <p:nvPr/>
        </p:nvSpPr>
        <p:spPr bwMode="auto">
          <a:xfrm>
            <a:off x="3563888" y="537321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P06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3" name="Zaoblený obdélník 162"/>
          <p:cNvSpPr/>
          <p:nvPr/>
        </p:nvSpPr>
        <p:spPr bwMode="auto">
          <a:xfrm>
            <a:off x="4355976" y="544522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P41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4" name="Zaoblený obdélník 163"/>
          <p:cNvSpPr/>
          <p:nvPr/>
        </p:nvSpPr>
        <p:spPr bwMode="auto">
          <a:xfrm>
            <a:off x="6012160" y="3573016"/>
            <a:ext cx="1800200" cy="2304256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 algn="ctr">
              <a:defRPr/>
            </a:pPr>
            <a:r>
              <a:rPr lang="cs-CZ" sz="2000" b="1" dirty="0" smtClean="0"/>
              <a:t>Subsystém</a:t>
            </a:r>
            <a:endParaRPr lang="cs-CZ" sz="1000" b="1" dirty="0"/>
          </a:p>
          <a:p>
            <a:pPr algn="ctr">
              <a:defRPr/>
            </a:pPr>
            <a:r>
              <a:rPr lang="cs-CZ" sz="1400" b="1" dirty="0" smtClean="0"/>
              <a:t>S-N</a:t>
            </a:r>
            <a:endParaRPr lang="cs-CZ" sz="1400" b="1" dirty="0"/>
          </a:p>
        </p:txBody>
      </p:sp>
      <p:sp>
        <p:nvSpPr>
          <p:cNvPr id="165" name="Zaoblený obdélník 164"/>
          <p:cNvSpPr/>
          <p:nvPr/>
        </p:nvSpPr>
        <p:spPr bwMode="auto">
          <a:xfrm>
            <a:off x="6876256" y="436510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P74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6" name="Zaoblený obdélník 165"/>
          <p:cNvSpPr/>
          <p:nvPr/>
        </p:nvSpPr>
        <p:spPr bwMode="auto">
          <a:xfrm>
            <a:off x="6156176" y="4221088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P05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7" name="Zaoblený obdélník 166"/>
          <p:cNvSpPr/>
          <p:nvPr/>
        </p:nvSpPr>
        <p:spPr bwMode="auto">
          <a:xfrm>
            <a:off x="6300192" y="4581128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P27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8" name="Zaoblený obdélník 167"/>
          <p:cNvSpPr/>
          <p:nvPr/>
        </p:nvSpPr>
        <p:spPr bwMode="auto">
          <a:xfrm>
            <a:off x="6948264" y="4797152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P21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9" name="Zaoblený obdélník 168"/>
          <p:cNvSpPr/>
          <p:nvPr/>
        </p:nvSpPr>
        <p:spPr bwMode="auto">
          <a:xfrm>
            <a:off x="6372200" y="501317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P15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0" name="Zaoblený obdélník 169"/>
          <p:cNvSpPr/>
          <p:nvPr/>
        </p:nvSpPr>
        <p:spPr bwMode="auto">
          <a:xfrm>
            <a:off x="7164288" y="508518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P44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1" name="Zaoblený obdélník 170"/>
          <p:cNvSpPr/>
          <p:nvPr/>
        </p:nvSpPr>
        <p:spPr bwMode="auto">
          <a:xfrm>
            <a:off x="6660232" y="544522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Program P39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2" name="TextovéPole 171"/>
          <p:cNvSpPr txBox="1"/>
          <p:nvPr/>
        </p:nvSpPr>
        <p:spPr>
          <a:xfrm>
            <a:off x="3635896" y="3140968"/>
            <a:ext cx="1872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Řízený systém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3" name="Rectangle 3"/>
          <p:cNvSpPr txBox="1">
            <a:spLocks noChangeArrowheads="1"/>
          </p:cNvSpPr>
          <p:nvPr/>
        </p:nvSpPr>
        <p:spPr bwMode="auto">
          <a:xfrm>
            <a:off x="993775" y="980728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                           –&gt; více typů rozhraní</a:t>
            </a:r>
            <a:endParaRPr lang="cs-CZ" sz="24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54" grpId="0"/>
      <p:bldP spid="139" grpId="0"/>
      <p:bldP spid="140" grpId="0"/>
      <p:bldP spid="143" grpId="0" animBg="1"/>
      <p:bldP spid="145" grpId="0" animBg="1"/>
      <p:bldP spid="147" grpId="0"/>
      <p:bldP spid="148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5" descr="45380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89" name="Rectangle 13"/>
          <p:cNvSpPr>
            <a:spLocks noChangeArrowheads="1"/>
          </p:cNvSpPr>
          <p:nvPr/>
        </p:nvSpPr>
        <p:spPr bwMode="auto">
          <a:xfrm>
            <a:off x="755650" y="2205038"/>
            <a:ext cx="7704138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ctr"/>
          <a:lstStyle/>
          <a:p>
            <a:pPr eaLnBrk="1" hangingPunct="1"/>
            <a:r>
              <a:rPr lang="cs-CZ" altLang="cs-CZ" sz="5400" b="1" dirty="0" smtClean="0">
                <a:solidFill>
                  <a:schemeClr val="bg1"/>
                </a:solidFill>
              </a:rPr>
              <a:t>Dekompozice programu</a:t>
            </a:r>
            <a:endParaRPr lang="cs-CZ" altLang="cs-CZ" sz="2200" b="1" dirty="0">
              <a:solidFill>
                <a:schemeClr val="bg1"/>
              </a:solidFill>
            </a:endParaRPr>
          </a:p>
        </p:txBody>
      </p:sp>
      <p:pic>
        <p:nvPicPr>
          <p:cNvPr id="9220" name="Picture 16" descr="syntea logo negativni na purpurove plose_stredn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8525" y="0"/>
            <a:ext cx="14509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Zpracování události programem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36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309320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Zaoblený obdélník 27"/>
          <p:cNvSpPr/>
          <p:nvPr/>
        </p:nvSpPr>
        <p:spPr bwMode="auto">
          <a:xfrm>
            <a:off x="3275856" y="3429000"/>
            <a:ext cx="1512168" cy="720080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smtClean="0"/>
              <a:t>Program</a:t>
            </a:r>
            <a:endParaRPr lang="cs-CZ" sz="1000" b="1" dirty="0"/>
          </a:p>
        </p:txBody>
      </p:sp>
      <p:cxnSp>
        <p:nvCxnSpPr>
          <p:cNvPr id="34" name="Přímá spojovací šipka 33"/>
          <p:cNvCxnSpPr>
            <a:endCxn id="28" idx="1"/>
          </p:cNvCxnSpPr>
          <p:nvPr/>
        </p:nvCxnSpPr>
        <p:spPr bwMode="auto">
          <a:xfrm>
            <a:off x="2051720" y="3789040"/>
            <a:ext cx="1224136" cy="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Přímá spojovací šipka 37"/>
          <p:cNvCxnSpPr/>
          <p:nvPr/>
        </p:nvCxnSpPr>
        <p:spPr bwMode="auto">
          <a:xfrm>
            <a:off x="4788024" y="3789040"/>
            <a:ext cx="1224136" cy="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40" name="Group 103"/>
          <p:cNvGrpSpPr>
            <a:grpSpLocks/>
          </p:cNvGrpSpPr>
          <p:nvPr/>
        </p:nvGrpSpPr>
        <p:grpSpPr bwMode="auto">
          <a:xfrm>
            <a:off x="2915816" y="4869160"/>
            <a:ext cx="2160240" cy="576411"/>
            <a:chOff x="181" y="2619"/>
            <a:chExt cx="943" cy="943"/>
          </a:xfrm>
        </p:grpSpPr>
        <p:grpSp>
          <p:nvGrpSpPr>
            <p:cNvPr id="41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43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4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5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2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46" name="Přímá spojovací šipka 45"/>
          <p:cNvCxnSpPr/>
          <p:nvPr/>
        </p:nvCxnSpPr>
        <p:spPr bwMode="auto">
          <a:xfrm>
            <a:off x="3995936" y="4149080"/>
            <a:ext cx="0" cy="72008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52" name="TextovéPole 41"/>
          <p:cNvSpPr txBox="1">
            <a:spLocks noChangeArrowheads="1"/>
          </p:cNvSpPr>
          <p:nvPr/>
        </p:nvSpPr>
        <p:spPr bwMode="auto">
          <a:xfrm>
            <a:off x="3347864" y="5013176"/>
            <a:ext cx="12241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Zaoblený obdélník 53"/>
          <p:cNvSpPr/>
          <p:nvPr/>
        </p:nvSpPr>
        <p:spPr bwMode="auto">
          <a:xfrm>
            <a:off x="2267744" y="3645024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Zaoblený obdélník 54"/>
          <p:cNvSpPr/>
          <p:nvPr/>
        </p:nvSpPr>
        <p:spPr bwMode="auto">
          <a:xfrm>
            <a:off x="5076056" y="3645024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Reakce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Zaoblený obdélník 55"/>
          <p:cNvSpPr/>
          <p:nvPr/>
        </p:nvSpPr>
        <p:spPr bwMode="auto">
          <a:xfrm>
            <a:off x="827584" y="4653136"/>
            <a:ext cx="1728192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Oznameni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Kod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="3"  …..&gt;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&lt;Subjekt ……/&gt;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&lt;Věc ………./&gt;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&lt;/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Oznameni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&gt;</a:t>
            </a:r>
          </a:p>
        </p:txBody>
      </p:sp>
      <p:sp>
        <p:nvSpPr>
          <p:cNvPr id="57" name="Zaoblený obdélník 56"/>
          <p:cNvSpPr/>
          <p:nvPr/>
        </p:nvSpPr>
        <p:spPr bwMode="auto">
          <a:xfrm>
            <a:off x="5652120" y="4653136"/>
            <a:ext cx="1728192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Vysledek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Kod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="3"  …..&gt;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&lt;Subjekt ……/&gt;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&lt;Věc ………./&gt;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&lt;/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Vysledek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&gt;</a:t>
            </a:r>
          </a:p>
        </p:txBody>
      </p:sp>
      <p:cxnSp>
        <p:nvCxnSpPr>
          <p:cNvPr id="59" name="Přímá spojovací čára 58"/>
          <p:cNvCxnSpPr/>
          <p:nvPr/>
        </p:nvCxnSpPr>
        <p:spPr bwMode="auto">
          <a:xfrm flipH="1">
            <a:off x="827584" y="3717032"/>
            <a:ext cx="1440160" cy="93610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Přímá spojovací čára 60"/>
          <p:cNvCxnSpPr/>
          <p:nvPr/>
        </p:nvCxnSpPr>
        <p:spPr bwMode="auto">
          <a:xfrm flipH="1">
            <a:off x="2555776" y="3933056"/>
            <a:ext cx="360040" cy="144016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Přímá spojovací čára 63"/>
          <p:cNvCxnSpPr/>
          <p:nvPr/>
        </p:nvCxnSpPr>
        <p:spPr bwMode="auto">
          <a:xfrm>
            <a:off x="5076056" y="3933056"/>
            <a:ext cx="576064" cy="151216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Přímá spojovací čára 66"/>
          <p:cNvCxnSpPr/>
          <p:nvPr/>
        </p:nvCxnSpPr>
        <p:spPr bwMode="auto">
          <a:xfrm>
            <a:off x="5724128" y="3645024"/>
            <a:ext cx="1656184" cy="100811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Zpracování události programem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37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Zaoblený obdélník 27"/>
          <p:cNvSpPr/>
          <p:nvPr/>
        </p:nvSpPr>
        <p:spPr bwMode="auto">
          <a:xfrm>
            <a:off x="3275856" y="3428653"/>
            <a:ext cx="1512168" cy="720080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smtClean="0"/>
              <a:t>Program</a:t>
            </a:r>
            <a:endParaRPr lang="cs-CZ" sz="1000" b="1" dirty="0"/>
          </a:p>
        </p:txBody>
      </p:sp>
      <p:cxnSp>
        <p:nvCxnSpPr>
          <p:cNvPr id="34" name="Přímá spojovací šipka 33"/>
          <p:cNvCxnSpPr>
            <a:endCxn id="28" idx="1"/>
          </p:cNvCxnSpPr>
          <p:nvPr/>
        </p:nvCxnSpPr>
        <p:spPr bwMode="auto">
          <a:xfrm>
            <a:off x="2051720" y="3788693"/>
            <a:ext cx="1224136" cy="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Přímá spojovací šipka 37"/>
          <p:cNvCxnSpPr/>
          <p:nvPr/>
        </p:nvCxnSpPr>
        <p:spPr bwMode="auto">
          <a:xfrm>
            <a:off x="4788024" y="3788693"/>
            <a:ext cx="1224136" cy="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2915816" y="4868813"/>
            <a:ext cx="2160240" cy="576411"/>
            <a:chOff x="181" y="2619"/>
            <a:chExt cx="943" cy="943"/>
          </a:xfrm>
        </p:grpSpPr>
        <p:grpSp>
          <p:nvGrpSpPr>
            <p:cNvPr id="3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43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4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5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2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46" name="Přímá spojovací šipka 45"/>
          <p:cNvCxnSpPr/>
          <p:nvPr/>
        </p:nvCxnSpPr>
        <p:spPr bwMode="auto">
          <a:xfrm>
            <a:off x="3995936" y="4148733"/>
            <a:ext cx="0" cy="72008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52" name="TextovéPole 41"/>
          <p:cNvSpPr txBox="1">
            <a:spLocks noChangeArrowheads="1"/>
          </p:cNvSpPr>
          <p:nvPr/>
        </p:nvSpPr>
        <p:spPr bwMode="auto">
          <a:xfrm>
            <a:off x="3347864" y="5012829"/>
            <a:ext cx="12241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Zaoblený obdélník 53"/>
          <p:cNvSpPr/>
          <p:nvPr/>
        </p:nvSpPr>
        <p:spPr bwMode="auto">
          <a:xfrm>
            <a:off x="2267744" y="364467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Zaoblený obdélník 54"/>
          <p:cNvSpPr/>
          <p:nvPr/>
        </p:nvSpPr>
        <p:spPr bwMode="auto">
          <a:xfrm>
            <a:off x="5076056" y="364467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Reakce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Zaoblený obdélník 55"/>
          <p:cNvSpPr/>
          <p:nvPr/>
        </p:nvSpPr>
        <p:spPr bwMode="auto">
          <a:xfrm>
            <a:off x="827584" y="4652789"/>
            <a:ext cx="1728192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Oznameni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Kod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="3"  …..&gt;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&lt;Subjekt ……/&gt;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&lt;Věc ………./&gt;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&lt;/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Oznameni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&gt;</a:t>
            </a:r>
          </a:p>
        </p:txBody>
      </p:sp>
      <p:sp>
        <p:nvSpPr>
          <p:cNvPr id="57" name="Zaoblený obdélník 56"/>
          <p:cNvSpPr/>
          <p:nvPr/>
        </p:nvSpPr>
        <p:spPr bwMode="auto">
          <a:xfrm>
            <a:off x="5652120" y="4652789"/>
            <a:ext cx="1728192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Vysledek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Kod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="3"  …..&gt;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&lt;Subjekt ……/&gt;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&lt;Věc ………./&gt;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&lt;/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Vysledek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&gt;</a:t>
            </a:r>
          </a:p>
        </p:txBody>
      </p:sp>
      <p:cxnSp>
        <p:nvCxnSpPr>
          <p:cNvPr id="59" name="Přímá spojovací čára 58"/>
          <p:cNvCxnSpPr/>
          <p:nvPr/>
        </p:nvCxnSpPr>
        <p:spPr bwMode="auto">
          <a:xfrm flipH="1">
            <a:off x="827584" y="3716685"/>
            <a:ext cx="1440160" cy="93610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Přímá spojovací čára 60"/>
          <p:cNvCxnSpPr/>
          <p:nvPr/>
        </p:nvCxnSpPr>
        <p:spPr bwMode="auto">
          <a:xfrm flipH="1">
            <a:off x="2555776" y="3932709"/>
            <a:ext cx="360040" cy="144016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Přímá spojovací čára 63"/>
          <p:cNvCxnSpPr/>
          <p:nvPr/>
        </p:nvCxnSpPr>
        <p:spPr bwMode="auto">
          <a:xfrm>
            <a:off x="5076056" y="3932709"/>
            <a:ext cx="576064" cy="151216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Přímá spojovací čára 66"/>
          <p:cNvCxnSpPr/>
          <p:nvPr/>
        </p:nvCxnSpPr>
        <p:spPr bwMode="auto">
          <a:xfrm>
            <a:off x="5724128" y="3644677"/>
            <a:ext cx="1656184" cy="100811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Skupina 84"/>
          <p:cNvGrpSpPr>
            <a:grpSpLocks/>
          </p:cNvGrpSpPr>
          <p:nvPr/>
        </p:nvGrpSpPr>
        <p:grpSpPr bwMode="auto">
          <a:xfrm>
            <a:off x="1187624" y="3644677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26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27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29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30" name="Přímá spojovací čára 102"/>
            <p:cNvCxnSpPr>
              <a:cxnSpLocks noChangeShapeType="1"/>
              <a:stCxn id="29" idx="6"/>
              <a:endCxn id="26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1" name="Přímá spojovací čára 103"/>
            <p:cNvCxnSpPr>
              <a:cxnSpLocks noChangeShapeType="1"/>
              <a:stCxn id="29" idx="2"/>
              <a:endCxn id="26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32" name="TextovéPole 41"/>
          <p:cNvSpPr txBox="1">
            <a:spLocks noChangeArrowheads="1"/>
          </p:cNvSpPr>
          <p:nvPr/>
        </p:nvSpPr>
        <p:spPr bwMode="auto">
          <a:xfrm>
            <a:off x="827584" y="2924597"/>
            <a:ext cx="242245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cs-CZ" sz="1600" b="1" dirty="0" smtClean="0"/>
              <a:t>Událost je věta v souboru</a:t>
            </a:r>
            <a:endParaRPr lang="cs-CZ" sz="1600" b="1" dirty="0"/>
          </a:p>
        </p:txBody>
      </p:sp>
      <p:sp>
        <p:nvSpPr>
          <p:cNvPr id="33" name="TextovéPole 41"/>
          <p:cNvSpPr txBox="1">
            <a:spLocks noChangeArrowheads="1"/>
          </p:cNvSpPr>
          <p:nvPr/>
        </p:nvSpPr>
        <p:spPr bwMode="auto">
          <a:xfrm>
            <a:off x="4932040" y="2924597"/>
            <a:ext cx="236148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cs-CZ" sz="1600" b="1" dirty="0" smtClean="0"/>
              <a:t>Reakce je věta v souboru</a:t>
            </a:r>
            <a:endParaRPr lang="cs-CZ" sz="1600" b="1" dirty="0"/>
          </a:p>
        </p:txBody>
      </p:sp>
      <p:grpSp>
        <p:nvGrpSpPr>
          <p:cNvPr id="6" name="Skupina 84"/>
          <p:cNvGrpSpPr>
            <a:grpSpLocks/>
          </p:cNvGrpSpPr>
          <p:nvPr/>
        </p:nvGrpSpPr>
        <p:grpSpPr bwMode="auto">
          <a:xfrm>
            <a:off x="6012160" y="3644677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36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37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39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40" name="Přímá spojovací čára 102"/>
            <p:cNvCxnSpPr>
              <a:cxnSpLocks noChangeShapeType="1"/>
              <a:stCxn id="39" idx="6"/>
              <a:endCxn id="36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1" name="Přímá spojovací čára 103"/>
            <p:cNvCxnSpPr>
              <a:cxnSpLocks noChangeShapeType="1"/>
              <a:stCxn id="39" idx="2"/>
              <a:endCxn id="36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Zpracování události programem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38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Zaoblený obdélník 27"/>
          <p:cNvSpPr/>
          <p:nvPr/>
        </p:nvSpPr>
        <p:spPr bwMode="auto">
          <a:xfrm>
            <a:off x="3275856" y="3429000"/>
            <a:ext cx="1512168" cy="720080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smtClean="0"/>
              <a:t>Program</a:t>
            </a:r>
            <a:endParaRPr lang="cs-CZ" sz="1000" b="1" dirty="0"/>
          </a:p>
        </p:txBody>
      </p:sp>
      <p:cxnSp>
        <p:nvCxnSpPr>
          <p:cNvPr id="34" name="Přímá spojovací šipka 33"/>
          <p:cNvCxnSpPr/>
          <p:nvPr/>
        </p:nvCxnSpPr>
        <p:spPr bwMode="auto">
          <a:xfrm>
            <a:off x="3635896" y="2492896"/>
            <a:ext cx="0" cy="936104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Přímá spojovací šipka 37"/>
          <p:cNvCxnSpPr/>
          <p:nvPr/>
        </p:nvCxnSpPr>
        <p:spPr bwMode="auto">
          <a:xfrm flipV="1">
            <a:off x="4283968" y="2492896"/>
            <a:ext cx="0" cy="936104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2915816" y="4869160"/>
            <a:ext cx="2160240" cy="576411"/>
            <a:chOff x="181" y="2619"/>
            <a:chExt cx="943" cy="943"/>
          </a:xfrm>
        </p:grpSpPr>
        <p:grpSp>
          <p:nvGrpSpPr>
            <p:cNvPr id="3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43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4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5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2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46" name="Přímá spojovací šipka 45"/>
          <p:cNvCxnSpPr/>
          <p:nvPr/>
        </p:nvCxnSpPr>
        <p:spPr bwMode="auto">
          <a:xfrm>
            <a:off x="3995936" y="4149080"/>
            <a:ext cx="0" cy="72008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52" name="TextovéPole 41"/>
          <p:cNvSpPr txBox="1">
            <a:spLocks noChangeArrowheads="1"/>
          </p:cNvSpPr>
          <p:nvPr/>
        </p:nvSpPr>
        <p:spPr bwMode="auto">
          <a:xfrm>
            <a:off x="3347864" y="5013176"/>
            <a:ext cx="12241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Zaoblený obdélník 53"/>
          <p:cNvSpPr/>
          <p:nvPr/>
        </p:nvSpPr>
        <p:spPr bwMode="auto">
          <a:xfrm>
            <a:off x="3275856" y="2796545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Zaoblený obdélník 54"/>
          <p:cNvSpPr/>
          <p:nvPr/>
        </p:nvSpPr>
        <p:spPr bwMode="auto">
          <a:xfrm>
            <a:off x="3995936" y="2796545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Reakce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Zaoblený obdélník 55"/>
          <p:cNvSpPr/>
          <p:nvPr/>
        </p:nvSpPr>
        <p:spPr bwMode="auto">
          <a:xfrm>
            <a:off x="827584" y="4653136"/>
            <a:ext cx="1728192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Oznameni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Kod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="3"  …..&gt;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&lt;Subjekt ……/&gt;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&lt;Věc ………./&gt;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&lt;/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Oznameni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&gt;</a:t>
            </a:r>
          </a:p>
        </p:txBody>
      </p:sp>
      <p:sp>
        <p:nvSpPr>
          <p:cNvPr id="57" name="Zaoblený obdélník 56"/>
          <p:cNvSpPr/>
          <p:nvPr/>
        </p:nvSpPr>
        <p:spPr bwMode="auto">
          <a:xfrm>
            <a:off x="5652120" y="4653136"/>
            <a:ext cx="1728192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Vysledek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Kod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="3"  …..&gt;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&lt;Subjekt ……/&gt;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&lt;Věc ………./&gt;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&lt;/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Vysledek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&gt;</a:t>
            </a:r>
          </a:p>
        </p:txBody>
      </p:sp>
      <p:cxnSp>
        <p:nvCxnSpPr>
          <p:cNvPr id="59" name="Přímá spojovací čára 58"/>
          <p:cNvCxnSpPr/>
          <p:nvPr/>
        </p:nvCxnSpPr>
        <p:spPr bwMode="auto">
          <a:xfrm flipH="1">
            <a:off x="827584" y="2780928"/>
            <a:ext cx="2448272" cy="187220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Přímá spojovací čára 60"/>
          <p:cNvCxnSpPr/>
          <p:nvPr/>
        </p:nvCxnSpPr>
        <p:spPr bwMode="auto">
          <a:xfrm flipH="1">
            <a:off x="2555776" y="3068960"/>
            <a:ext cx="1368152" cy="230425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Přímá spojovací čára 63"/>
          <p:cNvCxnSpPr/>
          <p:nvPr/>
        </p:nvCxnSpPr>
        <p:spPr bwMode="auto">
          <a:xfrm>
            <a:off x="3995936" y="3068960"/>
            <a:ext cx="1656184" cy="237626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Přímá spojovací čára 66"/>
          <p:cNvCxnSpPr/>
          <p:nvPr/>
        </p:nvCxnSpPr>
        <p:spPr bwMode="auto">
          <a:xfrm>
            <a:off x="4644008" y="2780928"/>
            <a:ext cx="2736304" cy="187220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TextovéPole 41"/>
          <p:cNvSpPr txBox="1">
            <a:spLocks noChangeArrowheads="1"/>
          </p:cNvSpPr>
          <p:nvPr/>
        </p:nvSpPr>
        <p:spPr bwMode="auto">
          <a:xfrm>
            <a:off x="1327211" y="2780928"/>
            <a:ext cx="165942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cs-CZ" sz="1600" b="1" dirty="0" smtClean="0"/>
              <a:t>Událost je volání</a:t>
            </a:r>
          </a:p>
          <a:p>
            <a:pPr algn="ctr"/>
            <a:r>
              <a:rPr lang="cs-CZ" sz="1600" b="1" dirty="0" smtClean="0"/>
              <a:t>webové služby</a:t>
            </a:r>
            <a:endParaRPr lang="cs-CZ" sz="1600" b="1" dirty="0"/>
          </a:p>
        </p:txBody>
      </p:sp>
      <p:sp>
        <p:nvSpPr>
          <p:cNvPr id="33" name="TextovéPole 41"/>
          <p:cNvSpPr txBox="1">
            <a:spLocks noChangeArrowheads="1"/>
          </p:cNvSpPr>
          <p:nvPr/>
        </p:nvSpPr>
        <p:spPr bwMode="auto">
          <a:xfrm>
            <a:off x="4788024" y="2636912"/>
            <a:ext cx="232627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cs-CZ" sz="1600" b="1" dirty="0" smtClean="0"/>
              <a:t>Reakce je odpověď </a:t>
            </a:r>
          </a:p>
          <a:p>
            <a:pPr algn="ctr"/>
            <a:r>
              <a:rPr lang="cs-CZ" sz="1600" b="1" dirty="0" smtClean="0"/>
              <a:t>na volání webové služby</a:t>
            </a:r>
            <a:endParaRPr lang="cs-CZ" sz="1600" b="1" dirty="0"/>
          </a:p>
        </p:txBody>
      </p:sp>
      <p:pic>
        <p:nvPicPr>
          <p:cNvPr id="50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1772816"/>
            <a:ext cx="918236" cy="655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Zpracování události programem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39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Zaoblený obdélník 27"/>
          <p:cNvSpPr/>
          <p:nvPr/>
        </p:nvSpPr>
        <p:spPr bwMode="auto">
          <a:xfrm>
            <a:off x="3275856" y="3428653"/>
            <a:ext cx="1512168" cy="720080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smtClean="0"/>
              <a:t>Program</a:t>
            </a:r>
            <a:endParaRPr lang="cs-CZ" sz="1000" b="1" dirty="0"/>
          </a:p>
        </p:txBody>
      </p:sp>
      <p:cxnSp>
        <p:nvCxnSpPr>
          <p:cNvPr id="34" name="Přímá spojovací šipka 33"/>
          <p:cNvCxnSpPr>
            <a:endCxn id="28" idx="1"/>
          </p:cNvCxnSpPr>
          <p:nvPr/>
        </p:nvCxnSpPr>
        <p:spPr bwMode="auto">
          <a:xfrm>
            <a:off x="2051720" y="3788693"/>
            <a:ext cx="1224136" cy="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Přímá spojovací šipka 37"/>
          <p:cNvCxnSpPr/>
          <p:nvPr/>
        </p:nvCxnSpPr>
        <p:spPr bwMode="auto">
          <a:xfrm>
            <a:off x="4788024" y="3788693"/>
            <a:ext cx="1224136" cy="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2915816" y="4868813"/>
            <a:ext cx="2160240" cy="576411"/>
            <a:chOff x="181" y="2619"/>
            <a:chExt cx="943" cy="943"/>
          </a:xfrm>
        </p:grpSpPr>
        <p:grpSp>
          <p:nvGrpSpPr>
            <p:cNvPr id="3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43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4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5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2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46" name="Přímá spojovací šipka 45"/>
          <p:cNvCxnSpPr/>
          <p:nvPr/>
        </p:nvCxnSpPr>
        <p:spPr bwMode="auto">
          <a:xfrm>
            <a:off x="3995936" y="4148733"/>
            <a:ext cx="0" cy="72008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52" name="TextovéPole 41"/>
          <p:cNvSpPr txBox="1">
            <a:spLocks noChangeArrowheads="1"/>
          </p:cNvSpPr>
          <p:nvPr/>
        </p:nvSpPr>
        <p:spPr bwMode="auto">
          <a:xfrm>
            <a:off x="3347864" y="5012829"/>
            <a:ext cx="12241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Zaoblený obdélník 53"/>
          <p:cNvSpPr/>
          <p:nvPr/>
        </p:nvSpPr>
        <p:spPr bwMode="auto">
          <a:xfrm>
            <a:off x="2267744" y="364467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Zaoblený obdélník 54"/>
          <p:cNvSpPr/>
          <p:nvPr/>
        </p:nvSpPr>
        <p:spPr bwMode="auto">
          <a:xfrm>
            <a:off x="5076056" y="364467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Reakce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Zaoblený obdélník 55"/>
          <p:cNvSpPr/>
          <p:nvPr/>
        </p:nvSpPr>
        <p:spPr bwMode="auto">
          <a:xfrm>
            <a:off x="827584" y="4652789"/>
            <a:ext cx="1728192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Oznameni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Kod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="3"  …..&gt;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&lt;Subjekt ……/&gt;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&lt;Věc ………./&gt;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&lt;/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Oznameni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&gt;</a:t>
            </a:r>
          </a:p>
        </p:txBody>
      </p:sp>
      <p:sp>
        <p:nvSpPr>
          <p:cNvPr id="57" name="Zaoblený obdélník 56"/>
          <p:cNvSpPr/>
          <p:nvPr/>
        </p:nvSpPr>
        <p:spPr bwMode="auto">
          <a:xfrm>
            <a:off x="5652120" y="4652789"/>
            <a:ext cx="1728192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Vysledek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Kod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="3"  …..&gt;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&lt;Subjekt ……/&gt;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&lt;Věc ………./&gt;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&lt;/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Vysledek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&gt;</a:t>
            </a:r>
          </a:p>
        </p:txBody>
      </p:sp>
      <p:cxnSp>
        <p:nvCxnSpPr>
          <p:cNvPr id="61" name="Přímá spojovací čára 60"/>
          <p:cNvCxnSpPr/>
          <p:nvPr/>
        </p:nvCxnSpPr>
        <p:spPr bwMode="auto">
          <a:xfrm flipH="1">
            <a:off x="2555776" y="3932709"/>
            <a:ext cx="360040" cy="144016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Přímá spojovací čára 63"/>
          <p:cNvCxnSpPr/>
          <p:nvPr/>
        </p:nvCxnSpPr>
        <p:spPr bwMode="auto">
          <a:xfrm>
            <a:off x="5076056" y="3932709"/>
            <a:ext cx="576064" cy="151216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TextovéPole 41"/>
          <p:cNvSpPr txBox="1">
            <a:spLocks noChangeArrowheads="1"/>
          </p:cNvSpPr>
          <p:nvPr/>
        </p:nvSpPr>
        <p:spPr bwMode="auto">
          <a:xfrm>
            <a:off x="1056266" y="2924597"/>
            <a:ext cx="17155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cs-CZ" sz="1600" b="1" dirty="0" smtClean="0"/>
              <a:t>Událost je zpráva</a:t>
            </a:r>
          </a:p>
          <a:p>
            <a:pPr algn="ctr"/>
            <a:r>
              <a:rPr lang="cs-CZ" sz="1600" b="1" dirty="0" smtClean="0"/>
              <a:t>ve frontě</a:t>
            </a:r>
            <a:endParaRPr lang="cs-CZ" sz="1600" b="1" dirty="0"/>
          </a:p>
        </p:txBody>
      </p:sp>
      <p:sp>
        <p:nvSpPr>
          <p:cNvPr id="33" name="TextovéPole 41"/>
          <p:cNvSpPr txBox="1">
            <a:spLocks noChangeArrowheads="1"/>
          </p:cNvSpPr>
          <p:nvPr/>
        </p:nvSpPr>
        <p:spPr bwMode="auto">
          <a:xfrm>
            <a:off x="5437724" y="2924597"/>
            <a:ext cx="16545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cs-CZ" sz="1600" b="1" dirty="0" smtClean="0"/>
              <a:t>Reakce je zpráva</a:t>
            </a:r>
          </a:p>
          <a:p>
            <a:pPr algn="ctr"/>
            <a:r>
              <a:rPr lang="cs-CZ" sz="1600" b="1" dirty="0" smtClean="0"/>
              <a:t>ve frontě</a:t>
            </a:r>
            <a:endParaRPr lang="cs-CZ" sz="1600" b="1" dirty="0"/>
          </a:p>
        </p:txBody>
      </p:sp>
      <p:grpSp>
        <p:nvGrpSpPr>
          <p:cNvPr id="47" name="Group 289"/>
          <p:cNvGrpSpPr>
            <a:grpSpLocks/>
          </p:cNvGrpSpPr>
          <p:nvPr/>
        </p:nvGrpSpPr>
        <p:grpSpPr bwMode="auto">
          <a:xfrm>
            <a:off x="1835696" y="3501008"/>
            <a:ext cx="222549" cy="499443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48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50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1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3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9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59" name="Přímá spojovací čára 58"/>
          <p:cNvCxnSpPr/>
          <p:nvPr/>
        </p:nvCxnSpPr>
        <p:spPr bwMode="auto">
          <a:xfrm flipH="1">
            <a:off x="827584" y="3716685"/>
            <a:ext cx="1440160" cy="93610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58" name="Group 289"/>
          <p:cNvGrpSpPr>
            <a:grpSpLocks/>
          </p:cNvGrpSpPr>
          <p:nvPr/>
        </p:nvGrpSpPr>
        <p:grpSpPr bwMode="auto">
          <a:xfrm>
            <a:off x="6012160" y="3573016"/>
            <a:ext cx="222549" cy="499443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60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63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65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66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62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67" name="Přímá spojovací čára 66"/>
          <p:cNvCxnSpPr/>
          <p:nvPr/>
        </p:nvCxnSpPr>
        <p:spPr bwMode="auto">
          <a:xfrm>
            <a:off x="5724128" y="3644677"/>
            <a:ext cx="1656184" cy="100811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Zpracování události programem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40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Zaoblený obdélník 27"/>
          <p:cNvSpPr/>
          <p:nvPr/>
        </p:nvSpPr>
        <p:spPr bwMode="auto">
          <a:xfrm>
            <a:off x="3275856" y="3428653"/>
            <a:ext cx="1512168" cy="720080"/>
          </a:xfrm>
          <a:prstGeom prst="roundRect">
            <a:avLst>
              <a:gd name="adj" fmla="val 2814"/>
            </a:avLst>
          </a:prstGeom>
          <a:solidFill>
            <a:schemeClr val="bg1"/>
          </a:solidFill>
          <a:ln w="444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2000" b="1" dirty="0" smtClean="0"/>
              <a:t>Program</a:t>
            </a:r>
            <a:endParaRPr lang="cs-CZ" sz="1000" b="1" dirty="0"/>
          </a:p>
        </p:txBody>
      </p:sp>
      <p:cxnSp>
        <p:nvCxnSpPr>
          <p:cNvPr id="34" name="Přímá spojovací šipka 33"/>
          <p:cNvCxnSpPr>
            <a:endCxn id="28" idx="1"/>
          </p:cNvCxnSpPr>
          <p:nvPr/>
        </p:nvCxnSpPr>
        <p:spPr bwMode="auto">
          <a:xfrm>
            <a:off x="2051720" y="3788693"/>
            <a:ext cx="1224136" cy="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Přímá spojovací šipka 37"/>
          <p:cNvCxnSpPr/>
          <p:nvPr/>
        </p:nvCxnSpPr>
        <p:spPr bwMode="auto">
          <a:xfrm>
            <a:off x="4788024" y="3788693"/>
            <a:ext cx="1224136" cy="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2915816" y="4868813"/>
            <a:ext cx="2160240" cy="576411"/>
            <a:chOff x="181" y="2619"/>
            <a:chExt cx="943" cy="943"/>
          </a:xfrm>
        </p:grpSpPr>
        <p:grpSp>
          <p:nvGrpSpPr>
            <p:cNvPr id="3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43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4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5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2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46" name="Přímá spojovací šipka 45"/>
          <p:cNvCxnSpPr/>
          <p:nvPr/>
        </p:nvCxnSpPr>
        <p:spPr bwMode="auto">
          <a:xfrm>
            <a:off x="3995936" y="4148733"/>
            <a:ext cx="0" cy="72008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52" name="TextovéPole 41"/>
          <p:cNvSpPr txBox="1">
            <a:spLocks noChangeArrowheads="1"/>
          </p:cNvSpPr>
          <p:nvPr/>
        </p:nvSpPr>
        <p:spPr bwMode="auto">
          <a:xfrm>
            <a:off x="3347864" y="5012829"/>
            <a:ext cx="12241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Zaoblený obdélník 53"/>
          <p:cNvSpPr/>
          <p:nvPr/>
        </p:nvSpPr>
        <p:spPr bwMode="auto">
          <a:xfrm>
            <a:off x="2267744" y="364467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Zaoblený obdélník 54"/>
          <p:cNvSpPr/>
          <p:nvPr/>
        </p:nvSpPr>
        <p:spPr bwMode="auto">
          <a:xfrm>
            <a:off x="5076056" y="364467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Reakce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6" name="Zaoblený obdélník 55"/>
          <p:cNvSpPr/>
          <p:nvPr/>
        </p:nvSpPr>
        <p:spPr bwMode="auto">
          <a:xfrm>
            <a:off x="827584" y="4652789"/>
            <a:ext cx="1728192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Oznameni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Kod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="3"  …..&gt;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&lt;Subjekt ……/&gt;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&lt;Věc ………./&gt;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&lt;/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Oznameni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&gt;</a:t>
            </a:r>
          </a:p>
        </p:txBody>
      </p:sp>
      <p:sp>
        <p:nvSpPr>
          <p:cNvPr id="57" name="Zaoblený obdélník 56"/>
          <p:cNvSpPr/>
          <p:nvPr/>
        </p:nvSpPr>
        <p:spPr bwMode="auto">
          <a:xfrm>
            <a:off x="5652120" y="4652789"/>
            <a:ext cx="1728192" cy="792088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Vysledek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Kod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="3"  …..&gt;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&lt;Subjekt ……/&gt;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   &lt;Věc ………./&gt;</a:t>
            </a:r>
          </a:p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&lt;/</a:t>
            </a:r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Vysledek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&gt;</a:t>
            </a:r>
          </a:p>
        </p:txBody>
      </p:sp>
      <p:cxnSp>
        <p:nvCxnSpPr>
          <p:cNvPr id="61" name="Přímá spojovací čára 60"/>
          <p:cNvCxnSpPr/>
          <p:nvPr/>
        </p:nvCxnSpPr>
        <p:spPr bwMode="auto">
          <a:xfrm flipH="1">
            <a:off x="2555776" y="3932709"/>
            <a:ext cx="360040" cy="144016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Přímá spojovací čára 63"/>
          <p:cNvCxnSpPr/>
          <p:nvPr/>
        </p:nvCxnSpPr>
        <p:spPr bwMode="auto">
          <a:xfrm>
            <a:off x="5076056" y="3932709"/>
            <a:ext cx="576064" cy="151216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TextovéPole 41"/>
          <p:cNvSpPr txBox="1">
            <a:spLocks noChangeArrowheads="1"/>
          </p:cNvSpPr>
          <p:nvPr/>
        </p:nvSpPr>
        <p:spPr bwMode="auto">
          <a:xfrm>
            <a:off x="1056266" y="2924597"/>
            <a:ext cx="17155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cs-CZ" sz="1600" b="1" dirty="0" smtClean="0"/>
              <a:t>Událost je zpráva</a:t>
            </a:r>
          </a:p>
          <a:p>
            <a:pPr algn="ctr"/>
            <a:r>
              <a:rPr lang="cs-CZ" sz="1600" b="1" dirty="0" smtClean="0"/>
              <a:t>ve frontě</a:t>
            </a:r>
            <a:endParaRPr lang="cs-CZ" sz="1600" b="1" dirty="0"/>
          </a:p>
        </p:txBody>
      </p:sp>
      <p:sp>
        <p:nvSpPr>
          <p:cNvPr id="33" name="TextovéPole 41"/>
          <p:cNvSpPr txBox="1">
            <a:spLocks noChangeArrowheads="1"/>
          </p:cNvSpPr>
          <p:nvPr/>
        </p:nvSpPr>
        <p:spPr bwMode="auto">
          <a:xfrm>
            <a:off x="5437724" y="2924597"/>
            <a:ext cx="145277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cs-CZ" sz="1600" b="1" dirty="0" smtClean="0"/>
              <a:t>Reakce je věta</a:t>
            </a:r>
          </a:p>
          <a:p>
            <a:pPr algn="ctr"/>
            <a:r>
              <a:rPr lang="cs-CZ" sz="1600" b="1" dirty="0" smtClean="0"/>
              <a:t>v souboru</a:t>
            </a:r>
            <a:endParaRPr lang="cs-CZ" sz="1600" b="1" dirty="0"/>
          </a:p>
        </p:txBody>
      </p:sp>
      <p:grpSp>
        <p:nvGrpSpPr>
          <p:cNvPr id="4" name="Group 289"/>
          <p:cNvGrpSpPr>
            <a:grpSpLocks/>
          </p:cNvGrpSpPr>
          <p:nvPr/>
        </p:nvGrpSpPr>
        <p:grpSpPr bwMode="auto">
          <a:xfrm>
            <a:off x="1835696" y="3501008"/>
            <a:ext cx="222549" cy="499443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6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50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1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3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9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59" name="Přímá spojovací čára 58"/>
          <p:cNvCxnSpPr/>
          <p:nvPr/>
        </p:nvCxnSpPr>
        <p:spPr bwMode="auto">
          <a:xfrm flipH="1">
            <a:off x="827584" y="3716685"/>
            <a:ext cx="1440160" cy="93610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Přímá spojovací čára 66"/>
          <p:cNvCxnSpPr/>
          <p:nvPr/>
        </p:nvCxnSpPr>
        <p:spPr bwMode="auto">
          <a:xfrm>
            <a:off x="5724128" y="3644677"/>
            <a:ext cx="1656184" cy="100811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39" name="Skupina 84"/>
          <p:cNvGrpSpPr>
            <a:grpSpLocks/>
          </p:cNvGrpSpPr>
          <p:nvPr/>
        </p:nvGrpSpPr>
        <p:grpSpPr bwMode="auto">
          <a:xfrm>
            <a:off x="6012160" y="3644677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40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41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47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48" name="Přímá spojovací čára 102"/>
            <p:cNvCxnSpPr>
              <a:cxnSpLocks noChangeShapeType="1"/>
              <a:stCxn id="47" idx="6"/>
              <a:endCxn id="40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58" name="Přímá spojovací čára 103"/>
            <p:cNvCxnSpPr>
              <a:cxnSpLocks noChangeShapeType="1"/>
              <a:stCxn id="47" idx="2"/>
              <a:endCxn id="40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aoblený obdélník 6"/>
          <p:cNvSpPr/>
          <p:nvPr/>
        </p:nvSpPr>
        <p:spPr bwMode="auto">
          <a:xfrm>
            <a:off x="827584" y="1988840"/>
            <a:ext cx="7488832" cy="32403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4800" b="1" dirty="0"/>
          </a:p>
        </p:txBody>
      </p:sp>
      <p:sp>
        <p:nvSpPr>
          <p:cNvPr id="98" name="Zaoblený obdélník 97"/>
          <p:cNvSpPr/>
          <p:nvPr/>
        </p:nvSpPr>
        <p:spPr bwMode="auto">
          <a:xfrm>
            <a:off x="7380312" y="1988841"/>
            <a:ext cx="936104" cy="3240359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92" name="Zaoblený obdélník 91"/>
          <p:cNvSpPr/>
          <p:nvPr/>
        </p:nvSpPr>
        <p:spPr bwMode="auto">
          <a:xfrm>
            <a:off x="6444208" y="1988841"/>
            <a:ext cx="936104" cy="3240359"/>
          </a:xfrm>
          <a:prstGeom prst="roundRect">
            <a:avLst>
              <a:gd name="adj" fmla="val 0"/>
            </a:avLst>
          </a:prstGeom>
          <a:solidFill>
            <a:srgbClr val="B9E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90" name="Zaoblený obdélník 89"/>
          <p:cNvSpPr/>
          <p:nvPr/>
        </p:nvSpPr>
        <p:spPr bwMode="auto">
          <a:xfrm>
            <a:off x="5508104" y="1988841"/>
            <a:ext cx="936104" cy="3240359"/>
          </a:xfrm>
          <a:prstGeom prst="roundRect">
            <a:avLst>
              <a:gd name="adj" fmla="val 0"/>
            </a:avLst>
          </a:prstGeom>
          <a:solidFill>
            <a:srgbClr val="98E3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86" name="Zaoblený obdélník 85"/>
          <p:cNvSpPr/>
          <p:nvPr/>
        </p:nvSpPr>
        <p:spPr bwMode="auto">
          <a:xfrm>
            <a:off x="4572000" y="3212977"/>
            <a:ext cx="936104" cy="2016223"/>
          </a:xfrm>
          <a:prstGeom prst="roundRect">
            <a:avLst>
              <a:gd name="adj" fmla="val 0"/>
            </a:avLst>
          </a:prstGeom>
          <a:solidFill>
            <a:srgbClr val="FDC73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83" name="Zaoblený obdélník 82"/>
          <p:cNvSpPr/>
          <p:nvPr/>
        </p:nvSpPr>
        <p:spPr bwMode="auto">
          <a:xfrm>
            <a:off x="3635896" y="2708921"/>
            <a:ext cx="936104" cy="2520279"/>
          </a:xfrm>
          <a:prstGeom prst="roundRect">
            <a:avLst>
              <a:gd name="adj" fmla="val 0"/>
            </a:avLst>
          </a:prstGeom>
          <a:solidFill>
            <a:srgbClr val="8DFF6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82" name="Zaoblený obdélník 81"/>
          <p:cNvSpPr/>
          <p:nvPr/>
        </p:nvSpPr>
        <p:spPr bwMode="auto">
          <a:xfrm>
            <a:off x="2699792" y="2708921"/>
            <a:ext cx="936104" cy="2520279"/>
          </a:xfrm>
          <a:prstGeom prst="roundRect">
            <a:avLst>
              <a:gd name="adj" fmla="val 0"/>
            </a:avLst>
          </a:prstGeom>
          <a:solidFill>
            <a:srgbClr val="B9E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79" name="Zaoblený obdélník 78"/>
          <p:cNvSpPr/>
          <p:nvPr/>
        </p:nvSpPr>
        <p:spPr bwMode="auto">
          <a:xfrm>
            <a:off x="1763688" y="1988842"/>
            <a:ext cx="936104" cy="3240358"/>
          </a:xfrm>
          <a:prstGeom prst="roundRect">
            <a:avLst>
              <a:gd name="adj" fmla="val 0"/>
            </a:avLst>
          </a:prstGeom>
          <a:solidFill>
            <a:srgbClr val="CCE9A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Dekompozice aplikačního programu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41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aoblený obdélník 8"/>
          <p:cNvSpPr/>
          <p:nvPr/>
        </p:nvSpPr>
        <p:spPr bwMode="auto">
          <a:xfrm>
            <a:off x="827584" y="1988842"/>
            <a:ext cx="936104" cy="3240358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cxnSp>
        <p:nvCxnSpPr>
          <p:cNvPr id="23" name="Přímá spojovací čára 22"/>
          <p:cNvCxnSpPr/>
          <p:nvPr/>
        </p:nvCxnSpPr>
        <p:spPr bwMode="auto">
          <a:xfrm>
            <a:off x="1763688" y="1988841"/>
            <a:ext cx="0" cy="316835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Zaoblený obdélník 38"/>
          <p:cNvSpPr/>
          <p:nvPr/>
        </p:nvSpPr>
        <p:spPr bwMode="auto">
          <a:xfrm>
            <a:off x="1475656" y="321297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53" name="Přímá spojovací čára 52"/>
          <p:cNvCxnSpPr/>
          <p:nvPr/>
        </p:nvCxnSpPr>
        <p:spPr bwMode="auto">
          <a:xfrm>
            <a:off x="2699792" y="1988841"/>
            <a:ext cx="0" cy="316835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8" name="Zaoblený obdélník 57"/>
          <p:cNvSpPr/>
          <p:nvPr/>
        </p:nvSpPr>
        <p:spPr bwMode="auto">
          <a:xfrm>
            <a:off x="2411760" y="2318684"/>
            <a:ext cx="576064" cy="246221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Chyba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59" name="Přímá spojovací šipka 58"/>
          <p:cNvCxnSpPr>
            <a:stCxn id="41" idx="5"/>
          </p:cNvCxnSpPr>
          <p:nvPr/>
        </p:nvCxnSpPr>
        <p:spPr bwMode="auto">
          <a:xfrm>
            <a:off x="1061080" y="2914447"/>
            <a:ext cx="414576" cy="370538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64" name="Přímá spojovací šipka 63"/>
          <p:cNvCxnSpPr>
            <a:stCxn id="46" idx="3"/>
            <a:endCxn id="39" idx="1"/>
          </p:cNvCxnSpPr>
          <p:nvPr/>
        </p:nvCxnSpPr>
        <p:spPr bwMode="auto">
          <a:xfrm flipV="1">
            <a:off x="1073220" y="3349185"/>
            <a:ext cx="402436" cy="79816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67" name="Přímá spojovací šipka 66"/>
          <p:cNvCxnSpPr/>
          <p:nvPr/>
        </p:nvCxnSpPr>
        <p:spPr bwMode="auto">
          <a:xfrm flipV="1">
            <a:off x="971600" y="3501009"/>
            <a:ext cx="504056" cy="432048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0" name="Přímá spojovací šipka 69"/>
          <p:cNvCxnSpPr/>
          <p:nvPr/>
        </p:nvCxnSpPr>
        <p:spPr bwMode="auto">
          <a:xfrm flipV="1">
            <a:off x="2123728" y="2564905"/>
            <a:ext cx="360040" cy="648072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74" name="Zaoblený obdélník 73"/>
          <p:cNvSpPr/>
          <p:nvPr/>
        </p:nvSpPr>
        <p:spPr bwMode="auto">
          <a:xfrm>
            <a:off x="2339752" y="357301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75" name="Přímá spojovací šipka 74"/>
          <p:cNvCxnSpPr>
            <a:stCxn id="39" idx="3"/>
          </p:cNvCxnSpPr>
          <p:nvPr/>
        </p:nvCxnSpPr>
        <p:spPr bwMode="auto">
          <a:xfrm>
            <a:off x="2123728" y="3349185"/>
            <a:ext cx="288032" cy="223832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1" name="Přímá spojovací čára 80"/>
          <p:cNvCxnSpPr/>
          <p:nvPr/>
        </p:nvCxnSpPr>
        <p:spPr bwMode="auto">
          <a:xfrm>
            <a:off x="3635896" y="2708920"/>
            <a:ext cx="0" cy="244827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Přímá spojovací čára 83"/>
          <p:cNvCxnSpPr>
            <a:endCxn id="7" idx="2"/>
          </p:cNvCxnSpPr>
          <p:nvPr/>
        </p:nvCxnSpPr>
        <p:spPr bwMode="auto">
          <a:xfrm>
            <a:off x="4572000" y="2708920"/>
            <a:ext cx="0" cy="252028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Zaoblený obdélník 84"/>
          <p:cNvSpPr/>
          <p:nvPr/>
        </p:nvSpPr>
        <p:spPr bwMode="auto">
          <a:xfrm>
            <a:off x="3347864" y="3501009"/>
            <a:ext cx="648072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Vstupní 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7" name="Zaoblený obdélník 86"/>
          <p:cNvSpPr/>
          <p:nvPr/>
        </p:nvSpPr>
        <p:spPr bwMode="auto">
          <a:xfrm>
            <a:off x="4283968" y="2852937"/>
            <a:ext cx="576064" cy="246221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Chyba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8" name="Zaoblený obdélník 87"/>
          <p:cNvSpPr/>
          <p:nvPr/>
        </p:nvSpPr>
        <p:spPr bwMode="auto">
          <a:xfrm>
            <a:off x="4283968" y="3501009"/>
            <a:ext cx="648072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Vstupní 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89" name="Přímá spojovací čára 88"/>
          <p:cNvCxnSpPr/>
          <p:nvPr/>
        </p:nvCxnSpPr>
        <p:spPr bwMode="auto">
          <a:xfrm>
            <a:off x="5508104" y="1988841"/>
            <a:ext cx="0" cy="316835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1" name="Přímá spojovací čára 90"/>
          <p:cNvCxnSpPr/>
          <p:nvPr/>
        </p:nvCxnSpPr>
        <p:spPr bwMode="auto">
          <a:xfrm>
            <a:off x="6444208" y="1988841"/>
            <a:ext cx="0" cy="316835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93" name="Zaoblený obdélník 92"/>
          <p:cNvSpPr/>
          <p:nvPr/>
        </p:nvSpPr>
        <p:spPr bwMode="auto">
          <a:xfrm>
            <a:off x="5220072" y="2318684"/>
            <a:ext cx="576064" cy="246221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Chyba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4" name="Zaoblený obdélník 93"/>
          <p:cNvSpPr/>
          <p:nvPr/>
        </p:nvSpPr>
        <p:spPr bwMode="auto">
          <a:xfrm>
            <a:off x="5220072" y="2852937"/>
            <a:ext cx="576064" cy="246221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Chyba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5" name="Zaoblený obdélník 94"/>
          <p:cNvSpPr/>
          <p:nvPr/>
        </p:nvSpPr>
        <p:spPr bwMode="auto">
          <a:xfrm>
            <a:off x="5220072" y="3501009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Výstupní 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6" name="Zaoblený obdélník 95"/>
          <p:cNvSpPr/>
          <p:nvPr/>
        </p:nvSpPr>
        <p:spPr bwMode="auto">
          <a:xfrm>
            <a:off x="4644008" y="4149081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Věcný 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97" name="Přímá spojovací čára 96"/>
          <p:cNvCxnSpPr/>
          <p:nvPr/>
        </p:nvCxnSpPr>
        <p:spPr bwMode="auto">
          <a:xfrm>
            <a:off x="7380312" y="1988841"/>
            <a:ext cx="0" cy="316835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Přímá spojovací šipka 100"/>
          <p:cNvCxnSpPr/>
          <p:nvPr/>
        </p:nvCxnSpPr>
        <p:spPr bwMode="auto">
          <a:xfrm>
            <a:off x="2987824" y="3717033"/>
            <a:ext cx="360040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3" name="Přímá spojovací šipka 102"/>
          <p:cNvCxnSpPr/>
          <p:nvPr/>
        </p:nvCxnSpPr>
        <p:spPr bwMode="auto">
          <a:xfrm>
            <a:off x="2987824" y="2420889"/>
            <a:ext cx="2232248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6" name="Přímá spojovací šipka 105"/>
          <p:cNvCxnSpPr/>
          <p:nvPr/>
        </p:nvCxnSpPr>
        <p:spPr bwMode="auto">
          <a:xfrm flipV="1">
            <a:off x="2699792" y="2708920"/>
            <a:ext cx="936104" cy="1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Přímá spojovací šipka 107"/>
          <p:cNvCxnSpPr/>
          <p:nvPr/>
        </p:nvCxnSpPr>
        <p:spPr bwMode="auto">
          <a:xfrm>
            <a:off x="4572000" y="3212977"/>
            <a:ext cx="936104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Přímá spojovací šipka 109"/>
          <p:cNvCxnSpPr/>
          <p:nvPr/>
        </p:nvCxnSpPr>
        <p:spPr bwMode="auto">
          <a:xfrm flipV="1">
            <a:off x="3995936" y="3068960"/>
            <a:ext cx="360040" cy="43205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3" name="Přímá spojovací šipka 112"/>
          <p:cNvCxnSpPr>
            <a:stCxn id="85" idx="3"/>
            <a:endCxn id="88" idx="1"/>
          </p:cNvCxnSpPr>
          <p:nvPr/>
        </p:nvCxnSpPr>
        <p:spPr bwMode="auto">
          <a:xfrm>
            <a:off x="3995936" y="3701064"/>
            <a:ext cx="288032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6" name="Přímá spojovací šipka 115"/>
          <p:cNvCxnSpPr>
            <a:stCxn id="96" idx="0"/>
          </p:cNvCxnSpPr>
          <p:nvPr/>
        </p:nvCxnSpPr>
        <p:spPr bwMode="auto">
          <a:xfrm flipV="1">
            <a:off x="5004048" y="3933057"/>
            <a:ext cx="360040" cy="216024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9" name="Přímá spojovací šipka 118"/>
          <p:cNvCxnSpPr>
            <a:stCxn id="88" idx="2"/>
            <a:endCxn id="96" idx="0"/>
          </p:cNvCxnSpPr>
          <p:nvPr/>
        </p:nvCxnSpPr>
        <p:spPr bwMode="auto">
          <a:xfrm>
            <a:off x="4608004" y="3901119"/>
            <a:ext cx="396044" cy="247962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125" name="Zaoblený obdélník 124"/>
          <p:cNvSpPr/>
          <p:nvPr/>
        </p:nvSpPr>
        <p:spPr bwMode="auto">
          <a:xfrm>
            <a:off x="7020272" y="321297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Reakce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26" name="Přímá spojovací šipka 125"/>
          <p:cNvCxnSpPr/>
          <p:nvPr/>
        </p:nvCxnSpPr>
        <p:spPr bwMode="auto">
          <a:xfrm>
            <a:off x="6732240" y="2420889"/>
            <a:ext cx="360040" cy="792088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28" name="Přímá spojovací šipka 127"/>
          <p:cNvCxnSpPr>
            <a:stCxn id="136" idx="3"/>
            <a:endCxn id="125" idx="1"/>
          </p:cNvCxnSpPr>
          <p:nvPr/>
        </p:nvCxnSpPr>
        <p:spPr bwMode="auto">
          <a:xfrm>
            <a:off x="6732240" y="2976048"/>
            <a:ext cx="288032" cy="373137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31" name="Přímá spojovací šipka 130"/>
          <p:cNvCxnSpPr/>
          <p:nvPr/>
        </p:nvCxnSpPr>
        <p:spPr bwMode="auto">
          <a:xfrm flipV="1">
            <a:off x="6804248" y="3429001"/>
            <a:ext cx="216024" cy="200055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135" name="Zaoblený obdélník 134"/>
          <p:cNvSpPr/>
          <p:nvPr/>
        </p:nvSpPr>
        <p:spPr bwMode="auto">
          <a:xfrm>
            <a:off x="6156176" y="2318684"/>
            <a:ext cx="576064" cy="246221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Chyba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6" name="Zaoblený obdélník 135"/>
          <p:cNvSpPr/>
          <p:nvPr/>
        </p:nvSpPr>
        <p:spPr bwMode="auto">
          <a:xfrm>
            <a:off x="6156176" y="2852937"/>
            <a:ext cx="576064" cy="246221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Chyba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7" name="Zaoblený obdélník 136"/>
          <p:cNvSpPr/>
          <p:nvPr/>
        </p:nvSpPr>
        <p:spPr bwMode="auto">
          <a:xfrm>
            <a:off x="6084168" y="3501009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Výstupní 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39" name="Přímá spojovací šipka 138"/>
          <p:cNvCxnSpPr/>
          <p:nvPr/>
        </p:nvCxnSpPr>
        <p:spPr bwMode="auto">
          <a:xfrm>
            <a:off x="5796136" y="2420889"/>
            <a:ext cx="360040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4" name="Přímá spojovací šipka 143"/>
          <p:cNvCxnSpPr/>
          <p:nvPr/>
        </p:nvCxnSpPr>
        <p:spPr bwMode="auto">
          <a:xfrm>
            <a:off x="5796136" y="2996953"/>
            <a:ext cx="360040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5" name="Přímá spojovací šipka 144"/>
          <p:cNvCxnSpPr/>
          <p:nvPr/>
        </p:nvCxnSpPr>
        <p:spPr bwMode="auto">
          <a:xfrm>
            <a:off x="5940152" y="3717033"/>
            <a:ext cx="152400" cy="8384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60" name="Přímá spojovací šipka 159"/>
          <p:cNvCxnSpPr/>
          <p:nvPr/>
        </p:nvCxnSpPr>
        <p:spPr bwMode="auto">
          <a:xfrm flipV="1">
            <a:off x="7596336" y="2780929"/>
            <a:ext cx="360040" cy="432048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62" name="Přímá spojovací šipka 161"/>
          <p:cNvCxnSpPr>
            <a:stCxn id="125" idx="3"/>
            <a:endCxn id="153" idx="1"/>
          </p:cNvCxnSpPr>
          <p:nvPr/>
        </p:nvCxnSpPr>
        <p:spPr bwMode="auto">
          <a:xfrm>
            <a:off x="7668344" y="3349185"/>
            <a:ext cx="360040" cy="7808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65" name="Přímá spojovací šipka 164"/>
          <p:cNvCxnSpPr/>
          <p:nvPr/>
        </p:nvCxnSpPr>
        <p:spPr bwMode="auto">
          <a:xfrm>
            <a:off x="7668344" y="3501009"/>
            <a:ext cx="576064" cy="36004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68" name="Group 103"/>
          <p:cNvGrpSpPr>
            <a:grpSpLocks/>
          </p:cNvGrpSpPr>
          <p:nvPr/>
        </p:nvGrpSpPr>
        <p:grpSpPr bwMode="auto">
          <a:xfrm>
            <a:off x="971600" y="5373216"/>
            <a:ext cx="6912768" cy="576411"/>
            <a:chOff x="181" y="2619"/>
            <a:chExt cx="943" cy="943"/>
          </a:xfrm>
        </p:grpSpPr>
        <p:grpSp>
          <p:nvGrpSpPr>
            <p:cNvPr id="169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71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72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73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70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sp>
        <p:nvSpPr>
          <p:cNvPr id="174" name="TextovéPole 41"/>
          <p:cNvSpPr txBox="1">
            <a:spLocks noChangeArrowheads="1"/>
          </p:cNvSpPr>
          <p:nvPr/>
        </p:nvSpPr>
        <p:spPr bwMode="auto">
          <a:xfrm>
            <a:off x="3779912" y="5549170"/>
            <a:ext cx="12241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75" name="Přímá spojovací šipka 174"/>
          <p:cNvCxnSpPr/>
          <p:nvPr/>
        </p:nvCxnSpPr>
        <p:spPr bwMode="auto">
          <a:xfrm>
            <a:off x="5004048" y="5085184"/>
            <a:ext cx="0" cy="31997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cxnSp>
        <p:nvCxnSpPr>
          <p:cNvPr id="177" name="Přímá spojovací šipka 176"/>
          <p:cNvCxnSpPr/>
          <p:nvPr/>
        </p:nvCxnSpPr>
        <p:spPr bwMode="auto">
          <a:xfrm>
            <a:off x="4139952" y="5085184"/>
            <a:ext cx="0" cy="28803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/>
          </a:ln>
          <a:effectLst/>
        </p:spPr>
      </p:cxnSp>
      <p:sp>
        <p:nvSpPr>
          <p:cNvPr id="179" name="Zaoblený obdélník 178"/>
          <p:cNvSpPr/>
          <p:nvPr/>
        </p:nvSpPr>
        <p:spPr bwMode="auto">
          <a:xfrm>
            <a:off x="5580112" y="4149080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Procesní 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80" name="Přímá spojovací šipka 179"/>
          <p:cNvCxnSpPr/>
          <p:nvPr/>
        </p:nvCxnSpPr>
        <p:spPr bwMode="auto">
          <a:xfrm>
            <a:off x="4860032" y="2996952"/>
            <a:ext cx="360040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9" name="Přímá spojovací čára 188"/>
          <p:cNvCxnSpPr/>
          <p:nvPr/>
        </p:nvCxnSpPr>
        <p:spPr bwMode="auto">
          <a:xfrm>
            <a:off x="827584" y="1988840"/>
            <a:ext cx="0" cy="324036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0" name="Skupina 84"/>
          <p:cNvGrpSpPr>
            <a:grpSpLocks/>
          </p:cNvGrpSpPr>
          <p:nvPr/>
        </p:nvGrpSpPr>
        <p:grpSpPr bwMode="auto">
          <a:xfrm>
            <a:off x="323528" y="2636913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41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42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43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44" name="Přímá spojovací čára 102"/>
            <p:cNvCxnSpPr>
              <a:cxnSpLocks noChangeShapeType="1"/>
              <a:stCxn id="43" idx="6"/>
              <a:endCxn id="41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5" name="Přímá spojovací čára 103"/>
            <p:cNvCxnSpPr>
              <a:cxnSpLocks noChangeShapeType="1"/>
              <a:stCxn id="43" idx="2"/>
              <a:endCxn id="41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47" name="Group 289"/>
          <p:cNvGrpSpPr>
            <a:grpSpLocks/>
          </p:cNvGrpSpPr>
          <p:nvPr/>
        </p:nvGrpSpPr>
        <p:grpSpPr bwMode="auto">
          <a:xfrm>
            <a:off x="755576" y="3933057"/>
            <a:ext cx="216024" cy="432048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48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50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1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2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9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pic>
        <p:nvPicPr>
          <p:cNvPr id="46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212977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cxnSp>
        <p:nvCxnSpPr>
          <p:cNvPr id="190" name="Přímá spojovací čára 189"/>
          <p:cNvCxnSpPr/>
          <p:nvPr/>
        </p:nvCxnSpPr>
        <p:spPr bwMode="auto">
          <a:xfrm>
            <a:off x="8316416" y="1988840"/>
            <a:ext cx="0" cy="324036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54" name="Group 289"/>
          <p:cNvGrpSpPr>
            <a:grpSpLocks/>
          </p:cNvGrpSpPr>
          <p:nvPr/>
        </p:nvGrpSpPr>
        <p:grpSpPr bwMode="auto">
          <a:xfrm>
            <a:off x="8244408" y="3789041"/>
            <a:ext cx="216024" cy="432048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155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57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58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59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56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pic>
        <p:nvPicPr>
          <p:cNvPr id="153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8384" y="3140969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grpSp>
        <p:nvGrpSpPr>
          <p:cNvPr id="147" name="Skupina 84"/>
          <p:cNvGrpSpPr>
            <a:grpSpLocks/>
          </p:cNvGrpSpPr>
          <p:nvPr/>
        </p:nvGrpSpPr>
        <p:grpSpPr bwMode="auto">
          <a:xfrm>
            <a:off x="7884368" y="2492897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48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49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50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51" name="Přímá spojovací čára 102"/>
            <p:cNvCxnSpPr>
              <a:cxnSpLocks noChangeShapeType="1"/>
              <a:stCxn id="150" idx="6"/>
              <a:endCxn id="148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2" name="Přímá spojovací čára 103"/>
            <p:cNvCxnSpPr>
              <a:cxnSpLocks noChangeShapeType="1"/>
              <a:stCxn id="150" idx="2"/>
              <a:endCxn id="148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91" name="Přímá spojovací čára 190"/>
          <p:cNvCxnSpPr/>
          <p:nvPr/>
        </p:nvCxnSpPr>
        <p:spPr bwMode="auto">
          <a:xfrm>
            <a:off x="827584" y="1988840"/>
            <a:ext cx="7488832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5" name="TextovéPole 194"/>
          <p:cNvSpPr txBox="1"/>
          <p:nvPr/>
        </p:nvSpPr>
        <p:spPr>
          <a:xfrm>
            <a:off x="827584" y="4653136"/>
            <a:ext cx="9361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Získání vstupní zprávy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0" name="TextovéPole 199"/>
          <p:cNvSpPr txBox="1"/>
          <p:nvPr/>
        </p:nvSpPr>
        <p:spPr>
          <a:xfrm>
            <a:off x="1763688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Formální kontrola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1" name="TextovéPole 200"/>
          <p:cNvSpPr txBox="1"/>
          <p:nvPr/>
        </p:nvSpPr>
        <p:spPr>
          <a:xfrm>
            <a:off x="2627784" y="4685074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Vstupní</a:t>
            </a:r>
            <a:r>
              <a:rPr lang="cs-CZ" sz="105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transformace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2" name="TextovéPole 201"/>
          <p:cNvSpPr txBox="1"/>
          <p:nvPr/>
        </p:nvSpPr>
        <p:spPr>
          <a:xfrm>
            <a:off x="3635896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Věcná kontrola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04" name="Přímá spojovací čára 203"/>
          <p:cNvCxnSpPr/>
          <p:nvPr/>
        </p:nvCxnSpPr>
        <p:spPr bwMode="auto">
          <a:xfrm>
            <a:off x="827584" y="5229200"/>
            <a:ext cx="7488832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7" name="TextovéPole 206"/>
          <p:cNvSpPr txBox="1"/>
          <p:nvPr/>
        </p:nvSpPr>
        <p:spPr>
          <a:xfrm>
            <a:off x="4572000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Věcné zpracování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8" name="TextovéPole 207"/>
          <p:cNvSpPr txBox="1"/>
          <p:nvPr/>
        </p:nvSpPr>
        <p:spPr>
          <a:xfrm>
            <a:off x="5508104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Procesní zpracování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9" name="TextovéPole 208"/>
          <p:cNvSpPr txBox="1"/>
          <p:nvPr/>
        </p:nvSpPr>
        <p:spPr>
          <a:xfrm>
            <a:off x="6372200" y="4685074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Výstupní transformace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0" name="TextovéPole 209"/>
          <p:cNvSpPr txBox="1"/>
          <p:nvPr/>
        </p:nvSpPr>
        <p:spPr>
          <a:xfrm>
            <a:off x="7380312" y="4653136"/>
            <a:ext cx="9361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Odeslání výstupní zprávy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16" name="Přímá spojovací šipka 215"/>
          <p:cNvCxnSpPr/>
          <p:nvPr/>
        </p:nvCxnSpPr>
        <p:spPr bwMode="auto">
          <a:xfrm flipV="1">
            <a:off x="5940152" y="5085184"/>
            <a:ext cx="0" cy="28803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221" name="Přímá spojovací šipka 220"/>
          <p:cNvCxnSpPr/>
          <p:nvPr/>
        </p:nvCxnSpPr>
        <p:spPr bwMode="auto">
          <a:xfrm>
            <a:off x="2195736" y="5085184"/>
            <a:ext cx="0" cy="28803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09" name="Přímá spojovací šipka 108"/>
          <p:cNvCxnSpPr/>
          <p:nvPr/>
        </p:nvCxnSpPr>
        <p:spPr bwMode="auto">
          <a:xfrm>
            <a:off x="3635896" y="2708920"/>
            <a:ext cx="936104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2" grpId="0" animBg="1"/>
      <p:bldP spid="90" grpId="0" animBg="1"/>
      <p:bldP spid="86" grpId="0" animBg="1"/>
      <p:bldP spid="83" grpId="0" animBg="1"/>
      <p:bldP spid="82" grpId="0" animBg="1"/>
      <p:bldP spid="79" grpId="0" animBg="1"/>
      <p:bldP spid="58" grpId="0" animBg="1"/>
      <p:bldP spid="74" grpId="0" animBg="1"/>
      <p:bldP spid="85" grpId="0" animBg="1"/>
      <p:bldP spid="87" grpId="0" animBg="1"/>
      <p:bldP spid="88" grpId="0" animBg="1"/>
      <p:bldP spid="93" grpId="0" animBg="1"/>
      <p:bldP spid="94" grpId="0" animBg="1"/>
      <p:bldP spid="95" grpId="0" animBg="1"/>
      <p:bldP spid="96" grpId="0" animBg="1"/>
      <p:bldP spid="125" grpId="0" animBg="1"/>
      <p:bldP spid="135" grpId="0" animBg="1"/>
      <p:bldP spid="136" grpId="0" animBg="1"/>
      <p:bldP spid="137" grpId="0" animBg="1"/>
      <p:bldP spid="179" grpId="0" animBg="1"/>
      <p:bldP spid="200" grpId="0"/>
      <p:bldP spid="201" grpId="0"/>
      <p:bldP spid="202" grpId="0"/>
      <p:bldP spid="207" grpId="0"/>
      <p:bldP spid="208" grpId="0"/>
      <p:bldP spid="209" grpId="0"/>
      <p:bldP spid="2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aoblený obdélník 6"/>
          <p:cNvSpPr/>
          <p:nvPr/>
        </p:nvSpPr>
        <p:spPr bwMode="auto">
          <a:xfrm>
            <a:off x="827584" y="1988840"/>
            <a:ext cx="7488832" cy="32403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4800" b="1" dirty="0"/>
          </a:p>
        </p:txBody>
      </p:sp>
      <p:sp>
        <p:nvSpPr>
          <p:cNvPr id="82" name="Zaoblený obdélník 81"/>
          <p:cNvSpPr/>
          <p:nvPr/>
        </p:nvSpPr>
        <p:spPr bwMode="auto">
          <a:xfrm>
            <a:off x="2699792" y="2708920"/>
            <a:ext cx="936104" cy="2520279"/>
          </a:xfrm>
          <a:prstGeom prst="roundRect">
            <a:avLst>
              <a:gd name="adj" fmla="val 0"/>
            </a:avLst>
          </a:prstGeom>
          <a:solidFill>
            <a:srgbClr val="B9E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98" name="Zaoblený obdélník 97"/>
          <p:cNvSpPr/>
          <p:nvPr/>
        </p:nvSpPr>
        <p:spPr bwMode="auto">
          <a:xfrm>
            <a:off x="7380312" y="1988841"/>
            <a:ext cx="936104" cy="3240359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92" name="Zaoblený obdélník 91"/>
          <p:cNvSpPr/>
          <p:nvPr/>
        </p:nvSpPr>
        <p:spPr bwMode="auto">
          <a:xfrm>
            <a:off x="6444208" y="1988841"/>
            <a:ext cx="936104" cy="3240359"/>
          </a:xfrm>
          <a:prstGeom prst="roundRect">
            <a:avLst>
              <a:gd name="adj" fmla="val 0"/>
            </a:avLst>
          </a:prstGeom>
          <a:solidFill>
            <a:srgbClr val="B9ED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90" name="Zaoblený obdélník 89"/>
          <p:cNvSpPr/>
          <p:nvPr/>
        </p:nvSpPr>
        <p:spPr bwMode="auto">
          <a:xfrm>
            <a:off x="5508104" y="1988841"/>
            <a:ext cx="936104" cy="3240359"/>
          </a:xfrm>
          <a:prstGeom prst="roundRect">
            <a:avLst>
              <a:gd name="adj" fmla="val 0"/>
            </a:avLst>
          </a:prstGeom>
          <a:solidFill>
            <a:srgbClr val="98E3F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86" name="Zaoblený obdélník 85"/>
          <p:cNvSpPr/>
          <p:nvPr/>
        </p:nvSpPr>
        <p:spPr bwMode="auto">
          <a:xfrm>
            <a:off x="4572000" y="3212977"/>
            <a:ext cx="936104" cy="2016223"/>
          </a:xfrm>
          <a:prstGeom prst="roundRect">
            <a:avLst>
              <a:gd name="adj" fmla="val 0"/>
            </a:avLst>
          </a:prstGeom>
          <a:solidFill>
            <a:srgbClr val="FDC73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83" name="Zaoblený obdélník 82"/>
          <p:cNvSpPr/>
          <p:nvPr/>
        </p:nvSpPr>
        <p:spPr bwMode="auto">
          <a:xfrm>
            <a:off x="3635896" y="3212976"/>
            <a:ext cx="936104" cy="2016224"/>
          </a:xfrm>
          <a:prstGeom prst="roundRect">
            <a:avLst>
              <a:gd name="adj" fmla="val 0"/>
            </a:avLst>
          </a:prstGeom>
          <a:solidFill>
            <a:srgbClr val="8DFF6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79" name="Zaoblený obdélník 78"/>
          <p:cNvSpPr/>
          <p:nvPr/>
        </p:nvSpPr>
        <p:spPr bwMode="auto">
          <a:xfrm>
            <a:off x="1763688" y="1988842"/>
            <a:ext cx="936104" cy="3240358"/>
          </a:xfrm>
          <a:prstGeom prst="roundRect">
            <a:avLst>
              <a:gd name="adj" fmla="val 0"/>
            </a:avLst>
          </a:prstGeom>
          <a:solidFill>
            <a:srgbClr val="CCE9A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Dekompozice aplikačního programu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42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aoblený obdélník 8"/>
          <p:cNvSpPr/>
          <p:nvPr/>
        </p:nvSpPr>
        <p:spPr bwMode="auto">
          <a:xfrm>
            <a:off x="827584" y="1988842"/>
            <a:ext cx="936104" cy="3240358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39" name="Zaoblený obdélník 38"/>
          <p:cNvSpPr/>
          <p:nvPr/>
        </p:nvSpPr>
        <p:spPr bwMode="auto">
          <a:xfrm>
            <a:off x="1475656" y="321297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Zaoblený obdélník 57"/>
          <p:cNvSpPr/>
          <p:nvPr/>
        </p:nvSpPr>
        <p:spPr bwMode="auto">
          <a:xfrm>
            <a:off x="2411760" y="2318684"/>
            <a:ext cx="576064" cy="246221"/>
          </a:xfrm>
          <a:prstGeom prst="roundRect">
            <a:avLst>
              <a:gd name="adj" fmla="val 0"/>
            </a:avLst>
          </a:prstGeom>
          <a:solidFill>
            <a:srgbClr val="FF9966"/>
          </a:solidFill>
          <a:ln w="15875">
            <a:solidFill>
              <a:schemeClr val="bg1">
                <a:lumMod val="50000"/>
              </a:schemeClr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Chyba</a:t>
            </a:r>
          </a:p>
        </p:txBody>
      </p:sp>
      <p:cxnSp>
        <p:nvCxnSpPr>
          <p:cNvPr id="59" name="Přímá spojovací šipka 58"/>
          <p:cNvCxnSpPr>
            <a:stCxn id="41" idx="5"/>
          </p:cNvCxnSpPr>
          <p:nvPr/>
        </p:nvCxnSpPr>
        <p:spPr bwMode="auto">
          <a:xfrm>
            <a:off x="1061080" y="2914447"/>
            <a:ext cx="414576" cy="370538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64" name="Přímá spojovací šipka 63"/>
          <p:cNvCxnSpPr>
            <a:stCxn id="46" idx="3"/>
            <a:endCxn id="39" idx="1"/>
          </p:cNvCxnSpPr>
          <p:nvPr/>
        </p:nvCxnSpPr>
        <p:spPr bwMode="auto">
          <a:xfrm flipV="1">
            <a:off x="1073220" y="3349185"/>
            <a:ext cx="402436" cy="79816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67" name="Přímá spojovací šipka 66"/>
          <p:cNvCxnSpPr/>
          <p:nvPr/>
        </p:nvCxnSpPr>
        <p:spPr bwMode="auto">
          <a:xfrm flipV="1">
            <a:off x="971600" y="3501009"/>
            <a:ext cx="504056" cy="432048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0" name="Přímá spojovací šipka 69"/>
          <p:cNvCxnSpPr/>
          <p:nvPr/>
        </p:nvCxnSpPr>
        <p:spPr bwMode="auto">
          <a:xfrm flipV="1">
            <a:off x="2123728" y="2564905"/>
            <a:ext cx="360040" cy="648072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74" name="Zaoblený obdélník 73"/>
          <p:cNvSpPr/>
          <p:nvPr/>
        </p:nvSpPr>
        <p:spPr bwMode="auto">
          <a:xfrm>
            <a:off x="2339752" y="357301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Událost</a:t>
            </a:r>
          </a:p>
        </p:txBody>
      </p:sp>
      <p:cxnSp>
        <p:nvCxnSpPr>
          <p:cNvPr id="75" name="Přímá spojovací šipka 74"/>
          <p:cNvCxnSpPr>
            <a:stCxn id="39" idx="3"/>
          </p:cNvCxnSpPr>
          <p:nvPr/>
        </p:nvCxnSpPr>
        <p:spPr bwMode="auto">
          <a:xfrm>
            <a:off x="2123728" y="3349185"/>
            <a:ext cx="288032" cy="223832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81" name="Přímá spojovací čára 80"/>
          <p:cNvCxnSpPr/>
          <p:nvPr/>
        </p:nvCxnSpPr>
        <p:spPr bwMode="auto">
          <a:xfrm>
            <a:off x="3635896" y="3212976"/>
            <a:ext cx="0" cy="194421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Přímá spojovací čára 83"/>
          <p:cNvCxnSpPr>
            <a:endCxn id="7" idx="2"/>
          </p:cNvCxnSpPr>
          <p:nvPr/>
        </p:nvCxnSpPr>
        <p:spPr bwMode="auto">
          <a:xfrm>
            <a:off x="4572000" y="3212976"/>
            <a:ext cx="0" cy="2016224"/>
          </a:xfrm>
          <a:prstGeom prst="line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Zaoblený obdélník 84"/>
          <p:cNvSpPr/>
          <p:nvPr/>
        </p:nvSpPr>
        <p:spPr bwMode="auto">
          <a:xfrm>
            <a:off x="3347864" y="3501009"/>
            <a:ext cx="648072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38100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Vstupní 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7" name="Zaoblený obdélník 86"/>
          <p:cNvSpPr/>
          <p:nvPr/>
        </p:nvSpPr>
        <p:spPr bwMode="auto">
          <a:xfrm>
            <a:off x="4283968" y="2852937"/>
            <a:ext cx="576064" cy="246221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Chyba</a:t>
            </a:r>
          </a:p>
        </p:txBody>
      </p:sp>
      <p:cxnSp>
        <p:nvCxnSpPr>
          <p:cNvPr id="89" name="Přímá spojovací čára 88"/>
          <p:cNvCxnSpPr/>
          <p:nvPr/>
        </p:nvCxnSpPr>
        <p:spPr bwMode="auto">
          <a:xfrm>
            <a:off x="5508104" y="3212976"/>
            <a:ext cx="0" cy="194421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93" name="Zaoblený obdélník 92"/>
          <p:cNvSpPr/>
          <p:nvPr/>
        </p:nvSpPr>
        <p:spPr bwMode="auto">
          <a:xfrm>
            <a:off x="5220072" y="2318684"/>
            <a:ext cx="576064" cy="246221"/>
          </a:xfrm>
          <a:prstGeom prst="roundRect">
            <a:avLst>
              <a:gd name="adj" fmla="val 0"/>
            </a:avLst>
          </a:prstGeom>
          <a:solidFill>
            <a:srgbClr val="FF9966"/>
          </a:solidFill>
          <a:ln w="15875">
            <a:solidFill>
              <a:schemeClr val="bg1">
                <a:lumMod val="50000"/>
              </a:schemeClr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Chyba</a:t>
            </a:r>
          </a:p>
        </p:txBody>
      </p:sp>
      <p:sp>
        <p:nvSpPr>
          <p:cNvPr id="94" name="Zaoblený obdélník 93"/>
          <p:cNvSpPr/>
          <p:nvPr/>
        </p:nvSpPr>
        <p:spPr bwMode="auto">
          <a:xfrm>
            <a:off x="5220072" y="2852937"/>
            <a:ext cx="576064" cy="246221"/>
          </a:xfrm>
          <a:prstGeom prst="roundRect">
            <a:avLst>
              <a:gd name="adj" fmla="val 0"/>
            </a:avLst>
          </a:prstGeom>
          <a:solidFill>
            <a:srgbClr val="FF9966"/>
          </a:solidFill>
          <a:ln w="15875">
            <a:solidFill>
              <a:schemeClr val="bg1">
                <a:lumMod val="50000"/>
              </a:schemeClr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Chyba</a:t>
            </a:r>
          </a:p>
        </p:txBody>
      </p:sp>
      <p:sp>
        <p:nvSpPr>
          <p:cNvPr id="95" name="Zaoblený obdélník 94"/>
          <p:cNvSpPr/>
          <p:nvPr/>
        </p:nvSpPr>
        <p:spPr bwMode="auto">
          <a:xfrm>
            <a:off x="5220072" y="3501009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38100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Výstupní objekt</a:t>
            </a:r>
          </a:p>
        </p:txBody>
      </p:sp>
      <p:sp>
        <p:nvSpPr>
          <p:cNvPr id="96" name="Zaoblený obdélník 95"/>
          <p:cNvSpPr/>
          <p:nvPr/>
        </p:nvSpPr>
        <p:spPr bwMode="auto">
          <a:xfrm>
            <a:off x="4644008" y="4149081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38100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Věcný objekt</a:t>
            </a:r>
          </a:p>
        </p:txBody>
      </p:sp>
      <p:cxnSp>
        <p:nvCxnSpPr>
          <p:cNvPr id="101" name="Přímá spojovací šipka 100"/>
          <p:cNvCxnSpPr/>
          <p:nvPr/>
        </p:nvCxnSpPr>
        <p:spPr bwMode="auto">
          <a:xfrm>
            <a:off x="2987824" y="3717033"/>
            <a:ext cx="360040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3" name="Přímá spojovací šipka 102"/>
          <p:cNvCxnSpPr/>
          <p:nvPr/>
        </p:nvCxnSpPr>
        <p:spPr bwMode="auto">
          <a:xfrm>
            <a:off x="2987824" y="2420889"/>
            <a:ext cx="2232248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8" name="Přímá spojovací šipka 107"/>
          <p:cNvCxnSpPr/>
          <p:nvPr/>
        </p:nvCxnSpPr>
        <p:spPr bwMode="auto">
          <a:xfrm>
            <a:off x="4572000" y="3212977"/>
            <a:ext cx="936104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Přímá spojovací šipka 109"/>
          <p:cNvCxnSpPr/>
          <p:nvPr/>
        </p:nvCxnSpPr>
        <p:spPr bwMode="auto">
          <a:xfrm flipV="1">
            <a:off x="3995936" y="3068960"/>
            <a:ext cx="360040" cy="43205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6" name="Přímá spojovací šipka 115"/>
          <p:cNvCxnSpPr>
            <a:stCxn id="96" idx="0"/>
          </p:cNvCxnSpPr>
          <p:nvPr/>
        </p:nvCxnSpPr>
        <p:spPr bwMode="auto">
          <a:xfrm flipV="1">
            <a:off x="5004048" y="3933057"/>
            <a:ext cx="360040" cy="216024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9" name="Přímá spojovací šipka 118"/>
          <p:cNvCxnSpPr>
            <a:stCxn id="85" idx="3"/>
            <a:endCxn id="96" idx="0"/>
          </p:cNvCxnSpPr>
          <p:nvPr/>
        </p:nvCxnSpPr>
        <p:spPr bwMode="auto">
          <a:xfrm>
            <a:off x="3995936" y="3701064"/>
            <a:ext cx="1008112" cy="448017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125" name="Zaoblený obdélník 124"/>
          <p:cNvSpPr/>
          <p:nvPr/>
        </p:nvSpPr>
        <p:spPr bwMode="auto">
          <a:xfrm>
            <a:off x="7020272" y="3212977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Reakce</a:t>
            </a:r>
          </a:p>
        </p:txBody>
      </p:sp>
      <p:cxnSp>
        <p:nvCxnSpPr>
          <p:cNvPr id="126" name="Přímá spojovací šipka 125"/>
          <p:cNvCxnSpPr/>
          <p:nvPr/>
        </p:nvCxnSpPr>
        <p:spPr bwMode="auto">
          <a:xfrm>
            <a:off x="6732240" y="2420889"/>
            <a:ext cx="360040" cy="792088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28" name="Přímá spojovací šipka 127"/>
          <p:cNvCxnSpPr>
            <a:stCxn id="136" idx="3"/>
            <a:endCxn id="125" idx="1"/>
          </p:cNvCxnSpPr>
          <p:nvPr/>
        </p:nvCxnSpPr>
        <p:spPr bwMode="auto">
          <a:xfrm>
            <a:off x="6732240" y="2976048"/>
            <a:ext cx="288032" cy="373137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31" name="Přímá spojovací šipka 130"/>
          <p:cNvCxnSpPr/>
          <p:nvPr/>
        </p:nvCxnSpPr>
        <p:spPr bwMode="auto">
          <a:xfrm flipV="1">
            <a:off x="6804248" y="3429001"/>
            <a:ext cx="216024" cy="200055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sp>
        <p:nvSpPr>
          <p:cNvPr id="135" name="Zaoblený obdélník 134"/>
          <p:cNvSpPr/>
          <p:nvPr/>
        </p:nvSpPr>
        <p:spPr bwMode="auto">
          <a:xfrm>
            <a:off x="6156176" y="2318684"/>
            <a:ext cx="576064" cy="246221"/>
          </a:xfrm>
          <a:prstGeom prst="roundRect">
            <a:avLst>
              <a:gd name="adj" fmla="val 0"/>
            </a:avLst>
          </a:prstGeom>
          <a:solidFill>
            <a:srgbClr val="FF9966"/>
          </a:solidFill>
          <a:ln w="15875">
            <a:solidFill>
              <a:schemeClr val="bg1">
                <a:lumMod val="50000"/>
              </a:schemeClr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Chyba</a:t>
            </a:r>
          </a:p>
        </p:txBody>
      </p:sp>
      <p:sp>
        <p:nvSpPr>
          <p:cNvPr id="136" name="Zaoblený obdélník 135"/>
          <p:cNvSpPr/>
          <p:nvPr/>
        </p:nvSpPr>
        <p:spPr bwMode="auto">
          <a:xfrm>
            <a:off x="6156176" y="2852937"/>
            <a:ext cx="576064" cy="246221"/>
          </a:xfrm>
          <a:prstGeom prst="roundRect">
            <a:avLst>
              <a:gd name="adj" fmla="val 0"/>
            </a:avLst>
          </a:prstGeom>
          <a:solidFill>
            <a:srgbClr val="FF9966"/>
          </a:solidFill>
          <a:ln w="15875">
            <a:solidFill>
              <a:schemeClr val="bg1">
                <a:lumMod val="50000"/>
              </a:schemeClr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Chyba</a:t>
            </a:r>
            <a:endParaRPr lang="cs-CZ" sz="10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7" name="Zaoblený obdélník 136"/>
          <p:cNvSpPr/>
          <p:nvPr/>
        </p:nvSpPr>
        <p:spPr bwMode="auto">
          <a:xfrm>
            <a:off x="6084168" y="3501009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5875">
            <a:solidFill>
              <a:schemeClr val="bg1">
                <a:lumMod val="65000"/>
              </a:schemeClr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0"/>
              </a:rPr>
              <a:t>Výstupní objekt</a:t>
            </a:r>
          </a:p>
        </p:txBody>
      </p:sp>
      <p:cxnSp>
        <p:nvCxnSpPr>
          <p:cNvPr id="139" name="Přímá spojovací šipka 138"/>
          <p:cNvCxnSpPr/>
          <p:nvPr/>
        </p:nvCxnSpPr>
        <p:spPr bwMode="auto">
          <a:xfrm>
            <a:off x="5796136" y="2420889"/>
            <a:ext cx="360040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4" name="Přímá spojovací šipka 143"/>
          <p:cNvCxnSpPr/>
          <p:nvPr/>
        </p:nvCxnSpPr>
        <p:spPr bwMode="auto">
          <a:xfrm>
            <a:off x="5796136" y="2996953"/>
            <a:ext cx="360040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5" name="Přímá spojovací šipka 144"/>
          <p:cNvCxnSpPr/>
          <p:nvPr/>
        </p:nvCxnSpPr>
        <p:spPr bwMode="auto">
          <a:xfrm>
            <a:off x="5940152" y="3717033"/>
            <a:ext cx="152400" cy="8384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60" name="Přímá spojovací šipka 159"/>
          <p:cNvCxnSpPr/>
          <p:nvPr/>
        </p:nvCxnSpPr>
        <p:spPr bwMode="auto">
          <a:xfrm flipV="1">
            <a:off x="7596336" y="2780929"/>
            <a:ext cx="360040" cy="432048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62" name="Přímá spojovací šipka 161"/>
          <p:cNvCxnSpPr>
            <a:stCxn id="125" idx="3"/>
            <a:endCxn id="153" idx="1"/>
          </p:cNvCxnSpPr>
          <p:nvPr/>
        </p:nvCxnSpPr>
        <p:spPr bwMode="auto">
          <a:xfrm>
            <a:off x="7668344" y="3349185"/>
            <a:ext cx="360040" cy="7808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65" name="Přímá spojovací šipka 164"/>
          <p:cNvCxnSpPr/>
          <p:nvPr/>
        </p:nvCxnSpPr>
        <p:spPr bwMode="auto">
          <a:xfrm>
            <a:off x="7668344" y="3501009"/>
            <a:ext cx="576064" cy="36004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971600" y="5373216"/>
            <a:ext cx="6912768" cy="576411"/>
            <a:chOff x="181" y="2619"/>
            <a:chExt cx="943" cy="943"/>
          </a:xfrm>
        </p:grpSpPr>
        <p:grpSp>
          <p:nvGrpSpPr>
            <p:cNvPr id="3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71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72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73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70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sp>
        <p:nvSpPr>
          <p:cNvPr id="174" name="TextovéPole 41"/>
          <p:cNvSpPr txBox="1">
            <a:spLocks noChangeArrowheads="1"/>
          </p:cNvSpPr>
          <p:nvPr/>
        </p:nvSpPr>
        <p:spPr bwMode="auto">
          <a:xfrm>
            <a:off x="3779912" y="5549170"/>
            <a:ext cx="12241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75" name="Přímá spojovací šipka 174"/>
          <p:cNvCxnSpPr/>
          <p:nvPr/>
        </p:nvCxnSpPr>
        <p:spPr bwMode="auto">
          <a:xfrm>
            <a:off x="5004048" y="5085184"/>
            <a:ext cx="0" cy="31997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cxnSp>
        <p:nvCxnSpPr>
          <p:cNvPr id="177" name="Přímá spojovací šipka 176"/>
          <p:cNvCxnSpPr/>
          <p:nvPr/>
        </p:nvCxnSpPr>
        <p:spPr bwMode="auto">
          <a:xfrm>
            <a:off x="4139952" y="5085184"/>
            <a:ext cx="0" cy="28803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/>
          </a:ln>
          <a:effectLst/>
        </p:spPr>
      </p:cxnSp>
      <p:sp>
        <p:nvSpPr>
          <p:cNvPr id="179" name="Zaoblený obdélník 178"/>
          <p:cNvSpPr/>
          <p:nvPr/>
        </p:nvSpPr>
        <p:spPr bwMode="auto">
          <a:xfrm>
            <a:off x="5580112" y="4149080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5875">
            <a:solidFill>
              <a:schemeClr val="bg1">
                <a:lumMod val="65000"/>
              </a:schemeClr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cs typeface="Calibri" pitchFamily="34" charset="0"/>
              </a:rPr>
              <a:t>Procesní objekt</a:t>
            </a:r>
            <a:endParaRPr lang="cs-CZ" sz="1000" b="1" dirty="0">
              <a:solidFill>
                <a:schemeClr val="bg1">
                  <a:lumMod val="6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80" name="Přímá spojovací šipka 179"/>
          <p:cNvCxnSpPr/>
          <p:nvPr/>
        </p:nvCxnSpPr>
        <p:spPr bwMode="auto">
          <a:xfrm>
            <a:off x="4860032" y="2996952"/>
            <a:ext cx="360040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9" name="Přímá spojovací čára 188"/>
          <p:cNvCxnSpPr/>
          <p:nvPr/>
        </p:nvCxnSpPr>
        <p:spPr bwMode="auto">
          <a:xfrm>
            <a:off x="827584" y="1988840"/>
            <a:ext cx="0" cy="324036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Skupina 84"/>
          <p:cNvGrpSpPr>
            <a:grpSpLocks/>
          </p:cNvGrpSpPr>
          <p:nvPr/>
        </p:nvGrpSpPr>
        <p:grpSpPr bwMode="auto">
          <a:xfrm>
            <a:off x="323528" y="2636913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41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42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43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44" name="Přímá spojovací čára 102"/>
            <p:cNvCxnSpPr>
              <a:cxnSpLocks noChangeShapeType="1"/>
              <a:stCxn id="43" idx="6"/>
              <a:endCxn id="41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5" name="Přímá spojovací čára 103"/>
            <p:cNvCxnSpPr>
              <a:cxnSpLocks noChangeShapeType="1"/>
              <a:stCxn id="43" idx="2"/>
              <a:endCxn id="41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6" name="Group 289"/>
          <p:cNvGrpSpPr>
            <a:grpSpLocks/>
          </p:cNvGrpSpPr>
          <p:nvPr/>
        </p:nvGrpSpPr>
        <p:grpSpPr bwMode="auto">
          <a:xfrm>
            <a:off x="755576" y="3933057"/>
            <a:ext cx="216024" cy="432048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8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50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1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2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9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pic>
        <p:nvPicPr>
          <p:cNvPr id="46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212977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cxnSp>
        <p:nvCxnSpPr>
          <p:cNvPr id="190" name="Přímá spojovací čára 189"/>
          <p:cNvCxnSpPr/>
          <p:nvPr/>
        </p:nvCxnSpPr>
        <p:spPr bwMode="auto">
          <a:xfrm>
            <a:off x="8316416" y="1988840"/>
            <a:ext cx="0" cy="324036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" name="Group 289"/>
          <p:cNvGrpSpPr>
            <a:grpSpLocks/>
          </p:cNvGrpSpPr>
          <p:nvPr/>
        </p:nvGrpSpPr>
        <p:grpSpPr bwMode="auto">
          <a:xfrm>
            <a:off x="8244408" y="3789041"/>
            <a:ext cx="216024" cy="432048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13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57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58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59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56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pic>
        <p:nvPicPr>
          <p:cNvPr id="153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8384" y="3140969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grpSp>
        <p:nvGrpSpPr>
          <p:cNvPr id="14" name="Skupina 84"/>
          <p:cNvGrpSpPr>
            <a:grpSpLocks/>
          </p:cNvGrpSpPr>
          <p:nvPr/>
        </p:nvGrpSpPr>
        <p:grpSpPr bwMode="auto">
          <a:xfrm>
            <a:off x="7884368" y="2492897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48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49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50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51" name="Přímá spojovací čára 102"/>
            <p:cNvCxnSpPr>
              <a:cxnSpLocks noChangeShapeType="1"/>
              <a:stCxn id="150" idx="6"/>
              <a:endCxn id="148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2" name="Přímá spojovací čára 103"/>
            <p:cNvCxnSpPr>
              <a:cxnSpLocks noChangeShapeType="1"/>
              <a:stCxn id="150" idx="2"/>
              <a:endCxn id="148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91" name="Přímá spojovací čára 190"/>
          <p:cNvCxnSpPr/>
          <p:nvPr/>
        </p:nvCxnSpPr>
        <p:spPr bwMode="auto">
          <a:xfrm>
            <a:off x="827584" y="1988840"/>
            <a:ext cx="7488832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5" name="TextovéPole 194"/>
          <p:cNvSpPr txBox="1"/>
          <p:nvPr/>
        </p:nvSpPr>
        <p:spPr>
          <a:xfrm>
            <a:off x="827584" y="4653136"/>
            <a:ext cx="9361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Získání vstupní zprávy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0" name="TextovéPole 199"/>
          <p:cNvSpPr txBox="1"/>
          <p:nvPr/>
        </p:nvSpPr>
        <p:spPr>
          <a:xfrm>
            <a:off x="1763688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Formální kontrola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1" name="TextovéPole 200"/>
          <p:cNvSpPr txBox="1"/>
          <p:nvPr/>
        </p:nvSpPr>
        <p:spPr>
          <a:xfrm>
            <a:off x="2627784" y="4685074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Vstupní transformace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2" name="TextovéPole 201"/>
          <p:cNvSpPr txBox="1"/>
          <p:nvPr/>
        </p:nvSpPr>
        <p:spPr>
          <a:xfrm>
            <a:off x="3635896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Věcná kontrola</a:t>
            </a:r>
          </a:p>
        </p:txBody>
      </p:sp>
      <p:cxnSp>
        <p:nvCxnSpPr>
          <p:cNvPr id="204" name="Přímá spojovací čára 203"/>
          <p:cNvCxnSpPr/>
          <p:nvPr/>
        </p:nvCxnSpPr>
        <p:spPr bwMode="auto">
          <a:xfrm>
            <a:off x="827584" y="5229200"/>
            <a:ext cx="7488832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7" name="TextovéPole 206"/>
          <p:cNvSpPr txBox="1"/>
          <p:nvPr/>
        </p:nvSpPr>
        <p:spPr>
          <a:xfrm>
            <a:off x="4572000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Věcné zpracování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8" name="TextovéPole 207"/>
          <p:cNvSpPr txBox="1"/>
          <p:nvPr/>
        </p:nvSpPr>
        <p:spPr>
          <a:xfrm>
            <a:off x="5508104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Procesní zpracování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9" name="TextovéPole 208"/>
          <p:cNvSpPr txBox="1"/>
          <p:nvPr/>
        </p:nvSpPr>
        <p:spPr>
          <a:xfrm>
            <a:off x="6372200" y="4685074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Výstupní transformace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0" name="TextovéPole 209"/>
          <p:cNvSpPr txBox="1"/>
          <p:nvPr/>
        </p:nvSpPr>
        <p:spPr>
          <a:xfrm>
            <a:off x="7380312" y="4653136"/>
            <a:ext cx="9361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Odeslání výstupní zprávy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16" name="Přímá spojovací šipka 215"/>
          <p:cNvCxnSpPr/>
          <p:nvPr/>
        </p:nvCxnSpPr>
        <p:spPr bwMode="auto">
          <a:xfrm flipV="1">
            <a:off x="5940152" y="5085184"/>
            <a:ext cx="0" cy="28803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09" name="Přímá spojovací čára 108"/>
          <p:cNvCxnSpPr/>
          <p:nvPr/>
        </p:nvCxnSpPr>
        <p:spPr bwMode="auto">
          <a:xfrm>
            <a:off x="3635896" y="3212976"/>
            <a:ext cx="1872208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aoblený obdélník 6"/>
          <p:cNvSpPr/>
          <p:nvPr/>
        </p:nvSpPr>
        <p:spPr bwMode="auto">
          <a:xfrm>
            <a:off x="827584" y="1988840"/>
            <a:ext cx="7488832" cy="32403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4800" b="1" dirty="0"/>
          </a:p>
        </p:txBody>
      </p:sp>
      <p:sp>
        <p:nvSpPr>
          <p:cNvPr id="86" name="Zaoblený obdélník 85"/>
          <p:cNvSpPr/>
          <p:nvPr/>
        </p:nvSpPr>
        <p:spPr bwMode="auto">
          <a:xfrm>
            <a:off x="4572000" y="3212977"/>
            <a:ext cx="936104" cy="2016223"/>
          </a:xfrm>
          <a:prstGeom prst="roundRect">
            <a:avLst>
              <a:gd name="adj" fmla="val 0"/>
            </a:avLst>
          </a:prstGeom>
          <a:solidFill>
            <a:srgbClr val="FDC73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83" name="Zaoblený obdélník 82"/>
          <p:cNvSpPr/>
          <p:nvPr/>
        </p:nvSpPr>
        <p:spPr bwMode="auto">
          <a:xfrm>
            <a:off x="3635896" y="3212976"/>
            <a:ext cx="936104" cy="2016224"/>
          </a:xfrm>
          <a:prstGeom prst="roundRect">
            <a:avLst>
              <a:gd name="adj" fmla="val 0"/>
            </a:avLst>
          </a:prstGeom>
          <a:solidFill>
            <a:srgbClr val="8DFF6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Dekompozice aplikačního programu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43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Přímá spojovací čára 80"/>
          <p:cNvCxnSpPr/>
          <p:nvPr/>
        </p:nvCxnSpPr>
        <p:spPr bwMode="auto">
          <a:xfrm>
            <a:off x="3635896" y="3212976"/>
            <a:ext cx="0" cy="194421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Přímá spojovací čára 83"/>
          <p:cNvCxnSpPr>
            <a:endCxn id="7" idx="2"/>
          </p:cNvCxnSpPr>
          <p:nvPr/>
        </p:nvCxnSpPr>
        <p:spPr bwMode="auto">
          <a:xfrm>
            <a:off x="4572000" y="3212976"/>
            <a:ext cx="0" cy="2016224"/>
          </a:xfrm>
          <a:prstGeom prst="line">
            <a:avLst/>
          </a:prstGeom>
          <a:noFill/>
          <a:ln w="2540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Zaoblený obdélník 84"/>
          <p:cNvSpPr/>
          <p:nvPr/>
        </p:nvSpPr>
        <p:spPr bwMode="auto">
          <a:xfrm>
            <a:off x="3347864" y="3501009"/>
            <a:ext cx="648072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38100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Vstupní 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7" name="Zaoblený obdélník 86"/>
          <p:cNvSpPr/>
          <p:nvPr/>
        </p:nvSpPr>
        <p:spPr bwMode="auto">
          <a:xfrm>
            <a:off x="4283968" y="2852937"/>
            <a:ext cx="576064" cy="246221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Chyba</a:t>
            </a:r>
          </a:p>
        </p:txBody>
      </p:sp>
      <p:cxnSp>
        <p:nvCxnSpPr>
          <p:cNvPr id="89" name="Přímá spojovací čára 88"/>
          <p:cNvCxnSpPr/>
          <p:nvPr/>
        </p:nvCxnSpPr>
        <p:spPr bwMode="auto">
          <a:xfrm>
            <a:off x="5508104" y="3212976"/>
            <a:ext cx="0" cy="194421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95" name="Zaoblený obdélník 94"/>
          <p:cNvSpPr/>
          <p:nvPr/>
        </p:nvSpPr>
        <p:spPr bwMode="auto">
          <a:xfrm>
            <a:off x="5220072" y="3501009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38100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Výstupní objekt</a:t>
            </a:r>
          </a:p>
        </p:txBody>
      </p:sp>
      <p:sp>
        <p:nvSpPr>
          <p:cNvPr id="96" name="Zaoblený obdélník 95"/>
          <p:cNvSpPr/>
          <p:nvPr/>
        </p:nvSpPr>
        <p:spPr bwMode="auto">
          <a:xfrm>
            <a:off x="4644008" y="4149081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38100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Věcný objekt</a:t>
            </a:r>
          </a:p>
        </p:txBody>
      </p:sp>
      <p:cxnSp>
        <p:nvCxnSpPr>
          <p:cNvPr id="101" name="Přímá spojovací šipka 100"/>
          <p:cNvCxnSpPr/>
          <p:nvPr/>
        </p:nvCxnSpPr>
        <p:spPr bwMode="auto">
          <a:xfrm>
            <a:off x="2987824" y="3717033"/>
            <a:ext cx="360040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8" name="Přímá spojovací šipka 107"/>
          <p:cNvCxnSpPr/>
          <p:nvPr/>
        </p:nvCxnSpPr>
        <p:spPr bwMode="auto">
          <a:xfrm>
            <a:off x="4572000" y="3212977"/>
            <a:ext cx="936104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Přímá spojovací šipka 109"/>
          <p:cNvCxnSpPr/>
          <p:nvPr/>
        </p:nvCxnSpPr>
        <p:spPr bwMode="auto">
          <a:xfrm flipV="1">
            <a:off x="3995936" y="3068960"/>
            <a:ext cx="360040" cy="43205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6" name="Přímá spojovací šipka 115"/>
          <p:cNvCxnSpPr>
            <a:stCxn id="96" idx="0"/>
          </p:cNvCxnSpPr>
          <p:nvPr/>
        </p:nvCxnSpPr>
        <p:spPr bwMode="auto">
          <a:xfrm flipV="1">
            <a:off x="5004048" y="3933057"/>
            <a:ext cx="360040" cy="216024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9" name="Přímá spojovací šipka 118"/>
          <p:cNvCxnSpPr>
            <a:stCxn id="85" idx="3"/>
            <a:endCxn id="96" idx="0"/>
          </p:cNvCxnSpPr>
          <p:nvPr/>
        </p:nvCxnSpPr>
        <p:spPr bwMode="auto">
          <a:xfrm>
            <a:off x="3995936" y="3701064"/>
            <a:ext cx="1008112" cy="448017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5" name="Přímá spojovací šipka 144"/>
          <p:cNvCxnSpPr/>
          <p:nvPr/>
        </p:nvCxnSpPr>
        <p:spPr bwMode="auto">
          <a:xfrm flipV="1">
            <a:off x="5940152" y="3717032"/>
            <a:ext cx="288032" cy="1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971600" y="5373216"/>
            <a:ext cx="6912768" cy="576411"/>
            <a:chOff x="181" y="2619"/>
            <a:chExt cx="943" cy="943"/>
          </a:xfrm>
        </p:grpSpPr>
        <p:grpSp>
          <p:nvGrpSpPr>
            <p:cNvPr id="3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71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72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73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70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sp>
        <p:nvSpPr>
          <p:cNvPr id="174" name="TextovéPole 41"/>
          <p:cNvSpPr txBox="1">
            <a:spLocks noChangeArrowheads="1"/>
          </p:cNvSpPr>
          <p:nvPr/>
        </p:nvSpPr>
        <p:spPr bwMode="auto">
          <a:xfrm>
            <a:off x="3779912" y="5549170"/>
            <a:ext cx="12241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75" name="Přímá spojovací šipka 174"/>
          <p:cNvCxnSpPr/>
          <p:nvPr/>
        </p:nvCxnSpPr>
        <p:spPr bwMode="auto">
          <a:xfrm>
            <a:off x="5004048" y="5085184"/>
            <a:ext cx="0" cy="31997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cxnSp>
        <p:nvCxnSpPr>
          <p:cNvPr id="177" name="Přímá spojovací šipka 176"/>
          <p:cNvCxnSpPr/>
          <p:nvPr/>
        </p:nvCxnSpPr>
        <p:spPr bwMode="auto">
          <a:xfrm>
            <a:off x="4139952" y="5085184"/>
            <a:ext cx="0" cy="28803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89" name="Přímá spojovací čára 188"/>
          <p:cNvCxnSpPr/>
          <p:nvPr/>
        </p:nvCxnSpPr>
        <p:spPr bwMode="auto">
          <a:xfrm>
            <a:off x="827584" y="1988840"/>
            <a:ext cx="0" cy="324036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Skupina 84"/>
          <p:cNvGrpSpPr>
            <a:grpSpLocks/>
          </p:cNvGrpSpPr>
          <p:nvPr/>
        </p:nvGrpSpPr>
        <p:grpSpPr bwMode="auto">
          <a:xfrm>
            <a:off x="323528" y="2636913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41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42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43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44" name="Přímá spojovací čára 102"/>
            <p:cNvCxnSpPr>
              <a:cxnSpLocks noChangeShapeType="1"/>
              <a:stCxn id="43" idx="6"/>
              <a:endCxn id="41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5" name="Přímá spojovací čára 103"/>
            <p:cNvCxnSpPr>
              <a:cxnSpLocks noChangeShapeType="1"/>
              <a:stCxn id="43" idx="2"/>
              <a:endCxn id="41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6" name="Group 289"/>
          <p:cNvGrpSpPr>
            <a:grpSpLocks/>
          </p:cNvGrpSpPr>
          <p:nvPr/>
        </p:nvGrpSpPr>
        <p:grpSpPr bwMode="auto">
          <a:xfrm>
            <a:off x="755576" y="3933057"/>
            <a:ext cx="216024" cy="432048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8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50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1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2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9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pic>
        <p:nvPicPr>
          <p:cNvPr id="46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212977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cxnSp>
        <p:nvCxnSpPr>
          <p:cNvPr id="190" name="Přímá spojovací čára 189"/>
          <p:cNvCxnSpPr/>
          <p:nvPr/>
        </p:nvCxnSpPr>
        <p:spPr bwMode="auto">
          <a:xfrm>
            <a:off x="8316416" y="1988840"/>
            <a:ext cx="0" cy="324036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" name="Group 289"/>
          <p:cNvGrpSpPr>
            <a:grpSpLocks/>
          </p:cNvGrpSpPr>
          <p:nvPr/>
        </p:nvGrpSpPr>
        <p:grpSpPr bwMode="auto">
          <a:xfrm>
            <a:off x="8244408" y="3789041"/>
            <a:ext cx="216024" cy="432048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13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57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58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59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56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pic>
        <p:nvPicPr>
          <p:cNvPr id="153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8384" y="3140969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grpSp>
        <p:nvGrpSpPr>
          <p:cNvPr id="14" name="Skupina 84"/>
          <p:cNvGrpSpPr>
            <a:grpSpLocks/>
          </p:cNvGrpSpPr>
          <p:nvPr/>
        </p:nvGrpSpPr>
        <p:grpSpPr bwMode="auto">
          <a:xfrm>
            <a:off x="7884368" y="2492897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48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49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50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51" name="Přímá spojovací čára 102"/>
            <p:cNvCxnSpPr>
              <a:cxnSpLocks noChangeShapeType="1"/>
              <a:stCxn id="150" idx="6"/>
              <a:endCxn id="148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2" name="Přímá spojovací čára 103"/>
            <p:cNvCxnSpPr>
              <a:cxnSpLocks noChangeShapeType="1"/>
              <a:stCxn id="150" idx="2"/>
              <a:endCxn id="148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91" name="Přímá spojovací čára 190"/>
          <p:cNvCxnSpPr/>
          <p:nvPr/>
        </p:nvCxnSpPr>
        <p:spPr bwMode="auto">
          <a:xfrm>
            <a:off x="827584" y="1988840"/>
            <a:ext cx="7488832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5" name="TextovéPole 194"/>
          <p:cNvSpPr txBox="1"/>
          <p:nvPr/>
        </p:nvSpPr>
        <p:spPr>
          <a:xfrm>
            <a:off x="827584" y="4653136"/>
            <a:ext cx="9361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Získání vstupní zprávy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0" name="TextovéPole 199"/>
          <p:cNvSpPr txBox="1"/>
          <p:nvPr/>
        </p:nvSpPr>
        <p:spPr>
          <a:xfrm>
            <a:off x="1763688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Formální kontrola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1" name="TextovéPole 200"/>
          <p:cNvSpPr txBox="1"/>
          <p:nvPr/>
        </p:nvSpPr>
        <p:spPr>
          <a:xfrm>
            <a:off x="2627784" y="4685074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Vstupní transformace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2" name="TextovéPole 201"/>
          <p:cNvSpPr txBox="1"/>
          <p:nvPr/>
        </p:nvSpPr>
        <p:spPr>
          <a:xfrm>
            <a:off x="3635896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Věcná kontrola</a:t>
            </a:r>
          </a:p>
        </p:txBody>
      </p:sp>
      <p:cxnSp>
        <p:nvCxnSpPr>
          <p:cNvPr id="204" name="Přímá spojovací čára 203"/>
          <p:cNvCxnSpPr/>
          <p:nvPr/>
        </p:nvCxnSpPr>
        <p:spPr bwMode="auto">
          <a:xfrm>
            <a:off x="827584" y="5229200"/>
            <a:ext cx="7488832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7" name="TextovéPole 206"/>
          <p:cNvSpPr txBox="1"/>
          <p:nvPr/>
        </p:nvSpPr>
        <p:spPr>
          <a:xfrm>
            <a:off x="4572000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Věcné zpracování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8" name="TextovéPole 207"/>
          <p:cNvSpPr txBox="1"/>
          <p:nvPr/>
        </p:nvSpPr>
        <p:spPr>
          <a:xfrm>
            <a:off x="5508104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Procesní zpracování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9" name="TextovéPole 208"/>
          <p:cNvSpPr txBox="1"/>
          <p:nvPr/>
        </p:nvSpPr>
        <p:spPr>
          <a:xfrm>
            <a:off x="6372200" y="4685074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Výstupní transformace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0" name="TextovéPole 209"/>
          <p:cNvSpPr txBox="1"/>
          <p:nvPr/>
        </p:nvSpPr>
        <p:spPr>
          <a:xfrm>
            <a:off x="7380312" y="4653136"/>
            <a:ext cx="9361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Odeslání výstupní zprávy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16" name="Přímá spojovací šipka 215"/>
          <p:cNvCxnSpPr/>
          <p:nvPr/>
        </p:nvCxnSpPr>
        <p:spPr bwMode="auto">
          <a:xfrm flipV="1">
            <a:off x="5940152" y="5085184"/>
            <a:ext cx="0" cy="28803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09" name="Přímá spojovací čára 108"/>
          <p:cNvCxnSpPr/>
          <p:nvPr/>
        </p:nvCxnSpPr>
        <p:spPr bwMode="auto">
          <a:xfrm>
            <a:off x="3635896" y="3212976"/>
            <a:ext cx="1872208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4" name="TextovéPole 103"/>
          <p:cNvSpPr txBox="1"/>
          <p:nvPr/>
        </p:nvSpPr>
        <p:spPr>
          <a:xfrm>
            <a:off x="3635896" y="3212976"/>
            <a:ext cx="1872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Domain</a:t>
            </a:r>
            <a:r>
              <a:rPr lang="cs-CZ" sz="12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Worker</a:t>
            </a:r>
            <a:endParaRPr lang="cs-CZ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5" name="TextovéPole 104"/>
          <p:cNvSpPr txBox="1"/>
          <p:nvPr/>
        </p:nvSpPr>
        <p:spPr>
          <a:xfrm>
            <a:off x="3563888" y="2060848"/>
            <a:ext cx="1872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1" dirty="0" err="1" smtClean="0">
                <a:latin typeface="Calibri" pitchFamily="34" charset="0"/>
                <a:cs typeface="Calibri" pitchFamily="34" charset="0"/>
              </a:rPr>
              <a:t>Controller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5" descr="45380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89" name="Rectangle 13"/>
          <p:cNvSpPr>
            <a:spLocks noChangeArrowheads="1"/>
          </p:cNvSpPr>
          <p:nvPr/>
        </p:nvSpPr>
        <p:spPr bwMode="auto">
          <a:xfrm>
            <a:off x="755650" y="2205038"/>
            <a:ext cx="838835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ctr"/>
          <a:lstStyle/>
          <a:p>
            <a:pPr eaLnBrk="1" hangingPunct="1"/>
            <a:r>
              <a:rPr lang="cs-CZ" altLang="cs-CZ" sz="5000" b="1" dirty="0" smtClean="0">
                <a:solidFill>
                  <a:schemeClr val="bg1"/>
                </a:solidFill>
              </a:rPr>
              <a:t>Použité technologie</a:t>
            </a:r>
            <a:endParaRPr lang="cs-CZ" altLang="cs-CZ" sz="5000" b="1" dirty="0">
              <a:solidFill>
                <a:schemeClr val="bg1"/>
              </a:solidFill>
            </a:endParaRPr>
          </a:p>
        </p:txBody>
      </p:sp>
      <p:pic>
        <p:nvPicPr>
          <p:cNvPr id="15364" name="Picture 16" descr="syntea logo negativni na purpurove plose_stredn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8525" y="0"/>
            <a:ext cx="14509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04863" y="806450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Použité technologie 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826963" y="1557338"/>
            <a:ext cx="8137525" cy="44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smtClean="0">
                <a:latin typeface="Calibri" panose="020F0502020204030204" pitchFamily="34" charset="0"/>
              </a:rPr>
              <a:t>Java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smtClean="0">
                <a:latin typeface="Calibri" panose="020F0502020204030204" pitchFamily="34" charset="0"/>
              </a:rPr>
              <a:t>XML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err="1" smtClean="0">
                <a:latin typeface="Calibri" panose="020F0502020204030204" pitchFamily="34" charset="0"/>
              </a:rPr>
              <a:t>Spring</a:t>
            </a:r>
            <a:r>
              <a:rPr lang="cs-CZ" sz="1800" b="1" kern="0" dirty="0" smtClean="0">
                <a:latin typeface="Calibri" panose="020F0502020204030204" pitchFamily="34" charset="0"/>
              </a:rPr>
              <a:t> 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framework</a:t>
            </a:r>
            <a:endParaRPr lang="cs-CZ" sz="1800" b="1" kern="0" dirty="0" smtClean="0">
              <a:latin typeface="Calibri" panose="020F0502020204030204" pitchFamily="34" charset="0"/>
            </a:endParaRP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smtClean="0">
                <a:latin typeface="Calibri" panose="020F0502020204030204" pitchFamily="34" charset="0"/>
              </a:rPr>
              <a:t>Relační databáze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smtClean="0">
                <a:latin typeface="Calibri" panose="020F0502020204030204" pitchFamily="34" charset="0"/>
              </a:rPr>
              <a:t>Databázové fronty</a:t>
            </a: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smtClean="0">
                <a:latin typeface="Calibri" panose="020F0502020204030204" pitchFamily="34" charset="0"/>
              </a:rPr>
              <a:t>X-definice</a:t>
            </a:r>
            <a:endParaRPr lang="en-US" sz="1800" b="1" kern="0" dirty="0">
              <a:latin typeface="Calibri" panose="020F0502020204030204" pitchFamily="34" charset="0"/>
            </a:endParaRP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smtClean="0">
                <a:latin typeface="Calibri" panose="020F0502020204030204" pitchFamily="34" charset="0"/>
              </a:rPr>
              <a:t>X-komponenty</a:t>
            </a:r>
            <a:endParaRPr lang="cs-CZ" sz="1800" b="1" kern="0" dirty="0">
              <a:latin typeface="Calibri" panose="020F0502020204030204" pitchFamily="34" charset="0"/>
            </a:endParaRP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err="1" smtClean="0">
                <a:latin typeface="Calibri" panose="020F0502020204030204" pitchFamily="34" charset="0"/>
              </a:rPr>
              <a:t>Metadata</a:t>
            </a:r>
            <a:endParaRPr lang="cs-CZ" sz="1800" b="1" kern="0" dirty="0" smtClean="0">
              <a:latin typeface="Calibri" panose="020F0502020204030204" pitchFamily="34" charset="0"/>
            </a:endParaRP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r>
              <a:rPr lang="cs-CZ" sz="1800" b="1" kern="0" dirty="0" err="1" smtClean="0">
                <a:latin typeface="Calibri" panose="020F0502020204030204" pitchFamily="34" charset="0"/>
              </a:rPr>
              <a:t>Application</a:t>
            </a:r>
            <a:r>
              <a:rPr lang="cs-CZ" sz="1800" b="1" kern="0" dirty="0" smtClean="0">
                <a:latin typeface="Calibri" panose="020F0502020204030204" pitchFamily="34" charset="0"/>
              </a:rPr>
              <a:t> 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manager</a:t>
            </a:r>
            <a:r>
              <a:rPr lang="cs-CZ" sz="1800" b="1" kern="0" dirty="0" smtClean="0">
                <a:latin typeface="Calibri" panose="020F0502020204030204" pitchFamily="34" charset="0"/>
              </a:rPr>
              <a:t>, 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Time</a:t>
            </a:r>
            <a:r>
              <a:rPr lang="cs-CZ" sz="1800" b="1" kern="0" dirty="0" smtClean="0">
                <a:latin typeface="Calibri" panose="020F0502020204030204" pitchFamily="34" charset="0"/>
              </a:rPr>
              <a:t> 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manager</a:t>
            </a:r>
            <a:r>
              <a:rPr lang="cs-CZ" sz="1800" b="1" kern="0" dirty="0" smtClean="0">
                <a:latin typeface="Calibri" panose="020F0502020204030204" pitchFamily="34" charset="0"/>
              </a:rPr>
              <a:t>, 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Event</a:t>
            </a:r>
            <a:r>
              <a:rPr lang="cs-CZ" sz="1800" b="1" kern="0" dirty="0" smtClean="0">
                <a:latin typeface="Calibri" panose="020F0502020204030204" pitchFamily="34" charset="0"/>
              </a:rPr>
              <a:t> </a:t>
            </a:r>
            <a:r>
              <a:rPr lang="cs-CZ" sz="1800" b="1" kern="0" dirty="0" err="1" smtClean="0">
                <a:latin typeface="Calibri" panose="020F0502020204030204" pitchFamily="34" charset="0"/>
              </a:rPr>
              <a:t>manager</a:t>
            </a:r>
            <a:endParaRPr lang="cs-CZ" sz="1800" b="1" kern="0" dirty="0">
              <a:latin typeface="Calibri" panose="020F0502020204030204" pitchFamily="34" charset="0"/>
            </a:endParaRPr>
          </a:p>
          <a:p>
            <a:pPr marL="457200" indent="-457200" algn="just" eaLnBrk="1" hangingPunct="1">
              <a:spcBef>
                <a:spcPts val="1800"/>
              </a:spcBef>
              <a:buFont typeface="Wingdings" panose="05000000000000000000" pitchFamily="2" charset="2"/>
              <a:buChar char="Ø"/>
              <a:defRPr/>
            </a:pPr>
            <a:endParaRPr lang="cs-CZ" altLang="cs-CZ" sz="1800" b="1" dirty="0">
              <a:latin typeface="Calibri" panose="020F0502020204030204" pitchFamily="34" charset="0"/>
            </a:endParaRPr>
          </a:p>
        </p:txBody>
      </p:sp>
      <p:cxnSp>
        <p:nvCxnSpPr>
          <p:cNvPr id="5" name="Přímá spojnice 4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Zástupný symbol pro zápatí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1270" name="Zástupný symbol pro číslo snímku 12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310E886-6130-4E65-8689-BF3FE0D6BD24}" type="slidenum">
              <a:rPr lang="cs-CZ" altLang="cs-CZ">
                <a:latin typeface="Calibri" pitchFamily="34" charset="0"/>
              </a:rPr>
              <a:pPr/>
              <a:t>45</a:t>
            </a:fld>
            <a:endParaRPr lang="cs-CZ" altLang="cs-CZ">
              <a:latin typeface="Calibri" pitchFamily="34" charset="0"/>
            </a:endParaRPr>
          </a:p>
        </p:txBody>
      </p:sp>
      <p:pic>
        <p:nvPicPr>
          <p:cNvPr id="11271" name="Picture 8" descr="https://photos-3.dropbox.com/t/2/AACe9uOFpue-gDj2RhdM3k-O3YlxRC70h8Q8dhvzY7sh2A/12/116278065/jpeg/32x32/3/1477072800/0/2/_61A7720uprBW.jpg/EJDg3VkY-kYgAigC/nkl3KRGyglFmEJeOSLrEPknYQ8uQqV5ds3IAhLCXMIc?size_mode=3&amp;dl=0&amp;size=800x6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638994"/>
            <a:ext cx="2854325" cy="207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Databázové fronty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46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Box 195"/>
          <p:cNvSpPr txBox="1">
            <a:spLocks noChangeArrowheads="1"/>
          </p:cNvSpPr>
          <p:nvPr/>
        </p:nvSpPr>
        <p:spPr bwMode="auto">
          <a:xfrm>
            <a:off x="3419872" y="3212976"/>
            <a:ext cx="2448272" cy="792088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txBody>
          <a:bodyPr lIns="83210" tIns="41605" rIns="83210" bIns="41605" anchor="ctr"/>
          <a:lstStyle/>
          <a:p>
            <a:pPr algn="ctr"/>
            <a:r>
              <a:rPr lang="cs-CZ" sz="1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</a:t>
            </a:r>
            <a:endParaRPr lang="cs-CZ" sz="18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7" name="Group 259"/>
          <p:cNvGrpSpPr>
            <a:grpSpLocks/>
          </p:cNvGrpSpPr>
          <p:nvPr/>
        </p:nvGrpSpPr>
        <p:grpSpPr bwMode="auto">
          <a:xfrm>
            <a:off x="3203848" y="2780929"/>
            <a:ext cx="360040" cy="591369"/>
            <a:chOff x="181" y="2619"/>
            <a:chExt cx="943" cy="943"/>
          </a:xfrm>
        </p:grpSpPr>
        <p:grpSp>
          <p:nvGrpSpPr>
            <p:cNvPr id="8" name="Group 26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2" name="Rectangle 26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3" name="Oval 26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4" name="Freeform 26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9" name="Oval 26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15" name="Tvar 61"/>
          <p:cNvCxnSpPr>
            <a:cxnSpLocks noChangeShapeType="1"/>
          </p:cNvCxnSpPr>
          <p:nvPr/>
        </p:nvCxnSpPr>
        <p:spPr bwMode="auto">
          <a:xfrm rot="16200000" flipH="1">
            <a:off x="2125329" y="1627201"/>
            <a:ext cx="368597" cy="1955974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cxnSp>
        <p:nvCxnSpPr>
          <p:cNvPr id="16" name="Tvar 61"/>
          <p:cNvCxnSpPr>
            <a:cxnSpLocks noChangeShapeType="1"/>
            <a:endCxn id="9" idx="0"/>
          </p:cNvCxnSpPr>
          <p:nvPr/>
        </p:nvCxnSpPr>
        <p:spPr bwMode="auto">
          <a:xfrm rot="16200000" flipH="1">
            <a:off x="2645786" y="2042847"/>
            <a:ext cx="792088" cy="684076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cxnSp>
        <p:nvCxnSpPr>
          <p:cNvPr id="18" name="Tvar 61"/>
          <p:cNvCxnSpPr>
            <a:cxnSpLocks noChangeShapeType="1"/>
          </p:cNvCxnSpPr>
          <p:nvPr/>
        </p:nvCxnSpPr>
        <p:spPr bwMode="auto">
          <a:xfrm flipV="1">
            <a:off x="1835696" y="2924945"/>
            <a:ext cx="1379908" cy="495501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grpSp>
        <p:nvGrpSpPr>
          <p:cNvPr id="20" name="Group 259"/>
          <p:cNvGrpSpPr>
            <a:grpSpLocks/>
          </p:cNvGrpSpPr>
          <p:nvPr/>
        </p:nvGrpSpPr>
        <p:grpSpPr bwMode="auto">
          <a:xfrm>
            <a:off x="7596336" y="1772816"/>
            <a:ext cx="360040" cy="591369"/>
            <a:chOff x="181" y="2619"/>
            <a:chExt cx="943" cy="943"/>
          </a:xfrm>
        </p:grpSpPr>
        <p:grpSp>
          <p:nvGrpSpPr>
            <p:cNvPr id="21" name="Group 26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23" name="Rectangle 26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24" name="Oval 26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25" name="Freeform 26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22" name="Oval 26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grpSp>
        <p:nvGrpSpPr>
          <p:cNvPr id="26" name="Group 259"/>
          <p:cNvGrpSpPr>
            <a:grpSpLocks/>
          </p:cNvGrpSpPr>
          <p:nvPr/>
        </p:nvGrpSpPr>
        <p:grpSpPr bwMode="auto">
          <a:xfrm>
            <a:off x="7596336" y="3861048"/>
            <a:ext cx="360040" cy="591369"/>
            <a:chOff x="181" y="2619"/>
            <a:chExt cx="943" cy="943"/>
          </a:xfrm>
        </p:grpSpPr>
        <p:grpSp>
          <p:nvGrpSpPr>
            <p:cNvPr id="27" name="Group 26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29" name="Rectangle 26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30" name="Oval 26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31" name="Freeform 26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28" name="Oval 26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32" name="Tvar 61"/>
          <p:cNvCxnSpPr>
            <a:cxnSpLocks noChangeShapeType="1"/>
            <a:stCxn id="6" idx="3"/>
            <a:endCxn id="23" idx="1"/>
          </p:cNvCxnSpPr>
          <p:nvPr/>
        </p:nvCxnSpPr>
        <p:spPr bwMode="auto">
          <a:xfrm flipV="1">
            <a:off x="5868144" y="2075712"/>
            <a:ext cx="1730101" cy="1533308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cxnSp>
        <p:nvCxnSpPr>
          <p:cNvPr id="35" name="Tvar 61"/>
          <p:cNvCxnSpPr>
            <a:cxnSpLocks noChangeShapeType="1"/>
            <a:stCxn id="6" idx="3"/>
            <a:endCxn id="29" idx="1"/>
          </p:cNvCxnSpPr>
          <p:nvPr/>
        </p:nvCxnSpPr>
        <p:spPr bwMode="auto">
          <a:xfrm>
            <a:off x="5868144" y="3609020"/>
            <a:ext cx="1730101" cy="554924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grpSp>
        <p:nvGrpSpPr>
          <p:cNvPr id="38" name="Group 103"/>
          <p:cNvGrpSpPr>
            <a:grpSpLocks/>
          </p:cNvGrpSpPr>
          <p:nvPr/>
        </p:nvGrpSpPr>
        <p:grpSpPr bwMode="auto">
          <a:xfrm>
            <a:off x="3635896" y="4653136"/>
            <a:ext cx="2016224" cy="576411"/>
            <a:chOff x="181" y="2619"/>
            <a:chExt cx="943" cy="943"/>
          </a:xfrm>
        </p:grpSpPr>
        <p:grpSp>
          <p:nvGrpSpPr>
            <p:cNvPr id="39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41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2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3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0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sp>
        <p:nvSpPr>
          <p:cNvPr id="44" name="TextovéPole 41"/>
          <p:cNvSpPr txBox="1">
            <a:spLocks noChangeArrowheads="1"/>
          </p:cNvSpPr>
          <p:nvPr/>
        </p:nvSpPr>
        <p:spPr bwMode="auto">
          <a:xfrm>
            <a:off x="3995936" y="4797152"/>
            <a:ext cx="12241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5" name="Přímá spojovací šipka 44"/>
          <p:cNvCxnSpPr/>
          <p:nvPr/>
        </p:nvCxnSpPr>
        <p:spPr bwMode="auto">
          <a:xfrm>
            <a:off x="4644008" y="4005064"/>
            <a:ext cx="0" cy="64807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cxnSp>
        <p:nvCxnSpPr>
          <p:cNvPr id="48" name="Přímá spojovací čára 47"/>
          <p:cNvCxnSpPr/>
          <p:nvPr/>
        </p:nvCxnSpPr>
        <p:spPr bwMode="auto">
          <a:xfrm>
            <a:off x="3347864" y="2924944"/>
            <a:ext cx="0" cy="2808312"/>
          </a:xfrm>
          <a:prstGeom prst="line">
            <a:avLst/>
          </a:prstGeom>
          <a:noFill/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Přímá spojovací čára 51"/>
          <p:cNvCxnSpPr/>
          <p:nvPr/>
        </p:nvCxnSpPr>
        <p:spPr bwMode="auto">
          <a:xfrm>
            <a:off x="7740352" y="1700808"/>
            <a:ext cx="0" cy="3960440"/>
          </a:xfrm>
          <a:prstGeom prst="line">
            <a:avLst/>
          </a:prstGeom>
          <a:noFill/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Přímá spojovací šipka 54"/>
          <p:cNvCxnSpPr/>
          <p:nvPr/>
        </p:nvCxnSpPr>
        <p:spPr bwMode="auto">
          <a:xfrm>
            <a:off x="3347864" y="5589240"/>
            <a:ext cx="4392488" cy="0"/>
          </a:xfrm>
          <a:prstGeom prst="straightConnector1">
            <a:avLst/>
          </a:prstGeom>
          <a:noFill/>
          <a:ln w="44450" cap="flat" cmpd="sng" algn="ctr">
            <a:solidFill>
              <a:srgbClr val="FF0000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58" name="TextovéPole 57"/>
          <p:cNvSpPr txBox="1"/>
          <p:nvPr/>
        </p:nvSpPr>
        <p:spPr>
          <a:xfrm>
            <a:off x="4788024" y="5301208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b="1" dirty="0" smtClean="0">
                <a:latin typeface="Calibri" pitchFamily="34" charset="0"/>
                <a:cs typeface="Calibri" pitchFamily="34" charset="0"/>
              </a:rPr>
              <a:t>Databázová transakce</a:t>
            </a:r>
            <a:endParaRPr lang="cs-CZ" sz="14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68" name="Pravoúhlá spojovací čára 67"/>
          <p:cNvCxnSpPr>
            <a:endCxn id="6" idx="0"/>
          </p:cNvCxnSpPr>
          <p:nvPr/>
        </p:nvCxnSpPr>
        <p:spPr bwMode="auto">
          <a:xfrm>
            <a:off x="3563888" y="2996952"/>
            <a:ext cx="1080120" cy="216024"/>
          </a:xfrm>
          <a:prstGeom prst="bentConnector2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Zaoblený obdélník 71"/>
          <p:cNvSpPr/>
          <p:nvPr/>
        </p:nvSpPr>
        <p:spPr bwMode="auto">
          <a:xfrm>
            <a:off x="3707904" y="2852936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Událost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3" name="Zaoblený obdélník 72"/>
          <p:cNvSpPr/>
          <p:nvPr/>
        </p:nvSpPr>
        <p:spPr bwMode="auto">
          <a:xfrm>
            <a:off x="6372200" y="2780928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Reakce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4" name="Zaoblený obdélník 73"/>
          <p:cNvSpPr/>
          <p:nvPr/>
        </p:nvSpPr>
        <p:spPr bwMode="auto">
          <a:xfrm>
            <a:off x="6444208" y="3789040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Reakce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73" grpId="0" animBg="1"/>
      <p:bldP spid="7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(Databázové) fronty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47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Box 195"/>
          <p:cNvSpPr txBox="1">
            <a:spLocks noChangeArrowheads="1"/>
          </p:cNvSpPr>
          <p:nvPr/>
        </p:nvSpPr>
        <p:spPr bwMode="auto">
          <a:xfrm>
            <a:off x="2051720" y="2996952"/>
            <a:ext cx="1296144" cy="432048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txBody>
          <a:bodyPr lIns="83210" tIns="41605" rIns="83210" bIns="41605" anchor="ctr"/>
          <a:lstStyle/>
          <a:p>
            <a:pPr algn="ctr"/>
            <a:r>
              <a:rPr lang="cs-CZ" sz="1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A</a:t>
            </a:r>
            <a:endParaRPr lang="cs-CZ" sz="18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259"/>
          <p:cNvGrpSpPr>
            <a:grpSpLocks/>
          </p:cNvGrpSpPr>
          <p:nvPr/>
        </p:nvGrpSpPr>
        <p:grpSpPr bwMode="auto">
          <a:xfrm>
            <a:off x="1907704" y="2708920"/>
            <a:ext cx="216024" cy="432047"/>
            <a:chOff x="181" y="2619"/>
            <a:chExt cx="943" cy="943"/>
          </a:xfrm>
        </p:grpSpPr>
        <p:grpSp>
          <p:nvGrpSpPr>
            <p:cNvPr id="3" name="Group 26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2" name="Rectangle 26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3" name="Oval 26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4" name="Freeform 26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9" name="Oval 26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15" name="Tvar 61"/>
          <p:cNvCxnSpPr>
            <a:cxnSpLocks noChangeShapeType="1"/>
            <a:endCxn id="9" idx="2"/>
          </p:cNvCxnSpPr>
          <p:nvPr/>
        </p:nvCxnSpPr>
        <p:spPr bwMode="auto">
          <a:xfrm>
            <a:off x="1043608" y="2420888"/>
            <a:ext cx="864096" cy="369127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cxnSp>
        <p:nvCxnSpPr>
          <p:cNvPr id="16" name="Tvar 61"/>
          <p:cNvCxnSpPr>
            <a:cxnSpLocks noChangeShapeType="1"/>
            <a:endCxn id="9" idx="0"/>
          </p:cNvCxnSpPr>
          <p:nvPr/>
        </p:nvCxnSpPr>
        <p:spPr bwMode="auto">
          <a:xfrm rot="16200000" flipH="1">
            <a:off x="1313638" y="2006842"/>
            <a:ext cx="792088" cy="612068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cxnSp>
        <p:nvCxnSpPr>
          <p:cNvPr id="18" name="Tvar 61"/>
          <p:cNvCxnSpPr>
            <a:cxnSpLocks noChangeShapeType="1"/>
          </p:cNvCxnSpPr>
          <p:nvPr/>
        </p:nvCxnSpPr>
        <p:spPr bwMode="auto">
          <a:xfrm flipV="1">
            <a:off x="1115616" y="2924945"/>
            <a:ext cx="803844" cy="216023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cxnSp>
        <p:nvCxnSpPr>
          <p:cNvPr id="35" name="Tvar 61"/>
          <p:cNvCxnSpPr>
            <a:cxnSpLocks noChangeShapeType="1"/>
            <a:stCxn id="6" idx="3"/>
            <a:endCxn id="64" idx="1"/>
          </p:cNvCxnSpPr>
          <p:nvPr/>
        </p:nvCxnSpPr>
        <p:spPr bwMode="auto">
          <a:xfrm flipV="1">
            <a:off x="3347864" y="2786197"/>
            <a:ext cx="865241" cy="426779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grpSp>
        <p:nvGrpSpPr>
          <p:cNvPr id="19" name="Group 103"/>
          <p:cNvGrpSpPr>
            <a:grpSpLocks/>
          </p:cNvGrpSpPr>
          <p:nvPr/>
        </p:nvGrpSpPr>
        <p:grpSpPr bwMode="auto">
          <a:xfrm>
            <a:off x="2339752" y="4005064"/>
            <a:ext cx="2808312" cy="648071"/>
            <a:chOff x="181" y="2619"/>
            <a:chExt cx="943" cy="943"/>
          </a:xfrm>
        </p:grpSpPr>
        <p:grpSp>
          <p:nvGrpSpPr>
            <p:cNvPr id="20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41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2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3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0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sp>
        <p:nvSpPr>
          <p:cNvPr id="44" name="TextovéPole 41"/>
          <p:cNvSpPr txBox="1">
            <a:spLocks noChangeArrowheads="1"/>
          </p:cNvSpPr>
          <p:nvPr/>
        </p:nvSpPr>
        <p:spPr bwMode="auto">
          <a:xfrm>
            <a:off x="2699792" y="4221088"/>
            <a:ext cx="20882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5" name="Přímá spojovací šipka 44"/>
          <p:cNvCxnSpPr/>
          <p:nvPr/>
        </p:nvCxnSpPr>
        <p:spPr bwMode="auto">
          <a:xfrm>
            <a:off x="2483768" y="3429000"/>
            <a:ext cx="0" cy="64807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69" name="Text Box 195"/>
          <p:cNvSpPr txBox="1">
            <a:spLocks noChangeArrowheads="1"/>
          </p:cNvSpPr>
          <p:nvPr/>
        </p:nvSpPr>
        <p:spPr bwMode="auto">
          <a:xfrm>
            <a:off x="4355976" y="2780928"/>
            <a:ext cx="1296144" cy="432048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txBody>
          <a:bodyPr lIns="83210" tIns="41605" rIns="83210" bIns="41605" anchor="ctr"/>
          <a:lstStyle/>
          <a:p>
            <a:pPr algn="ctr"/>
            <a:r>
              <a:rPr lang="cs-CZ" sz="1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B</a:t>
            </a:r>
            <a:endParaRPr lang="cs-CZ" sz="18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61" name="Group 259"/>
          <p:cNvGrpSpPr>
            <a:grpSpLocks/>
          </p:cNvGrpSpPr>
          <p:nvPr/>
        </p:nvGrpSpPr>
        <p:grpSpPr bwMode="auto">
          <a:xfrm>
            <a:off x="4211960" y="2564904"/>
            <a:ext cx="216024" cy="432047"/>
            <a:chOff x="181" y="2619"/>
            <a:chExt cx="943" cy="943"/>
          </a:xfrm>
        </p:grpSpPr>
        <p:grpSp>
          <p:nvGrpSpPr>
            <p:cNvPr id="62" name="Group 26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64" name="Rectangle 26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65" name="Oval 26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66" name="Freeform 26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63" name="Oval 26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70" name="Přímá spojovací šipka 69"/>
          <p:cNvCxnSpPr/>
          <p:nvPr/>
        </p:nvCxnSpPr>
        <p:spPr bwMode="auto">
          <a:xfrm>
            <a:off x="4572000" y="3212976"/>
            <a:ext cx="0" cy="792088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75" name="Text Box 195"/>
          <p:cNvSpPr txBox="1">
            <a:spLocks noChangeArrowheads="1"/>
          </p:cNvSpPr>
          <p:nvPr/>
        </p:nvSpPr>
        <p:spPr bwMode="auto">
          <a:xfrm>
            <a:off x="6732240" y="3140968"/>
            <a:ext cx="1296144" cy="432048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txBody>
          <a:bodyPr lIns="83210" tIns="41605" rIns="83210" bIns="41605" anchor="ctr"/>
          <a:lstStyle/>
          <a:p>
            <a:pPr algn="ctr"/>
            <a:r>
              <a:rPr lang="cs-CZ" sz="1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C</a:t>
            </a:r>
            <a:endParaRPr lang="cs-CZ" sz="18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76" name="Group 259"/>
          <p:cNvGrpSpPr>
            <a:grpSpLocks/>
          </p:cNvGrpSpPr>
          <p:nvPr/>
        </p:nvGrpSpPr>
        <p:grpSpPr bwMode="auto">
          <a:xfrm>
            <a:off x="6588224" y="2924944"/>
            <a:ext cx="216024" cy="432047"/>
            <a:chOff x="181" y="2619"/>
            <a:chExt cx="943" cy="943"/>
          </a:xfrm>
        </p:grpSpPr>
        <p:grpSp>
          <p:nvGrpSpPr>
            <p:cNvPr id="77" name="Group 26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79" name="Rectangle 26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80" name="Oval 26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81" name="Freeform 26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78" name="Oval 26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82" name="Tvar 61"/>
          <p:cNvCxnSpPr>
            <a:cxnSpLocks noChangeShapeType="1"/>
            <a:stCxn id="69" idx="3"/>
            <a:endCxn id="79" idx="1"/>
          </p:cNvCxnSpPr>
          <p:nvPr/>
        </p:nvCxnSpPr>
        <p:spPr bwMode="auto">
          <a:xfrm>
            <a:off x="5652120" y="2996952"/>
            <a:ext cx="937249" cy="149285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Události a Reakce -&gt; Zprávy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48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Box 195"/>
          <p:cNvSpPr txBox="1">
            <a:spLocks noChangeArrowheads="1"/>
          </p:cNvSpPr>
          <p:nvPr/>
        </p:nvSpPr>
        <p:spPr bwMode="auto">
          <a:xfrm>
            <a:off x="2051720" y="2996952"/>
            <a:ext cx="1296144" cy="432048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txBody>
          <a:bodyPr lIns="83210" tIns="41605" rIns="83210" bIns="41605" anchor="ctr"/>
          <a:lstStyle/>
          <a:p>
            <a:pPr algn="ctr"/>
            <a:r>
              <a:rPr lang="cs-CZ" sz="1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A</a:t>
            </a:r>
            <a:endParaRPr lang="cs-CZ" sz="18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259"/>
          <p:cNvGrpSpPr>
            <a:grpSpLocks/>
          </p:cNvGrpSpPr>
          <p:nvPr/>
        </p:nvGrpSpPr>
        <p:grpSpPr bwMode="auto">
          <a:xfrm>
            <a:off x="1907704" y="2708920"/>
            <a:ext cx="216024" cy="432047"/>
            <a:chOff x="181" y="2619"/>
            <a:chExt cx="943" cy="943"/>
          </a:xfrm>
        </p:grpSpPr>
        <p:grpSp>
          <p:nvGrpSpPr>
            <p:cNvPr id="3" name="Group 26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2" name="Rectangle 26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3" name="Oval 26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4" name="Freeform 26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9" name="Oval 26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15" name="Tvar 61"/>
          <p:cNvCxnSpPr>
            <a:cxnSpLocks noChangeShapeType="1"/>
            <a:endCxn id="9" idx="2"/>
          </p:cNvCxnSpPr>
          <p:nvPr/>
        </p:nvCxnSpPr>
        <p:spPr bwMode="auto">
          <a:xfrm>
            <a:off x="1043608" y="2420888"/>
            <a:ext cx="864096" cy="369127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cxnSp>
        <p:nvCxnSpPr>
          <p:cNvPr id="16" name="Tvar 61"/>
          <p:cNvCxnSpPr>
            <a:cxnSpLocks noChangeShapeType="1"/>
            <a:endCxn id="9" idx="0"/>
          </p:cNvCxnSpPr>
          <p:nvPr/>
        </p:nvCxnSpPr>
        <p:spPr bwMode="auto">
          <a:xfrm rot="16200000" flipH="1">
            <a:off x="1313638" y="2006842"/>
            <a:ext cx="792088" cy="612068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cxnSp>
        <p:nvCxnSpPr>
          <p:cNvPr id="18" name="Tvar 61"/>
          <p:cNvCxnSpPr>
            <a:cxnSpLocks noChangeShapeType="1"/>
          </p:cNvCxnSpPr>
          <p:nvPr/>
        </p:nvCxnSpPr>
        <p:spPr bwMode="auto">
          <a:xfrm flipV="1">
            <a:off x="1115616" y="2924945"/>
            <a:ext cx="803844" cy="216023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cxnSp>
        <p:nvCxnSpPr>
          <p:cNvPr id="35" name="Tvar 61"/>
          <p:cNvCxnSpPr>
            <a:cxnSpLocks noChangeShapeType="1"/>
            <a:stCxn id="6" idx="3"/>
            <a:endCxn id="64" idx="1"/>
          </p:cNvCxnSpPr>
          <p:nvPr/>
        </p:nvCxnSpPr>
        <p:spPr bwMode="auto">
          <a:xfrm flipV="1">
            <a:off x="3347864" y="2786197"/>
            <a:ext cx="865241" cy="426779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grpSp>
        <p:nvGrpSpPr>
          <p:cNvPr id="4" name="Group 103"/>
          <p:cNvGrpSpPr>
            <a:grpSpLocks/>
          </p:cNvGrpSpPr>
          <p:nvPr/>
        </p:nvGrpSpPr>
        <p:grpSpPr bwMode="auto">
          <a:xfrm>
            <a:off x="2339752" y="4005064"/>
            <a:ext cx="2808312" cy="648071"/>
            <a:chOff x="181" y="2619"/>
            <a:chExt cx="943" cy="943"/>
          </a:xfrm>
        </p:grpSpPr>
        <p:grpSp>
          <p:nvGrpSpPr>
            <p:cNvPr id="7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41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2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43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0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sp>
        <p:nvSpPr>
          <p:cNvPr id="44" name="TextovéPole 41"/>
          <p:cNvSpPr txBox="1">
            <a:spLocks noChangeArrowheads="1"/>
          </p:cNvSpPr>
          <p:nvPr/>
        </p:nvSpPr>
        <p:spPr bwMode="auto">
          <a:xfrm>
            <a:off x="2699792" y="4221088"/>
            <a:ext cx="20882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5" name="Přímá spojovací šipka 44"/>
          <p:cNvCxnSpPr/>
          <p:nvPr/>
        </p:nvCxnSpPr>
        <p:spPr bwMode="auto">
          <a:xfrm>
            <a:off x="2483768" y="3429000"/>
            <a:ext cx="0" cy="64807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69" name="Text Box 195"/>
          <p:cNvSpPr txBox="1">
            <a:spLocks noChangeArrowheads="1"/>
          </p:cNvSpPr>
          <p:nvPr/>
        </p:nvSpPr>
        <p:spPr bwMode="auto">
          <a:xfrm>
            <a:off x="4355976" y="2780928"/>
            <a:ext cx="1296144" cy="432048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txBody>
          <a:bodyPr lIns="83210" tIns="41605" rIns="83210" bIns="41605" anchor="ctr"/>
          <a:lstStyle/>
          <a:p>
            <a:pPr algn="ctr"/>
            <a:r>
              <a:rPr lang="cs-CZ" sz="1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B</a:t>
            </a:r>
            <a:endParaRPr lang="cs-CZ" sz="18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8" name="Group 259"/>
          <p:cNvGrpSpPr>
            <a:grpSpLocks/>
          </p:cNvGrpSpPr>
          <p:nvPr/>
        </p:nvGrpSpPr>
        <p:grpSpPr bwMode="auto">
          <a:xfrm>
            <a:off x="4211960" y="2564904"/>
            <a:ext cx="216024" cy="432047"/>
            <a:chOff x="181" y="2619"/>
            <a:chExt cx="943" cy="943"/>
          </a:xfrm>
        </p:grpSpPr>
        <p:grpSp>
          <p:nvGrpSpPr>
            <p:cNvPr id="17" name="Group 26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64" name="Rectangle 26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65" name="Oval 26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66" name="Freeform 26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63" name="Oval 26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70" name="Přímá spojovací šipka 69"/>
          <p:cNvCxnSpPr/>
          <p:nvPr/>
        </p:nvCxnSpPr>
        <p:spPr bwMode="auto">
          <a:xfrm>
            <a:off x="4572000" y="3212976"/>
            <a:ext cx="0" cy="792088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sp>
        <p:nvSpPr>
          <p:cNvPr id="75" name="Text Box 195"/>
          <p:cNvSpPr txBox="1">
            <a:spLocks noChangeArrowheads="1"/>
          </p:cNvSpPr>
          <p:nvPr/>
        </p:nvSpPr>
        <p:spPr bwMode="auto">
          <a:xfrm>
            <a:off x="6732240" y="3140968"/>
            <a:ext cx="1296144" cy="432048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txBody>
          <a:bodyPr lIns="83210" tIns="41605" rIns="83210" bIns="41605" anchor="ctr"/>
          <a:lstStyle/>
          <a:p>
            <a:pPr algn="ctr"/>
            <a:r>
              <a:rPr lang="cs-CZ" sz="1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C</a:t>
            </a:r>
            <a:endParaRPr lang="cs-CZ" sz="18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9" name="Group 259"/>
          <p:cNvGrpSpPr>
            <a:grpSpLocks/>
          </p:cNvGrpSpPr>
          <p:nvPr/>
        </p:nvGrpSpPr>
        <p:grpSpPr bwMode="auto">
          <a:xfrm>
            <a:off x="6588224" y="2924944"/>
            <a:ext cx="216024" cy="432047"/>
            <a:chOff x="181" y="2619"/>
            <a:chExt cx="943" cy="943"/>
          </a:xfrm>
        </p:grpSpPr>
        <p:grpSp>
          <p:nvGrpSpPr>
            <p:cNvPr id="20" name="Group 26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79" name="Rectangle 26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80" name="Oval 26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81" name="Freeform 26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78" name="Oval 26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82" name="Tvar 61"/>
          <p:cNvCxnSpPr>
            <a:cxnSpLocks noChangeShapeType="1"/>
            <a:stCxn id="69" idx="3"/>
            <a:endCxn id="79" idx="1"/>
          </p:cNvCxnSpPr>
          <p:nvPr/>
        </p:nvCxnSpPr>
        <p:spPr bwMode="auto">
          <a:xfrm>
            <a:off x="5652120" y="2996952"/>
            <a:ext cx="937249" cy="149285"/>
          </a:xfrm>
          <a:prstGeom prst="curvedConnector3">
            <a:avLst>
              <a:gd name="adj1" fmla="val 50000"/>
            </a:avLst>
          </a:prstGeom>
          <a:noFill/>
          <a:ln w="25400" algn="ctr">
            <a:solidFill>
              <a:srgbClr val="0000FF"/>
            </a:solidFill>
            <a:prstDash val="dash"/>
            <a:round/>
            <a:headEnd/>
            <a:tailEnd type="triangle" w="lg" len="med"/>
          </a:ln>
        </p:spPr>
      </p:cxnSp>
      <p:sp>
        <p:nvSpPr>
          <p:cNvPr id="46" name="Zaoblený obdélník 45"/>
          <p:cNvSpPr/>
          <p:nvPr/>
        </p:nvSpPr>
        <p:spPr bwMode="auto">
          <a:xfrm>
            <a:off x="1475656" y="2204864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Zpráva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7" name="Zaoblený obdélník 46"/>
          <p:cNvSpPr/>
          <p:nvPr/>
        </p:nvSpPr>
        <p:spPr bwMode="auto">
          <a:xfrm>
            <a:off x="3419872" y="2852936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Zpráva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8" name="Zaoblený obdélník 47"/>
          <p:cNvSpPr/>
          <p:nvPr/>
        </p:nvSpPr>
        <p:spPr bwMode="auto">
          <a:xfrm>
            <a:off x="5796136" y="2924944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Zpráva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49" name="Přímá spojovací čára 48"/>
          <p:cNvCxnSpPr>
            <a:endCxn id="46" idx="3"/>
          </p:cNvCxnSpPr>
          <p:nvPr/>
        </p:nvCxnSpPr>
        <p:spPr bwMode="auto">
          <a:xfrm flipH="1">
            <a:off x="2123728" y="2060848"/>
            <a:ext cx="1584176" cy="28022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Přímá spojovací čára 51"/>
          <p:cNvCxnSpPr>
            <a:endCxn id="47" idx="0"/>
          </p:cNvCxnSpPr>
          <p:nvPr/>
        </p:nvCxnSpPr>
        <p:spPr bwMode="auto">
          <a:xfrm flipH="1">
            <a:off x="3743908" y="2132856"/>
            <a:ext cx="252028" cy="72008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Přímá spojovací čára 54"/>
          <p:cNvCxnSpPr>
            <a:endCxn id="48" idx="0"/>
          </p:cNvCxnSpPr>
          <p:nvPr/>
        </p:nvCxnSpPr>
        <p:spPr bwMode="auto">
          <a:xfrm>
            <a:off x="4355976" y="2132856"/>
            <a:ext cx="1764196" cy="79208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TextovéPole 59"/>
          <p:cNvSpPr txBox="1"/>
          <p:nvPr/>
        </p:nvSpPr>
        <p:spPr>
          <a:xfrm>
            <a:off x="3707904" y="1772816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XML </a:t>
            </a:r>
            <a:r>
              <a:rPr lang="cs-CZ" sz="20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(JSON)</a:t>
            </a:r>
            <a:endParaRPr lang="cs-CZ" sz="20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XML zpráva  - </a:t>
            </a: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schema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49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Zaoblený obdélník 47"/>
          <p:cNvSpPr/>
          <p:nvPr/>
        </p:nvSpPr>
        <p:spPr bwMode="auto">
          <a:xfrm>
            <a:off x="539552" y="1628800"/>
            <a:ext cx="8208912" cy="1368152"/>
          </a:xfrm>
          <a:prstGeom prst="roundRect">
            <a:avLst>
              <a:gd name="adj" fmla="val 28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</a:t>
            </a:r>
            <a:r>
              <a:rPr lang="cs-CZ" sz="1000" b="1" dirty="0" err="1" smtClean="0">
                <a:latin typeface="Consolas" pitchFamily="49" charset="0"/>
              </a:rPr>
              <a:t>NovaObjednavka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Cislo</a:t>
            </a:r>
            <a:r>
              <a:rPr lang="cs-CZ" sz="1000" b="1" dirty="0" smtClean="0">
                <a:latin typeface="Consolas" pitchFamily="49" charset="0"/>
              </a:rPr>
              <a:t>="00123"&gt;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Zakaznik</a:t>
            </a:r>
            <a:r>
              <a:rPr lang="cs-CZ" sz="1000" b="1" dirty="0" smtClean="0">
                <a:latin typeface="Consolas" pitchFamily="49" charset="0"/>
              </a:rPr>
              <a:t> Jmeno="Jan Novák"&gt;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AdresaFakturace</a:t>
            </a:r>
            <a:r>
              <a:rPr lang="cs-CZ" sz="1000" b="1" dirty="0" smtClean="0">
                <a:latin typeface="Consolas" pitchFamily="49" charset="0"/>
              </a:rPr>
              <a:t> Dum="12" Ulice="Malá" Obec="Velká" PSC="44310"/&gt;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AdresaDodani</a:t>
            </a:r>
            <a:r>
              <a:rPr lang="cs-CZ" sz="1000" b="1" dirty="0" smtClean="0">
                <a:latin typeface="Consolas" pitchFamily="49" charset="0"/>
              </a:rPr>
              <a:t> Dum="45" Ulice="Krátká" Obec="Velká" PSC="44320"/&gt; 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&lt;/</a:t>
            </a:r>
            <a:r>
              <a:rPr lang="cs-CZ" sz="1000" b="1" dirty="0" err="1" smtClean="0">
                <a:latin typeface="Consolas" pitchFamily="49" charset="0"/>
              </a:rPr>
              <a:t>Zakaznik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Zbozi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Cislo</a:t>
            </a:r>
            <a:r>
              <a:rPr lang="cs-CZ" sz="1000" b="1" dirty="0" smtClean="0">
                <a:latin typeface="Consolas" pitchFamily="49" charset="0"/>
              </a:rPr>
              <a:t>="098765" </a:t>
            </a:r>
            <a:r>
              <a:rPr lang="cs-CZ" sz="1000" b="1" dirty="0" err="1" smtClean="0">
                <a:latin typeface="Consolas" pitchFamily="49" charset="0"/>
              </a:rPr>
              <a:t>Pocet</a:t>
            </a:r>
            <a:r>
              <a:rPr lang="cs-CZ" sz="1000" b="1" dirty="0" smtClean="0">
                <a:latin typeface="Consolas" pitchFamily="49" charset="0"/>
              </a:rPr>
              <a:t>="1"/&gt;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Zbozi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Cislo</a:t>
            </a:r>
            <a:r>
              <a:rPr lang="cs-CZ" sz="1000" b="1" dirty="0" smtClean="0">
                <a:latin typeface="Consolas" pitchFamily="49" charset="0"/>
              </a:rPr>
              <a:t>="065432" </a:t>
            </a:r>
            <a:r>
              <a:rPr lang="cs-CZ" sz="1000" b="1" dirty="0" err="1" smtClean="0">
                <a:latin typeface="Consolas" pitchFamily="49" charset="0"/>
              </a:rPr>
              <a:t>Pocet</a:t>
            </a:r>
            <a:r>
              <a:rPr lang="cs-CZ" sz="1000" b="1" dirty="0" smtClean="0">
                <a:latin typeface="Consolas" pitchFamily="49" charset="0"/>
              </a:rPr>
              <a:t>="3"/&gt;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&lt;/</a:t>
            </a:r>
            <a:r>
              <a:rPr lang="cs-CZ" sz="1000" b="1" dirty="0" err="1" smtClean="0">
                <a:latin typeface="Consolas" pitchFamily="49" charset="0"/>
              </a:rPr>
              <a:t>NovaObjednavka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1000" b="1" dirty="0">
              <a:latin typeface="Consolas" pitchFamily="49" charset="0"/>
            </a:endParaRPr>
          </a:p>
        </p:txBody>
      </p:sp>
      <p:sp>
        <p:nvSpPr>
          <p:cNvPr id="49" name="Zaoblený obdélník 48"/>
          <p:cNvSpPr/>
          <p:nvPr/>
        </p:nvSpPr>
        <p:spPr bwMode="auto">
          <a:xfrm>
            <a:off x="539552" y="3429000"/>
            <a:ext cx="8208912" cy="2736304"/>
          </a:xfrm>
          <a:prstGeom prst="roundRect">
            <a:avLst>
              <a:gd name="adj" fmla="val 2814"/>
            </a:avLst>
          </a:prstGeom>
          <a:solidFill>
            <a:srgbClr val="BEFFFF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NovaObjednavka</a:t>
            </a:r>
            <a:r>
              <a:rPr lang="cs-CZ" sz="10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sequence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Zakaznik</a:t>
            </a:r>
            <a:r>
              <a:rPr lang="cs-CZ" sz="10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sequence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AdresaFakturace</a:t>
            </a:r>
            <a:r>
              <a:rPr lang="cs-CZ" sz="1000" b="1" dirty="0" smtClean="0">
                <a:latin typeface="Consolas" pitchFamily="49" charset="0"/>
              </a:rPr>
              <a:t>" type="Adresa"/&gt;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AdresaDodani</a:t>
            </a:r>
            <a:r>
              <a:rPr lang="cs-CZ" sz="1000" b="1" dirty="0" smtClean="0">
                <a:latin typeface="Consolas" pitchFamily="49" charset="0"/>
              </a:rPr>
              <a:t> type="Adresa" </a:t>
            </a:r>
            <a:r>
              <a:rPr lang="cs-CZ" sz="1000" b="1" dirty="0" err="1" smtClean="0">
                <a:latin typeface="Consolas" pitchFamily="49" charset="0"/>
              </a:rPr>
              <a:t>minOccurs</a:t>
            </a:r>
            <a:r>
              <a:rPr lang="cs-CZ" sz="1000" b="1" dirty="0" smtClean="0">
                <a:latin typeface="Consolas" pitchFamily="49" charset="0"/>
              </a:rPr>
              <a:t>="0" </a:t>
            </a:r>
            <a:r>
              <a:rPr lang="cs-CZ" sz="1000" b="1" dirty="0" err="1" smtClean="0">
                <a:latin typeface="Consolas" pitchFamily="49" charset="0"/>
              </a:rPr>
              <a:t>maxOccurs</a:t>
            </a:r>
            <a:r>
              <a:rPr lang="cs-CZ" sz="1000" b="1" dirty="0" smtClean="0">
                <a:latin typeface="Consolas" pitchFamily="49" charset="0"/>
              </a:rPr>
              <a:t>="1"/&gt;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sequence</a:t>
            </a:r>
            <a:r>
              <a:rPr lang="cs-CZ" sz="1000" b="1" dirty="0" smtClean="0">
                <a:latin typeface="Consolas" pitchFamily="49" charset="0"/>
              </a:rPr>
              <a:t>&gt;   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attribute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="Jmeno" type="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:string" use="required"/&gt;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:element&gt;    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Zbozi</a:t>
            </a:r>
            <a:r>
              <a:rPr lang="cs-CZ" sz="1000" b="1" dirty="0" smtClean="0">
                <a:latin typeface="Consolas" pitchFamily="49" charset="0"/>
              </a:rPr>
              <a:t>" </a:t>
            </a:r>
            <a:r>
              <a:rPr lang="cs-CZ" sz="1000" b="1" dirty="0" err="1" smtClean="0">
                <a:latin typeface="Consolas" pitchFamily="49" charset="0"/>
              </a:rPr>
              <a:t>minOccurs</a:t>
            </a:r>
            <a:r>
              <a:rPr lang="cs-CZ" sz="1000" b="1" dirty="0" smtClean="0">
                <a:latin typeface="Consolas" pitchFamily="49" charset="0"/>
              </a:rPr>
              <a:t>="1" </a:t>
            </a:r>
            <a:r>
              <a:rPr lang="cs-CZ" sz="1000" b="1" dirty="0" err="1" smtClean="0">
                <a:latin typeface="Consolas" pitchFamily="49" charset="0"/>
              </a:rPr>
              <a:t>maxOccurs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unbounded</a:t>
            </a:r>
            <a:r>
              <a:rPr lang="cs-CZ" sz="10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attribute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Cislo</a:t>
            </a:r>
            <a:r>
              <a:rPr lang="cs-CZ" sz="1000" b="1" dirty="0" smtClean="0">
                <a:latin typeface="Consolas" pitchFamily="49" charset="0"/>
              </a:rPr>
              <a:t>" type="\d{6}" use="required"/&gt;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attribute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Pocet</a:t>
            </a:r>
            <a:r>
              <a:rPr lang="cs-CZ" sz="1000" b="1" dirty="0" smtClean="0">
                <a:latin typeface="Consolas" pitchFamily="49" charset="0"/>
              </a:rPr>
              <a:t>" type="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decimal</a:t>
            </a:r>
            <a:r>
              <a:rPr lang="cs-CZ" sz="1000" b="1" dirty="0" smtClean="0">
                <a:latin typeface="Consolas" pitchFamily="49" charset="0"/>
              </a:rPr>
              <a:t>" use="required"/&gt;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      :</a:t>
            </a:r>
          </a:p>
          <a:p>
            <a:pPr>
              <a:defRPr/>
            </a:pPr>
            <a:endParaRPr lang="cs-CZ" sz="1000" b="1" dirty="0">
              <a:latin typeface="Consolas" pitchFamily="49" charset="0"/>
            </a:endParaRPr>
          </a:p>
        </p:txBody>
      </p:sp>
      <p:sp>
        <p:nvSpPr>
          <p:cNvPr id="50" name="TextovéPole 49"/>
          <p:cNvSpPr txBox="1"/>
          <p:nvPr/>
        </p:nvSpPr>
        <p:spPr>
          <a:xfrm>
            <a:off x="611560" y="2996952"/>
            <a:ext cx="338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err="1" smtClean="0">
                <a:latin typeface="Calibri" pitchFamily="34" charset="0"/>
                <a:cs typeface="Calibri" pitchFamily="34" charset="0"/>
              </a:rPr>
              <a:t>schema</a:t>
            </a:r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 pro popis zpráv</a:t>
            </a:r>
            <a:endParaRPr lang="cs-CZ" sz="20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XML </a:t>
            </a: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schema</a:t>
            </a: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 popisující zprávu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50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Zaoblený obdélník 48"/>
          <p:cNvSpPr/>
          <p:nvPr/>
        </p:nvSpPr>
        <p:spPr bwMode="auto">
          <a:xfrm>
            <a:off x="539552" y="1628800"/>
            <a:ext cx="8208912" cy="4536504"/>
          </a:xfrm>
          <a:prstGeom prst="roundRect">
            <a:avLst>
              <a:gd name="adj" fmla="val 2814"/>
            </a:avLst>
          </a:prstGeom>
          <a:solidFill>
            <a:srgbClr val="BEFFFF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NovaObjednavka</a:t>
            </a:r>
            <a:r>
              <a:rPr lang="cs-CZ" sz="10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sequence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Zakaznik</a:t>
            </a:r>
            <a:r>
              <a:rPr lang="cs-CZ" sz="10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sequence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AdresaFakturace</a:t>
            </a:r>
            <a:r>
              <a:rPr lang="cs-CZ" sz="1000" b="1" dirty="0" smtClean="0">
                <a:latin typeface="Consolas" pitchFamily="49" charset="0"/>
              </a:rPr>
              <a:t>" type="Adresa"/&gt;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AdresaDodani</a:t>
            </a:r>
            <a:r>
              <a:rPr lang="cs-CZ" sz="1000" b="1" dirty="0" smtClean="0">
                <a:latin typeface="Consolas" pitchFamily="49" charset="0"/>
              </a:rPr>
              <a:t> type="Adresa" </a:t>
            </a:r>
            <a:r>
              <a:rPr lang="cs-CZ" sz="1000" b="1" dirty="0" err="1" smtClean="0">
                <a:latin typeface="Consolas" pitchFamily="49" charset="0"/>
              </a:rPr>
              <a:t>minOccurs</a:t>
            </a:r>
            <a:r>
              <a:rPr lang="cs-CZ" sz="1000" b="1" dirty="0" smtClean="0">
                <a:latin typeface="Consolas" pitchFamily="49" charset="0"/>
              </a:rPr>
              <a:t>="0" </a:t>
            </a:r>
            <a:r>
              <a:rPr lang="cs-CZ" sz="1000" b="1" dirty="0" err="1" smtClean="0">
                <a:latin typeface="Consolas" pitchFamily="49" charset="0"/>
              </a:rPr>
              <a:t>maxOccurs</a:t>
            </a:r>
            <a:r>
              <a:rPr lang="cs-CZ" sz="1000" b="1" dirty="0" smtClean="0">
                <a:latin typeface="Consolas" pitchFamily="49" charset="0"/>
              </a:rPr>
              <a:t>="1"/&gt;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sequence</a:t>
            </a:r>
            <a:r>
              <a:rPr lang="cs-CZ" sz="1000" b="1" dirty="0" smtClean="0">
                <a:latin typeface="Consolas" pitchFamily="49" charset="0"/>
              </a:rPr>
              <a:t>&gt;   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attribute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="Jmeno" type="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:string" use="required"/&gt;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:element&gt;    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Zbozi</a:t>
            </a:r>
            <a:r>
              <a:rPr lang="cs-CZ" sz="1000" b="1" dirty="0" smtClean="0">
                <a:latin typeface="Consolas" pitchFamily="49" charset="0"/>
              </a:rPr>
              <a:t>" </a:t>
            </a:r>
            <a:r>
              <a:rPr lang="cs-CZ" sz="1000" b="1" dirty="0" err="1" smtClean="0">
                <a:latin typeface="Consolas" pitchFamily="49" charset="0"/>
              </a:rPr>
              <a:t>minOccurs</a:t>
            </a:r>
            <a:r>
              <a:rPr lang="cs-CZ" sz="1000" b="1" dirty="0" smtClean="0">
                <a:latin typeface="Consolas" pitchFamily="49" charset="0"/>
              </a:rPr>
              <a:t>="1" </a:t>
            </a:r>
            <a:r>
              <a:rPr lang="cs-CZ" sz="1000" b="1" dirty="0" err="1" smtClean="0">
                <a:latin typeface="Consolas" pitchFamily="49" charset="0"/>
              </a:rPr>
              <a:t>maxOccurs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unbounded</a:t>
            </a:r>
            <a:r>
              <a:rPr lang="cs-CZ" sz="10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attribute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Cislo</a:t>
            </a:r>
            <a:r>
              <a:rPr lang="cs-CZ" sz="1000" b="1" dirty="0" smtClean="0">
                <a:latin typeface="Consolas" pitchFamily="49" charset="0"/>
              </a:rPr>
              <a:t>" type="\d{6}" use="required"/&gt;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attribute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latin typeface="Consolas" pitchFamily="49" charset="0"/>
              </a:rPr>
              <a:t>Pocet</a:t>
            </a:r>
            <a:r>
              <a:rPr lang="cs-CZ" sz="1000" b="1" dirty="0" smtClean="0">
                <a:latin typeface="Consolas" pitchFamily="49" charset="0"/>
              </a:rPr>
              <a:t>" type="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decimal</a:t>
            </a:r>
            <a:r>
              <a:rPr lang="cs-CZ" sz="1000" b="1" dirty="0" smtClean="0">
                <a:latin typeface="Consolas" pitchFamily="49" charset="0"/>
              </a:rPr>
              <a:t>" use="required"/&gt;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  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  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sequence</a:t>
            </a:r>
            <a:r>
              <a:rPr lang="cs-CZ" sz="1000" b="1" dirty="0" smtClean="0">
                <a:latin typeface="Consolas" pitchFamily="49" charset="0"/>
              </a:rPr>
              <a:t>&gt; 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="Adresa"&gt;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attribute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="Dum" type="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:string" use="required"/&gt;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attribute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="Ulice" type="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:string"/&gt;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attribute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="Obec" type="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:string" use="required"/&gt;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attribute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name</a:t>
            </a:r>
            <a:r>
              <a:rPr lang="cs-CZ" sz="1000" b="1" dirty="0" smtClean="0">
                <a:latin typeface="Consolas" pitchFamily="49" charset="0"/>
              </a:rPr>
              <a:t>="PSC" type=""\d{6}" use="required" use="required"/&gt;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</a:t>
            </a:r>
            <a:r>
              <a:rPr lang="cs-CZ" sz="1000" b="1" dirty="0" err="1" smtClean="0">
                <a:latin typeface="Consolas" pitchFamily="49" charset="0"/>
              </a:rPr>
              <a:t>complexType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&lt;/</a:t>
            </a:r>
            <a:r>
              <a:rPr lang="cs-CZ" sz="1000" b="1" dirty="0" err="1" smtClean="0">
                <a:latin typeface="Consolas" pitchFamily="49" charset="0"/>
              </a:rPr>
              <a:t>xs</a:t>
            </a:r>
            <a:r>
              <a:rPr lang="cs-CZ" sz="1000" b="1" dirty="0" smtClean="0">
                <a:latin typeface="Consolas" pitchFamily="49" charset="0"/>
              </a:rPr>
              <a:t>:element&gt;</a:t>
            </a:r>
          </a:p>
          <a:p>
            <a:pPr>
              <a:defRPr/>
            </a:pPr>
            <a:endParaRPr lang="cs-CZ" sz="1000" b="1" dirty="0"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XML zpráva a její X-definice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51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Zaoblený obdélník 47"/>
          <p:cNvSpPr/>
          <p:nvPr/>
        </p:nvSpPr>
        <p:spPr bwMode="auto">
          <a:xfrm>
            <a:off x="539552" y="1772816"/>
            <a:ext cx="8208912" cy="1368152"/>
          </a:xfrm>
          <a:prstGeom prst="roundRect">
            <a:avLst>
              <a:gd name="adj" fmla="val 2814"/>
            </a:avLst>
          </a:prstGeom>
          <a:solidFill>
            <a:srgbClr val="FFFFCC"/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</a:t>
            </a:r>
            <a:r>
              <a:rPr lang="cs-CZ" sz="1000" b="1" dirty="0" err="1" smtClean="0">
                <a:latin typeface="Consolas" pitchFamily="49" charset="0"/>
              </a:rPr>
              <a:t>NovaObjednavka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Cislo</a:t>
            </a:r>
            <a:r>
              <a:rPr lang="cs-CZ" sz="1000" b="1" dirty="0" smtClean="0">
                <a:latin typeface="Consolas" pitchFamily="49" charset="0"/>
              </a:rPr>
              <a:t>="00123"&gt;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Zakaznik</a:t>
            </a:r>
            <a:r>
              <a:rPr lang="cs-CZ" sz="1000" b="1" dirty="0" smtClean="0">
                <a:latin typeface="Consolas" pitchFamily="49" charset="0"/>
              </a:rPr>
              <a:t> Jmeno="Jan Novák"&gt;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AdresaFakturace</a:t>
            </a:r>
            <a:r>
              <a:rPr lang="cs-CZ" sz="1000" b="1" dirty="0" smtClean="0">
                <a:latin typeface="Consolas" pitchFamily="49" charset="0"/>
              </a:rPr>
              <a:t> Dum="12" Ulice="Malá" Obec="Velká" PSC="44310"/&gt;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AdresaDodani</a:t>
            </a:r>
            <a:r>
              <a:rPr lang="cs-CZ" sz="1000" b="1" dirty="0" smtClean="0">
                <a:latin typeface="Consolas" pitchFamily="49" charset="0"/>
              </a:rPr>
              <a:t> Dum="45" Ulice="Krátká" Obec="Velká" PSC="44320"/&gt; 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&lt;/</a:t>
            </a:r>
            <a:r>
              <a:rPr lang="cs-CZ" sz="1000" b="1" dirty="0" err="1" smtClean="0">
                <a:latin typeface="Consolas" pitchFamily="49" charset="0"/>
              </a:rPr>
              <a:t>Zakaznik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Zbozi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Cislo</a:t>
            </a:r>
            <a:r>
              <a:rPr lang="cs-CZ" sz="1000" b="1" dirty="0" smtClean="0">
                <a:latin typeface="Consolas" pitchFamily="49" charset="0"/>
              </a:rPr>
              <a:t>="098765" </a:t>
            </a:r>
            <a:r>
              <a:rPr lang="cs-CZ" sz="1000" b="1" dirty="0" err="1" smtClean="0">
                <a:latin typeface="Consolas" pitchFamily="49" charset="0"/>
              </a:rPr>
              <a:t>Pocet</a:t>
            </a:r>
            <a:r>
              <a:rPr lang="cs-CZ" sz="1000" b="1" dirty="0" smtClean="0">
                <a:latin typeface="Consolas" pitchFamily="49" charset="0"/>
              </a:rPr>
              <a:t>="1"/&gt;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Zbozi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Cislo</a:t>
            </a:r>
            <a:r>
              <a:rPr lang="cs-CZ" sz="1000" b="1" dirty="0" smtClean="0">
                <a:latin typeface="Consolas" pitchFamily="49" charset="0"/>
              </a:rPr>
              <a:t>="065432" </a:t>
            </a:r>
            <a:r>
              <a:rPr lang="cs-CZ" sz="1000" b="1" dirty="0" err="1" smtClean="0">
                <a:latin typeface="Consolas" pitchFamily="49" charset="0"/>
              </a:rPr>
              <a:t>Pocet</a:t>
            </a:r>
            <a:r>
              <a:rPr lang="cs-CZ" sz="1000" b="1" dirty="0" smtClean="0">
                <a:latin typeface="Consolas" pitchFamily="49" charset="0"/>
              </a:rPr>
              <a:t>="3"/&gt;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&lt;/</a:t>
            </a:r>
            <a:r>
              <a:rPr lang="cs-CZ" sz="1000" b="1" dirty="0" err="1" smtClean="0">
                <a:latin typeface="Consolas" pitchFamily="49" charset="0"/>
              </a:rPr>
              <a:t>NovaObjednavka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1000" b="1" dirty="0">
              <a:latin typeface="Consolas" pitchFamily="49" charset="0"/>
            </a:endParaRPr>
          </a:p>
        </p:txBody>
      </p:sp>
      <p:sp>
        <p:nvSpPr>
          <p:cNvPr id="49" name="Zaoblený obdélník 48"/>
          <p:cNvSpPr/>
          <p:nvPr/>
        </p:nvSpPr>
        <p:spPr bwMode="auto">
          <a:xfrm>
            <a:off x="539552" y="4221088"/>
            <a:ext cx="8208912" cy="1224136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158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t"/>
          <a:lstStyle/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</a:t>
            </a:r>
            <a:r>
              <a:rPr lang="cs-CZ" sz="1000" b="1" dirty="0" err="1" smtClean="0">
                <a:latin typeface="Consolas" pitchFamily="49" charset="0"/>
              </a:rPr>
              <a:t>NovaObjednavka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latin typeface="Consolas" pitchFamily="49" charset="0"/>
              </a:rPr>
              <a:t>Cislo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()</a:t>
            </a:r>
            <a:r>
              <a:rPr lang="cs-CZ" sz="10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Zakaznik</a:t>
            </a:r>
            <a:r>
              <a:rPr lang="cs-CZ" sz="1000" b="1" dirty="0" smtClean="0">
                <a:latin typeface="Consolas" pitchFamily="49" charset="0"/>
              </a:rPr>
              <a:t> Jmeno="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string()</a:t>
            </a:r>
            <a:r>
              <a:rPr lang="cs-CZ" sz="1000" b="1" dirty="0" smtClean="0">
                <a:latin typeface="Consolas" pitchFamily="49" charset="0"/>
              </a:rPr>
              <a:t>"&gt;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AdresaFakturace</a:t>
            </a:r>
            <a:r>
              <a:rPr lang="cs-CZ" sz="1000" b="1" dirty="0" smtClean="0">
                <a:latin typeface="Consolas" pitchFamily="49" charset="0"/>
              </a:rPr>
              <a:t> Dum="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string()</a:t>
            </a:r>
            <a:r>
              <a:rPr lang="cs-CZ" sz="1000" b="1" dirty="0" smtClean="0">
                <a:latin typeface="Consolas" pitchFamily="49" charset="0"/>
              </a:rPr>
              <a:t>" Ulice="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?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string()</a:t>
            </a:r>
            <a:r>
              <a:rPr lang="cs-CZ" sz="1000" b="1" dirty="0" smtClean="0">
                <a:latin typeface="Consolas" pitchFamily="49" charset="0"/>
              </a:rPr>
              <a:t>" Obec="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string()</a:t>
            </a:r>
            <a:r>
              <a:rPr lang="cs-CZ" sz="1000" b="1" dirty="0" smtClean="0">
                <a:latin typeface="Consolas" pitchFamily="49" charset="0"/>
              </a:rPr>
              <a:t>" PSC="</a:t>
            </a:r>
            <a:r>
              <a:rPr lang="cs-CZ" sz="1000" b="1" dirty="0" err="1" smtClean="0">
                <a:solidFill>
                  <a:srgbClr val="0000FF"/>
                </a:solidFill>
                <a:latin typeface="Consolas" pitchFamily="49" charset="0"/>
              </a:rPr>
              <a:t>num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(5)</a:t>
            </a:r>
            <a:r>
              <a:rPr lang="cs-CZ" sz="1000" b="1" dirty="0" smtClean="0">
                <a:latin typeface="Consolas" pitchFamily="49" charset="0"/>
              </a:rPr>
              <a:t>"/&gt;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  &lt;</a:t>
            </a:r>
            <a:r>
              <a:rPr lang="cs-CZ" sz="1000" b="1" dirty="0" err="1" smtClean="0">
                <a:latin typeface="Consolas" pitchFamily="49" charset="0"/>
              </a:rPr>
              <a:t>AdresaDodani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solidFill>
                  <a:srgbClr val="CC3300"/>
                </a:solidFill>
                <a:latin typeface="Consolas" pitchFamily="49" charset="0"/>
              </a:rPr>
              <a:t>xd</a:t>
            </a:r>
            <a:r>
              <a:rPr lang="cs-CZ" sz="1000" b="1" dirty="0" smtClean="0">
                <a:solidFill>
                  <a:srgbClr val="CC3300"/>
                </a:solidFill>
                <a:latin typeface="Consolas" pitchFamily="49" charset="0"/>
              </a:rPr>
              <a:t>:</a:t>
            </a:r>
            <a:r>
              <a:rPr lang="cs-CZ" sz="1000" b="1" dirty="0" err="1" smtClean="0">
                <a:solidFill>
                  <a:srgbClr val="CC3300"/>
                </a:solidFill>
                <a:latin typeface="Consolas" pitchFamily="49" charset="0"/>
              </a:rPr>
              <a:t>script</a:t>
            </a:r>
            <a:r>
              <a:rPr lang="cs-CZ" sz="1000" b="1" dirty="0" smtClean="0">
                <a:solidFill>
                  <a:srgbClr val="CC3300"/>
                </a:solidFill>
                <a:latin typeface="Consolas" pitchFamily="49" charset="0"/>
              </a:rPr>
              <a:t>="0..1</a:t>
            </a:r>
            <a:r>
              <a:rPr lang="cs-CZ" sz="1000" b="1" dirty="0" smtClean="0">
                <a:latin typeface="Consolas" pitchFamily="49" charset="0"/>
              </a:rPr>
              <a:t>" Dum="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string()</a:t>
            </a:r>
            <a:r>
              <a:rPr lang="cs-CZ" sz="1000" b="1" dirty="0" smtClean="0">
                <a:latin typeface="Consolas" pitchFamily="49" charset="0"/>
              </a:rPr>
              <a:t>" Ulice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="? string()</a:t>
            </a:r>
            <a:r>
              <a:rPr lang="cs-CZ" sz="1000" b="1" dirty="0" smtClean="0">
                <a:latin typeface="Consolas" pitchFamily="49" charset="0"/>
              </a:rPr>
              <a:t>" Obec="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string()</a:t>
            </a:r>
            <a:r>
              <a:rPr lang="cs-CZ" sz="1000" b="1" dirty="0" smtClean="0">
                <a:latin typeface="Consolas" pitchFamily="49" charset="0"/>
              </a:rPr>
              <a:t>" PSC="</a:t>
            </a:r>
            <a:r>
              <a:rPr lang="cs-CZ" sz="1000" b="1" dirty="0" err="1" smtClean="0">
                <a:solidFill>
                  <a:srgbClr val="0000FF"/>
                </a:solidFill>
                <a:latin typeface="Consolas" pitchFamily="49" charset="0"/>
              </a:rPr>
              <a:t>num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(5)</a:t>
            </a:r>
            <a:r>
              <a:rPr lang="cs-CZ" sz="1000" b="1" dirty="0" smtClean="0">
                <a:latin typeface="Consolas" pitchFamily="49" charset="0"/>
              </a:rPr>
              <a:t>"/&gt;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&lt;/</a:t>
            </a:r>
            <a:r>
              <a:rPr lang="cs-CZ" sz="1000" b="1" dirty="0" err="1" smtClean="0">
                <a:latin typeface="Consolas" pitchFamily="49" charset="0"/>
              </a:rPr>
              <a:t>Zakaznik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  &lt;</a:t>
            </a:r>
            <a:r>
              <a:rPr lang="cs-CZ" sz="1000" b="1" dirty="0" err="1" smtClean="0">
                <a:latin typeface="Consolas" pitchFamily="49" charset="0"/>
              </a:rPr>
              <a:t>Zbozi</a:t>
            </a:r>
            <a:r>
              <a:rPr lang="cs-CZ" sz="1000" b="1" dirty="0" smtClean="0">
                <a:latin typeface="Consolas" pitchFamily="49" charset="0"/>
              </a:rPr>
              <a:t> </a:t>
            </a:r>
            <a:r>
              <a:rPr lang="cs-CZ" sz="1000" b="1" dirty="0" err="1" smtClean="0">
                <a:solidFill>
                  <a:srgbClr val="CC3300"/>
                </a:solidFill>
                <a:latin typeface="Consolas" pitchFamily="49" charset="0"/>
              </a:rPr>
              <a:t>xd</a:t>
            </a:r>
            <a:r>
              <a:rPr lang="cs-CZ" sz="1000" b="1" dirty="0" smtClean="0">
                <a:solidFill>
                  <a:srgbClr val="CC3300"/>
                </a:solidFill>
                <a:latin typeface="Consolas" pitchFamily="49" charset="0"/>
              </a:rPr>
              <a:t>:</a:t>
            </a:r>
            <a:r>
              <a:rPr lang="cs-CZ" sz="1000" b="1" dirty="0" err="1" smtClean="0">
                <a:solidFill>
                  <a:srgbClr val="CC3300"/>
                </a:solidFill>
                <a:latin typeface="Consolas" pitchFamily="49" charset="0"/>
              </a:rPr>
              <a:t>script</a:t>
            </a:r>
            <a:r>
              <a:rPr lang="cs-CZ" sz="1000" b="1" dirty="0" smtClean="0">
                <a:solidFill>
                  <a:srgbClr val="CC3300"/>
                </a:solidFill>
                <a:latin typeface="Consolas" pitchFamily="49" charset="0"/>
              </a:rPr>
              <a:t>="1..</a:t>
            </a:r>
            <a:r>
              <a:rPr lang="cs-CZ" sz="1000" b="1" dirty="0" smtClean="0">
                <a:latin typeface="Consolas" pitchFamily="49" charset="0"/>
              </a:rPr>
              <a:t>" </a:t>
            </a:r>
            <a:r>
              <a:rPr lang="cs-CZ" sz="1000" b="1" dirty="0" err="1" smtClean="0">
                <a:latin typeface="Consolas" pitchFamily="49" charset="0"/>
              </a:rPr>
              <a:t>Cislo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solidFill>
                  <a:srgbClr val="0000FF"/>
                </a:solidFill>
                <a:latin typeface="Consolas" pitchFamily="49" charset="0"/>
              </a:rPr>
              <a:t>num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(6)</a:t>
            </a:r>
            <a:r>
              <a:rPr lang="cs-CZ" sz="1000" b="1" dirty="0" smtClean="0">
                <a:latin typeface="Consolas" pitchFamily="49" charset="0"/>
              </a:rPr>
              <a:t>" </a:t>
            </a:r>
            <a:r>
              <a:rPr lang="cs-CZ" sz="1000" b="1" dirty="0" err="1" smtClean="0">
                <a:latin typeface="Consolas" pitchFamily="49" charset="0"/>
              </a:rPr>
              <a:t>Pocet</a:t>
            </a:r>
            <a:r>
              <a:rPr lang="cs-CZ" sz="1000" b="1" dirty="0" smtClean="0">
                <a:latin typeface="Consolas" pitchFamily="49" charset="0"/>
              </a:rPr>
              <a:t>="</a:t>
            </a:r>
            <a:r>
              <a:rPr lang="cs-CZ" sz="1000" b="1" dirty="0" err="1" smtClean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cs-CZ" sz="1000" b="1" dirty="0" smtClean="0">
                <a:solidFill>
                  <a:srgbClr val="0000FF"/>
                </a:solidFill>
                <a:latin typeface="Consolas" pitchFamily="49" charset="0"/>
              </a:rPr>
              <a:t>(1,999)</a:t>
            </a:r>
            <a:r>
              <a:rPr lang="cs-CZ" sz="1000" b="1" dirty="0" smtClean="0">
                <a:latin typeface="Consolas" pitchFamily="49" charset="0"/>
              </a:rPr>
              <a:t>"/&gt; </a:t>
            </a:r>
          </a:p>
          <a:p>
            <a:pPr>
              <a:defRPr/>
            </a:pPr>
            <a:r>
              <a:rPr lang="cs-CZ" sz="1000" b="1" dirty="0" smtClean="0">
                <a:latin typeface="Consolas" pitchFamily="49" charset="0"/>
              </a:rPr>
              <a:t>&lt;/</a:t>
            </a:r>
            <a:r>
              <a:rPr lang="cs-CZ" sz="1000" b="1" dirty="0" err="1" smtClean="0">
                <a:latin typeface="Consolas" pitchFamily="49" charset="0"/>
              </a:rPr>
              <a:t>NovaObjednavka</a:t>
            </a:r>
            <a:r>
              <a:rPr lang="cs-CZ" sz="1000" b="1" dirty="0" smtClean="0">
                <a:latin typeface="Consolas" pitchFamily="49" charset="0"/>
              </a:rPr>
              <a:t>&gt;</a:t>
            </a:r>
          </a:p>
          <a:p>
            <a:pPr>
              <a:defRPr/>
            </a:pPr>
            <a:endParaRPr lang="cs-CZ" sz="1000" b="1" dirty="0">
              <a:latin typeface="Consolas" pitchFamily="49" charset="0"/>
            </a:endParaRPr>
          </a:p>
        </p:txBody>
      </p:sp>
      <p:sp>
        <p:nvSpPr>
          <p:cNvPr id="8" name="Obdélník 7"/>
          <p:cNvSpPr/>
          <p:nvPr/>
        </p:nvSpPr>
        <p:spPr>
          <a:xfrm>
            <a:off x="539552" y="3717032"/>
            <a:ext cx="1252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X-definice</a:t>
            </a:r>
            <a:endParaRPr lang="cs-CZ" sz="20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X-definice + X-komponenty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52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Box 195"/>
          <p:cNvSpPr txBox="1">
            <a:spLocks noChangeArrowheads="1"/>
          </p:cNvSpPr>
          <p:nvPr/>
        </p:nvSpPr>
        <p:spPr bwMode="auto">
          <a:xfrm>
            <a:off x="3131840" y="3573016"/>
            <a:ext cx="4320480" cy="1008112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txBody>
          <a:bodyPr lIns="83210" tIns="41605" rIns="83210" bIns="41605" anchor="ctr"/>
          <a:lstStyle/>
          <a:p>
            <a:pPr algn="ctr"/>
            <a:r>
              <a:rPr lang="cs-CZ" sz="1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                                    Program</a:t>
            </a:r>
            <a:endParaRPr lang="cs-CZ" sz="18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259"/>
          <p:cNvGrpSpPr>
            <a:grpSpLocks/>
          </p:cNvGrpSpPr>
          <p:nvPr/>
        </p:nvGrpSpPr>
        <p:grpSpPr bwMode="auto">
          <a:xfrm>
            <a:off x="1259632" y="4221088"/>
            <a:ext cx="288032" cy="576064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3" name="Group 26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2" name="Rectangle 26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3" name="Oval 26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4" name="Freeform 26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9" name="Oval 26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cxnSp>
        <p:nvCxnSpPr>
          <p:cNvPr id="32" name="Tvar 61"/>
          <p:cNvCxnSpPr>
            <a:cxnSpLocks noChangeShapeType="1"/>
            <a:stCxn id="72" idx="0"/>
            <a:endCxn id="73" idx="1"/>
          </p:cNvCxnSpPr>
          <p:nvPr/>
        </p:nvCxnSpPr>
        <p:spPr bwMode="auto">
          <a:xfrm rot="5400000" flipH="1" flipV="1">
            <a:off x="2605878" y="3047054"/>
            <a:ext cx="799896" cy="684076"/>
          </a:xfrm>
          <a:prstGeom prst="curvedConnector2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 type="triangle" w="lg" len="med"/>
          </a:ln>
        </p:spPr>
      </p:cxnSp>
      <p:cxnSp>
        <p:nvCxnSpPr>
          <p:cNvPr id="48" name="Přímá spojovací čára 47"/>
          <p:cNvCxnSpPr/>
          <p:nvPr/>
        </p:nvCxnSpPr>
        <p:spPr bwMode="auto">
          <a:xfrm>
            <a:off x="2123728" y="3933056"/>
            <a:ext cx="1224136" cy="0"/>
          </a:xfrm>
          <a:prstGeom prst="lin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Zaoblený obdélník 71"/>
          <p:cNvSpPr/>
          <p:nvPr/>
        </p:nvSpPr>
        <p:spPr bwMode="auto">
          <a:xfrm>
            <a:off x="2339752" y="3789040"/>
            <a:ext cx="648072" cy="27241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Zpráva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3" name="Zaoblený obdélník 72"/>
          <p:cNvSpPr/>
          <p:nvPr/>
        </p:nvSpPr>
        <p:spPr bwMode="auto">
          <a:xfrm>
            <a:off x="3347864" y="2852936"/>
            <a:ext cx="936104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X-definice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60" name="Přímá spojovací čára 59"/>
          <p:cNvCxnSpPr/>
          <p:nvPr/>
        </p:nvCxnSpPr>
        <p:spPr bwMode="auto">
          <a:xfrm>
            <a:off x="3851920" y="3140968"/>
            <a:ext cx="0" cy="576064"/>
          </a:xfrm>
          <a:prstGeom prst="lin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0" name="Zaoblený obdélník 69"/>
          <p:cNvSpPr/>
          <p:nvPr/>
        </p:nvSpPr>
        <p:spPr bwMode="auto">
          <a:xfrm>
            <a:off x="3347864" y="3717032"/>
            <a:ext cx="1145282" cy="576064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400" b="1" dirty="0" smtClean="0">
                <a:latin typeface="Calibri" pitchFamily="34" charset="0"/>
                <a:cs typeface="Calibri" pitchFamily="34" charset="0"/>
              </a:rPr>
              <a:t>Knihovna</a:t>
            </a:r>
          </a:p>
          <a:p>
            <a:pPr algn="ctr">
              <a:defRPr/>
            </a:pPr>
            <a:r>
              <a:rPr lang="cs-CZ" sz="1400" b="1" dirty="0" smtClean="0">
                <a:latin typeface="Calibri" pitchFamily="34" charset="0"/>
                <a:cs typeface="Calibri" pitchFamily="34" charset="0"/>
              </a:rPr>
              <a:t>X-definic</a:t>
            </a:r>
          </a:p>
        </p:txBody>
      </p:sp>
      <p:cxnSp>
        <p:nvCxnSpPr>
          <p:cNvPr id="79" name="Přímá spojovací čára 78"/>
          <p:cNvCxnSpPr/>
          <p:nvPr/>
        </p:nvCxnSpPr>
        <p:spPr bwMode="auto">
          <a:xfrm>
            <a:off x="4499992" y="3933056"/>
            <a:ext cx="504056" cy="0"/>
          </a:xfrm>
          <a:prstGeom prst="lin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3" name="Zaoblený obdélník 82"/>
          <p:cNvSpPr/>
          <p:nvPr/>
        </p:nvSpPr>
        <p:spPr bwMode="auto">
          <a:xfrm>
            <a:off x="5004048" y="3717032"/>
            <a:ext cx="648072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Vstupní 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5" name="Čárový popisek 2 (s ohraničením a zvýrazněním) 84"/>
          <p:cNvSpPr/>
          <p:nvPr/>
        </p:nvSpPr>
        <p:spPr bwMode="auto">
          <a:xfrm>
            <a:off x="5796136" y="2996952"/>
            <a:ext cx="1152128" cy="288032"/>
          </a:xfrm>
          <a:prstGeom prst="accentBorderCallout2">
            <a:avLst>
              <a:gd name="adj1" fmla="val 55953"/>
              <a:gd name="adj2" fmla="val -8953"/>
              <a:gd name="adj3" fmla="val 55953"/>
              <a:gd name="adj4" fmla="val -21627"/>
              <a:gd name="adj5" fmla="val 248911"/>
              <a:gd name="adj6" fmla="val -4108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X-komponenta</a:t>
            </a:r>
          </a:p>
        </p:txBody>
      </p:sp>
      <p:grpSp>
        <p:nvGrpSpPr>
          <p:cNvPr id="86" name="Skupina 84"/>
          <p:cNvGrpSpPr>
            <a:grpSpLocks/>
          </p:cNvGrpSpPr>
          <p:nvPr/>
        </p:nvGrpSpPr>
        <p:grpSpPr bwMode="auto">
          <a:xfrm>
            <a:off x="971600" y="2996952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87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88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89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90" name="Přímá spojovací čára 102"/>
            <p:cNvCxnSpPr>
              <a:cxnSpLocks noChangeShapeType="1"/>
              <a:stCxn id="89" idx="6"/>
              <a:endCxn id="87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1" name="Přímá spojovací čára 103"/>
            <p:cNvCxnSpPr>
              <a:cxnSpLocks noChangeShapeType="1"/>
              <a:stCxn id="89" idx="2"/>
              <a:endCxn id="87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pic>
        <p:nvPicPr>
          <p:cNvPr id="92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3573016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93" name="Pravá složená závorka 92"/>
          <p:cNvSpPr/>
          <p:nvPr/>
        </p:nvSpPr>
        <p:spPr bwMode="auto">
          <a:xfrm>
            <a:off x="1907704" y="2996952"/>
            <a:ext cx="216024" cy="1872208"/>
          </a:xfrm>
          <a:prstGeom prst="rightBrace">
            <a:avLst>
              <a:gd name="adj1" fmla="val 34788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Metadata</a:t>
            </a: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 – místa, programy, toky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53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917"/>
          <p:cNvSpPr>
            <a:spLocks noChangeArrowheads="1"/>
          </p:cNvSpPr>
          <p:nvPr/>
        </p:nvSpPr>
        <p:spPr bwMode="auto">
          <a:xfrm>
            <a:off x="5652120" y="1916832"/>
            <a:ext cx="1296987" cy="576263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Oval 915"/>
          <p:cNvSpPr>
            <a:spLocks noChangeArrowheads="1"/>
          </p:cNvSpPr>
          <p:nvPr/>
        </p:nvSpPr>
        <p:spPr bwMode="auto">
          <a:xfrm>
            <a:off x="539552" y="1842542"/>
            <a:ext cx="1368425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Oval 914"/>
          <p:cNvSpPr>
            <a:spLocks noChangeArrowheads="1"/>
          </p:cNvSpPr>
          <p:nvPr/>
        </p:nvSpPr>
        <p:spPr bwMode="auto">
          <a:xfrm>
            <a:off x="3204195" y="1772370"/>
            <a:ext cx="1296987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 Box 894"/>
          <p:cNvSpPr txBox="1">
            <a:spLocks noChangeArrowheads="1"/>
          </p:cNvSpPr>
          <p:nvPr/>
        </p:nvSpPr>
        <p:spPr bwMode="auto">
          <a:xfrm>
            <a:off x="3780457" y="2277195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B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896"/>
          <p:cNvGrpSpPr>
            <a:grpSpLocks/>
          </p:cNvGrpSpPr>
          <p:nvPr/>
        </p:nvGrpSpPr>
        <p:grpSpPr bwMode="auto">
          <a:xfrm>
            <a:off x="3707432" y="3140795"/>
            <a:ext cx="863600" cy="431800"/>
            <a:chOff x="2608" y="3430"/>
            <a:chExt cx="544" cy="272"/>
          </a:xfrm>
        </p:grpSpPr>
        <p:grpSp>
          <p:nvGrpSpPr>
            <p:cNvPr id="3" name="Group 895"/>
            <p:cNvGrpSpPr>
              <a:grpSpLocks/>
            </p:cNvGrpSpPr>
            <p:nvPr/>
          </p:nvGrpSpPr>
          <p:grpSpPr bwMode="auto">
            <a:xfrm>
              <a:off x="2608" y="3430"/>
              <a:ext cx="544" cy="272"/>
              <a:chOff x="3260" y="2036"/>
              <a:chExt cx="371" cy="213"/>
            </a:xfrm>
          </p:grpSpPr>
          <p:grpSp>
            <p:nvGrpSpPr>
              <p:cNvPr id="4" name="Group 818"/>
              <p:cNvGrpSpPr>
                <a:grpSpLocks/>
              </p:cNvGrpSpPr>
              <p:nvPr/>
            </p:nvGrpSpPr>
            <p:grpSpPr bwMode="auto">
              <a:xfrm>
                <a:off x="3262" y="2076"/>
                <a:ext cx="368" cy="173"/>
                <a:chOff x="186" y="2796"/>
                <a:chExt cx="935" cy="766"/>
              </a:xfrm>
            </p:grpSpPr>
            <p:sp>
              <p:nvSpPr>
                <p:cNvPr id="40" name="Rectangle 819"/>
                <p:cNvSpPr>
                  <a:spLocks noChangeArrowheads="1"/>
                </p:cNvSpPr>
                <p:nvPr/>
              </p:nvSpPr>
              <p:spPr bwMode="auto">
                <a:xfrm>
                  <a:off x="186" y="2796"/>
                  <a:ext cx="935" cy="61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41" name="Oval 820"/>
                <p:cNvSpPr>
                  <a:spLocks noChangeArrowheads="1"/>
                </p:cNvSpPr>
                <p:nvPr/>
              </p:nvSpPr>
              <p:spPr bwMode="auto">
                <a:xfrm>
                  <a:off x="186" y="3207"/>
                  <a:ext cx="935" cy="35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42" name="Freeform 821"/>
                <p:cNvSpPr>
                  <a:spLocks/>
                </p:cNvSpPr>
                <p:nvPr/>
              </p:nvSpPr>
              <p:spPr bwMode="auto">
                <a:xfrm>
                  <a:off x="197" y="3147"/>
                  <a:ext cx="913" cy="282"/>
                </a:xfrm>
                <a:custGeom>
                  <a:avLst/>
                  <a:gdLst/>
                  <a:ahLst/>
                  <a:cxnLst>
                    <a:cxn ang="0">
                      <a:pos x="32" y="96"/>
                    </a:cxn>
                    <a:cxn ang="0">
                      <a:pos x="0" y="216"/>
                    </a:cxn>
                    <a:cxn ang="0">
                      <a:pos x="0" y="280"/>
                    </a:cxn>
                    <a:cxn ang="0">
                      <a:pos x="56" y="336"/>
                    </a:cxn>
                    <a:cxn ang="0">
                      <a:pos x="1272" y="320"/>
                    </a:cxn>
                    <a:cxn ang="0">
                      <a:pos x="1296" y="280"/>
                    </a:cxn>
                    <a:cxn ang="0">
                      <a:pos x="1296" y="216"/>
                    </a:cxn>
                    <a:cxn ang="0">
                      <a:pos x="1272" y="152"/>
                    </a:cxn>
                    <a:cxn ang="0">
                      <a:pos x="1104" y="24"/>
                    </a:cxn>
                    <a:cxn ang="0">
                      <a:pos x="168" y="0"/>
                    </a:cxn>
                    <a:cxn ang="0">
                      <a:pos x="32" y="96"/>
                    </a:cxn>
                  </a:cxnLst>
                  <a:rect l="0" t="0" r="r" b="b"/>
                  <a:pathLst>
                    <a:path w="1296" h="336">
                      <a:moveTo>
                        <a:pt x="32" y="96"/>
                      </a:moveTo>
                      <a:lnTo>
                        <a:pt x="0" y="216"/>
                      </a:lnTo>
                      <a:lnTo>
                        <a:pt x="0" y="280"/>
                      </a:lnTo>
                      <a:lnTo>
                        <a:pt x="56" y="336"/>
                      </a:lnTo>
                      <a:lnTo>
                        <a:pt x="1272" y="320"/>
                      </a:lnTo>
                      <a:lnTo>
                        <a:pt x="1296" y="280"/>
                      </a:lnTo>
                      <a:lnTo>
                        <a:pt x="1296" y="216"/>
                      </a:lnTo>
                      <a:lnTo>
                        <a:pt x="1272" y="152"/>
                      </a:lnTo>
                      <a:lnTo>
                        <a:pt x="1104" y="24"/>
                      </a:lnTo>
                      <a:lnTo>
                        <a:pt x="168" y="0"/>
                      </a:lnTo>
                      <a:lnTo>
                        <a:pt x="32" y="9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 cap="flat">
                  <a:noFill/>
                  <a:prstDash val="sysDot"/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</p:grpSp>
          <p:sp>
            <p:nvSpPr>
              <p:cNvPr id="39" name="Oval 822"/>
              <p:cNvSpPr>
                <a:spLocks noChangeArrowheads="1"/>
              </p:cNvSpPr>
              <p:nvPr/>
            </p:nvSpPr>
            <p:spPr bwMode="auto">
              <a:xfrm>
                <a:off x="3260" y="2036"/>
                <a:ext cx="371" cy="79"/>
              </a:xfrm>
              <a:prstGeom prst="ellipse">
                <a:avLst/>
              </a:prstGeom>
              <a:gradFill rotWithShape="0">
                <a:gsLst>
                  <a:gs pos="0">
                    <a:srgbClr val="FFFF99"/>
                  </a:gs>
                  <a:gs pos="100000">
                    <a:srgbClr val="B2B2B2"/>
                  </a:gs>
                </a:gsLst>
                <a:lin ang="18900000" scaled="1"/>
              </a:gradFill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37" name="Text Box 823"/>
            <p:cNvSpPr txBox="1">
              <a:spLocks noChangeArrowheads="1"/>
            </p:cNvSpPr>
            <p:nvPr/>
          </p:nvSpPr>
          <p:spPr bwMode="auto">
            <a:xfrm>
              <a:off x="2653" y="3521"/>
              <a:ext cx="454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cs-CZ" sz="10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Databáze</a:t>
              </a:r>
              <a:endParaRPr lang="cs-CZ" sz="1000" b="1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43" name="Text Box 827"/>
          <p:cNvSpPr txBox="1">
            <a:spLocks noChangeArrowheads="1"/>
          </p:cNvSpPr>
          <p:nvPr/>
        </p:nvSpPr>
        <p:spPr bwMode="auto">
          <a:xfrm>
            <a:off x="1044377" y="2634704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A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6" name="Group 893"/>
          <p:cNvGrpSpPr>
            <a:grpSpLocks/>
          </p:cNvGrpSpPr>
          <p:nvPr/>
        </p:nvGrpSpPr>
        <p:grpSpPr bwMode="auto">
          <a:xfrm>
            <a:off x="3709020" y="1989857"/>
            <a:ext cx="144462" cy="360363"/>
            <a:chOff x="1918" y="1939"/>
            <a:chExt cx="64" cy="130"/>
          </a:xfrm>
        </p:grpSpPr>
        <p:grpSp>
          <p:nvGrpSpPr>
            <p:cNvPr id="7" name="Group 842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47" name="Rectangle 843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9" name="Oval 84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0" name="Freeform 845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46" name="Oval 846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51" name="AutoShape 848"/>
          <p:cNvCxnSpPr>
            <a:cxnSpLocks noChangeShapeType="1"/>
            <a:stCxn id="43" idx="2"/>
            <a:endCxn id="39" idx="1"/>
          </p:cNvCxnSpPr>
          <p:nvPr/>
        </p:nvCxnSpPr>
        <p:spPr bwMode="auto">
          <a:xfrm rot="16200000" flipH="1">
            <a:off x="2586324" y="1916670"/>
            <a:ext cx="253320" cy="2241838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  <p:cxnSp>
        <p:nvCxnSpPr>
          <p:cNvPr id="52" name="AutoShape 856"/>
          <p:cNvCxnSpPr>
            <a:cxnSpLocks noChangeShapeType="1"/>
            <a:stCxn id="43" idx="3"/>
            <a:endCxn id="46" idx="1"/>
          </p:cNvCxnSpPr>
          <p:nvPr/>
        </p:nvCxnSpPr>
        <p:spPr bwMode="auto">
          <a:xfrm flipV="1">
            <a:off x="2139752" y="2009749"/>
            <a:ext cx="1590424" cy="763068"/>
          </a:xfrm>
          <a:prstGeom prst="curvedConnector4">
            <a:avLst>
              <a:gd name="adj1" fmla="val 49335"/>
              <a:gd name="adj2" fmla="val 132565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53" name="Text Box 897"/>
          <p:cNvSpPr txBox="1">
            <a:spLocks noChangeArrowheads="1"/>
          </p:cNvSpPr>
          <p:nvPr/>
        </p:nvSpPr>
        <p:spPr bwMode="auto">
          <a:xfrm>
            <a:off x="6156945" y="2421657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C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8" name="Group 898"/>
          <p:cNvGrpSpPr>
            <a:grpSpLocks/>
          </p:cNvGrpSpPr>
          <p:nvPr/>
        </p:nvGrpSpPr>
        <p:grpSpPr bwMode="auto">
          <a:xfrm>
            <a:off x="6085507" y="2134320"/>
            <a:ext cx="144463" cy="360362"/>
            <a:chOff x="1918" y="1939"/>
            <a:chExt cx="64" cy="130"/>
          </a:xfrm>
        </p:grpSpPr>
        <p:grpSp>
          <p:nvGrpSpPr>
            <p:cNvPr id="9" name="Group 899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57" name="Rectangle 900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8" name="Oval 901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9" name="Freeform 902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56" name="Oval 903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61" name="AutoShape 904"/>
          <p:cNvCxnSpPr>
            <a:cxnSpLocks noChangeShapeType="1"/>
            <a:stCxn id="34" idx="3"/>
            <a:endCxn id="56" idx="1"/>
          </p:cNvCxnSpPr>
          <p:nvPr/>
        </p:nvCxnSpPr>
        <p:spPr bwMode="auto">
          <a:xfrm flipV="1">
            <a:off x="4888532" y="2154957"/>
            <a:ext cx="1217613" cy="260350"/>
          </a:xfrm>
          <a:prstGeom prst="curvedConnector4">
            <a:avLst>
              <a:gd name="adj1" fmla="val 48630"/>
              <a:gd name="adj2" fmla="val 19573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62" name="AutoShape 905"/>
          <p:cNvCxnSpPr>
            <a:cxnSpLocks noChangeShapeType="1"/>
            <a:stCxn id="34" idx="2"/>
            <a:endCxn id="39" idx="0"/>
          </p:cNvCxnSpPr>
          <p:nvPr/>
        </p:nvCxnSpPr>
        <p:spPr bwMode="auto">
          <a:xfrm rot="5400000">
            <a:off x="3950320" y="2755032"/>
            <a:ext cx="566737" cy="188913"/>
          </a:xfrm>
          <a:prstGeom prst="curvedConnector3">
            <a:avLst>
              <a:gd name="adj1" fmla="val 49579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  <p:cxnSp>
        <p:nvCxnSpPr>
          <p:cNvPr id="63" name="AutoShape 906"/>
          <p:cNvCxnSpPr>
            <a:cxnSpLocks noChangeShapeType="1"/>
            <a:stCxn id="53" idx="2"/>
            <a:endCxn id="39" idx="7"/>
          </p:cNvCxnSpPr>
          <p:nvPr/>
        </p:nvCxnSpPr>
        <p:spPr bwMode="auto">
          <a:xfrm rot="5400000">
            <a:off x="5351288" y="1803326"/>
            <a:ext cx="446088" cy="2260600"/>
          </a:xfrm>
          <a:prstGeom prst="curvedConnector3">
            <a:avLst>
              <a:gd name="adj1" fmla="val 46620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  <p:grpSp>
        <p:nvGrpSpPr>
          <p:cNvPr id="12" name="Group 907"/>
          <p:cNvGrpSpPr>
            <a:grpSpLocks/>
          </p:cNvGrpSpPr>
          <p:nvPr/>
        </p:nvGrpSpPr>
        <p:grpSpPr bwMode="auto">
          <a:xfrm>
            <a:off x="755452" y="2131467"/>
            <a:ext cx="519112" cy="138112"/>
            <a:chOff x="2888" y="971"/>
            <a:chExt cx="327" cy="87"/>
          </a:xfrm>
        </p:grpSpPr>
        <p:grpSp>
          <p:nvGrpSpPr>
            <p:cNvPr id="13" name="Group 908"/>
            <p:cNvGrpSpPr>
              <a:grpSpLocks/>
            </p:cNvGrpSpPr>
            <p:nvPr/>
          </p:nvGrpSpPr>
          <p:grpSpPr bwMode="auto">
            <a:xfrm>
              <a:off x="2890" y="988"/>
              <a:ext cx="324" cy="70"/>
              <a:chOff x="186" y="2796"/>
              <a:chExt cx="935" cy="766"/>
            </a:xfrm>
          </p:grpSpPr>
          <p:sp>
            <p:nvSpPr>
              <p:cNvPr id="67" name="Rectangle 909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8" name="Oval 910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9" name="Freeform 911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66" name="Oval 912"/>
            <p:cNvSpPr>
              <a:spLocks noChangeArrowheads="1"/>
            </p:cNvSpPr>
            <p:nvPr/>
          </p:nvSpPr>
          <p:spPr bwMode="auto">
            <a:xfrm>
              <a:off x="2888" y="971"/>
              <a:ext cx="327" cy="33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50000">
                  <a:srgbClr val="FF99CC"/>
                </a:gs>
                <a:gs pos="100000">
                  <a:srgbClr val="CCEC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71" name="AutoShape 913"/>
          <p:cNvCxnSpPr>
            <a:cxnSpLocks noChangeShapeType="1"/>
            <a:stCxn id="68" idx="4"/>
            <a:endCxn id="43" idx="0"/>
          </p:cNvCxnSpPr>
          <p:nvPr/>
        </p:nvCxnSpPr>
        <p:spPr bwMode="auto">
          <a:xfrm rot="16200000" flipH="1">
            <a:off x="1127720" y="2157661"/>
            <a:ext cx="352425" cy="576262"/>
          </a:xfrm>
          <a:prstGeom prst="curvedConnector3">
            <a:avLst>
              <a:gd name="adj1" fmla="val 5180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74" name="Rectangle 918"/>
          <p:cNvSpPr>
            <a:spLocks noChangeArrowheads="1"/>
          </p:cNvSpPr>
          <p:nvPr/>
        </p:nvSpPr>
        <p:spPr bwMode="auto">
          <a:xfrm>
            <a:off x="755452" y="184254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A</a:t>
            </a:r>
          </a:p>
        </p:txBody>
      </p:sp>
      <p:sp>
        <p:nvSpPr>
          <p:cNvPr id="75" name="Rectangle 919"/>
          <p:cNvSpPr>
            <a:spLocks noChangeArrowheads="1"/>
          </p:cNvSpPr>
          <p:nvPr/>
        </p:nvSpPr>
        <p:spPr bwMode="auto">
          <a:xfrm>
            <a:off x="3564557" y="1772370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B</a:t>
            </a:r>
          </a:p>
        </p:txBody>
      </p:sp>
      <p:sp>
        <p:nvSpPr>
          <p:cNvPr id="76" name="Rectangle 920"/>
          <p:cNvSpPr>
            <a:spLocks noChangeArrowheads="1"/>
          </p:cNvSpPr>
          <p:nvPr/>
        </p:nvSpPr>
        <p:spPr bwMode="auto">
          <a:xfrm>
            <a:off x="5941045" y="19168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1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100" b="1" dirty="0">
                <a:latin typeface="Calibri" pitchFamily="34" charset="0"/>
                <a:cs typeface="Calibri" pitchFamily="34" charset="0"/>
              </a:rPr>
              <a:t>C</a:t>
            </a:r>
          </a:p>
        </p:txBody>
      </p:sp>
      <p:sp>
        <p:nvSpPr>
          <p:cNvPr id="82" name="Rectangle 925"/>
          <p:cNvSpPr>
            <a:spLocks noChangeArrowheads="1"/>
          </p:cNvSpPr>
          <p:nvPr/>
        </p:nvSpPr>
        <p:spPr bwMode="auto">
          <a:xfrm>
            <a:off x="3780457" y="1989857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Q_FrontaB</a:t>
            </a:r>
          </a:p>
        </p:txBody>
      </p:sp>
      <p:sp>
        <p:nvSpPr>
          <p:cNvPr id="84" name="Rectangle 926"/>
          <p:cNvSpPr>
            <a:spLocks noChangeArrowheads="1"/>
          </p:cNvSpPr>
          <p:nvPr/>
        </p:nvSpPr>
        <p:spPr bwMode="auto">
          <a:xfrm>
            <a:off x="1188839" y="2058442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/pis/…/adrA</a:t>
            </a:r>
          </a:p>
        </p:txBody>
      </p:sp>
      <p:sp>
        <p:nvSpPr>
          <p:cNvPr id="86" name="Rectangle 927"/>
          <p:cNvSpPr>
            <a:spLocks noChangeArrowheads="1"/>
          </p:cNvSpPr>
          <p:nvPr/>
        </p:nvSpPr>
        <p:spPr bwMode="auto">
          <a:xfrm>
            <a:off x="6156945" y="21327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Q_FrontaC</a:t>
            </a:r>
          </a:p>
        </p:txBody>
      </p:sp>
      <p:sp>
        <p:nvSpPr>
          <p:cNvPr id="94" name="Rectangle 928"/>
          <p:cNvSpPr>
            <a:spLocks noChangeArrowheads="1"/>
          </p:cNvSpPr>
          <p:nvPr/>
        </p:nvSpPr>
        <p:spPr bwMode="auto">
          <a:xfrm>
            <a:off x="5148064" y="3501008"/>
            <a:ext cx="3744416" cy="2592288"/>
          </a:xfrm>
          <a:prstGeom prst="rect">
            <a:avLst/>
          </a:prstGeom>
          <a:gradFill rotWithShape="1">
            <a:gsLst>
              <a:gs pos="0">
                <a:srgbClr val="FDFCCF">
                  <a:gamma/>
                  <a:tint val="3137"/>
                  <a:invGamma/>
                </a:srgbClr>
              </a:gs>
              <a:gs pos="100000">
                <a:srgbClr val="FDFCC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t"/>
          <a:lstStyle/>
          <a:p>
            <a:r>
              <a:rPr lang="cs-CZ" sz="850" b="1" dirty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A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Adresar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c:/dir1/adrA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…/&gt;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B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Fronta=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Q_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FrontaB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…/&gt;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DefMisto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C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Fronta=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Q_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FrontaC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…/&gt;</a:t>
            </a:r>
          </a:p>
          <a:p>
            <a:endParaRPr lang="cs-CZ" sz="850" b="1" dirty="0" smtClean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DefProgram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Program=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PrgA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A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…/&gt;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DefProgram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Program=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PrgB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B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…/&gt;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DefProgram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Program=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PrgC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C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…/&gt;</a:t>
            </a:r>
          </a:p>
          <a:p>
            <a:endParaRPr lang="cs-CZ" sz="850" b="1" dirty="0" smtClean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DefTok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Tok="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Objednavky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_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Prijem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…&gt;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="A"&gt;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DefSet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Param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Out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Type="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Hodnota="B"/&gt;  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 </a:t>
            </a:r>
          </a:p>
          <a:p>
            <a:endParaRPr lang="cs-CZ" sz="850" b="1" dirty="0" smtClean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="B"&gt;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DefSet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Param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Out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Type="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Hodnota="C"/&gt;  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    </a:t>
            </a:r>
          </a:p>
          <a:p>
            <a:endParaRPr lang="cs-CZ" sz="850" b="1" dirty="0" smtClean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="C"/&gt;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DefTok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    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</p:txBody>
      </p:sp>
      <p:sp>
        <p:nvSpPr>
          <p:cNvPr id="95" name="Line 929"/>
          <p:cNvSpPr>
            <a:spLocks noChangeShapeType="1"/>
          </p:cNvSpPr>
          <p:nvPr/>
        </p:nvSpPr>
        <p:spPr bwMode="auto">
          <a:xfrm>
            <a:off x="3707904" y="3501008"/>
            <a:ext cx="1440160" cy="25922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6" name="Line 930"/>
          <p:cNvSpPr>
            <a:spLocks noChangeShapeType="1"/>
          </p:cNvSpPr>
          <p:nvPr/>
        </p:nvSpPr>
        <p:spPr bwMode="auto">
          <a:xfrm>
            <a:off x="4572000" y="3212976"/>
            <a:ext cx="576585" cy="289049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Metadata</a:t>
            </a: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 – rozhraní, zprávy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54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917"/>
          <p:cNvSpPr>
            <a:spLocks noChangeArrowheads="1"/>
          </p:cNvSpPr>
          <p:nvPr/>
        </p:nvSpPr>
        <p:spPr bwMode="auto">
          <a:xfrm>
            <a:off x="5652120" y="1916832"/>
            <a:ext cx="1296987" cy="576263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Oval 915"/>
          <p:cNvSpPr>
            <a:spLocks noChangeArrowheads="1"/>
          </p:cNvSpPr>
          <p:nvPr/>
        </p:nvSpPr>
        <p:spPr bwMode="auto">
          <a:xfrm>
            <a:off x="539552" y="1842542"/>
            <a:ext cx="1368425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Oval 914"/>
          <p:cNvSpPr>
            <a:spLocks noChangeArrowheads="1"/>
          </p:cNvSpPr>
          <p:nvPr/>
        </p:nvSpPr>
        <p:spPr bwMode="auto">
          <a:xfrm>
            <a:off x="3204195" y="1772370"/>
            <a:ext cx="1296987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 Box 894"/>
          <p:cNvSpPr txBox="1">
            <a:spLocks noChangeArrowheads="1"/>
          </p:cNvSpPr>
          <p:nvPr/>
        </p:nvSpPr>
        <p:spPr bwMode="auto">
          <a:xfrm>
            <a:off x="3780457" y="2277195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B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35" name="Group 896"/>
          <p:cNvGrpSpPr>
            <a:grpSpLocks/>
          </p:cNvGrpSpPr>
          <p:nvPr/>
        </p:nvGrpSpPr>
        <p:grpSpPr bwMode="auto">
          <a:xfrm>
            <a:off x="3707432" y="3140795"/>
            <a:ext cx="863600" cy="431800"/>
            <a:chOff x="2608" y="3430"/>
            <a:chExt cx="544" cy="272"/>
          </a:xfrm>
        </p:grpSpPr>
        <p:grpSp>
          <p:nvGrpSpPr>
            <p:cNvPr id="36" name="Group 895"/>
            <p:cNvGrpSpPr>
              <a:grpSpLocks/>
            </p:cNvGrpSpPr>
            <p:nvPr/>
          </p:nvGrpSpPr>
          <p:grpSpPr bwMode="auto">
            <a:xfrm>
              <a:off x="2608" y="3430"/>
              <a:ext cx="544" cy="272"/>
              <a:chOff x="3260" y="2036"/>
              <a:chExt cx="371" cy="213"/>
            </a:xfrm>
          </p:grpSpPr>
          <p:grpSp>
            <p:nvGrpSpPr>
              <p:cNvPr id="38" name="Group 818"/>
              <p:cNvGrpSpPr>
                <a:grpSpLocks/>
              </p:cNvGrpSpPr>
              <p:nvPr/>
            </p:nvGrpSpPr>
            <p:grpSpPr bwMode="auto">
              <a:xfrm>
                <a:off x="3262" y="2076"/>
                <a:ext cx="368" cy="173"/>
                <a:chOff x="186" y="2796"/>
                <a:chExt cx="935" cy="766"/>
              </a:xfrm>
            </p:grpSpPr>
            <p:sp>
              <p:nvSpPr>
                <p:cNvPr id="40" name="Rectangle 819"/>
                <p:cNvSpPr>
                  <a:spLocks noChangeArrowheads="1"/>
                </p:cNvSpPr>
                <p:nvPr/>
              </p:nvSpPr>
              <p:spPr bwMode="auto">
                <a:xfrm>
                  <a:off x="186" y="2796"/>
                  <a:ext cx="935" cy="61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41" name="Oval 820"/>
                <p:cNvSpPr>
                  <a:spLocks noChangeArrowheads="1"/>
                </p:cNvSpPr>
                <p:nvPr/>
              </p:nvSpPr>
              <p:spPr bwMode="auto">
                <a:xfrm>
                  <a:off x="186" y="3207"/>
                  <a:ext cx="935" cy="35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42" name="Freeform 821"/>
                <p:cNvSpPr>
                  <a:spLocks/>
                </p:cNvSpPr>
                <p:nvPr/>
              </p:nvSpPr>
              <p:spPr bwMode="auto">
                <a:xfrm>
                  <a:off x="197" y="3147"/>
                  <a:ext cx="913" cy="282"/>
                </a:xfrm>
                <a:custGeom>
                  <a:avLst/>
                  <a:gdLst/>
                  <a:ahLst/>
                  <a:cxnLst>
                    <a:cxn ang="0">
                      <a:pos x="32" y="96"/>
                    </a:cxn>
                    <a:cxn ang="0">
                      <a:pos x="0" y="216"/>
                    </a:cxn>
                    <a:cxn ang="0">
                      <a:pos x="0" y="280"/>
                    </a:cxn>
                    <a:cxn ang="0">
                      <a:pos x="56" y="336"/>
                    </a:cxn>
                    <a:cxn ang="0">
                      <a:pos x="1272" y="320"/>
                    </a:cxn>
                    <a:cxn ang="0">
                      <a:pos x="1296" y="280"/>
                    </a:cxn>
                    <a:cxn ang="0">
                      <a:pos x="1296" y="216"/>
                    </a:cxn>
                    <a:cxn ang="0">
                      <a:pos x="1272" y="152"/>
                    </a:cxn>
                    <a:cxn ang="0">
                      <a:pos x="1104" y="24"/>
                    </a:cxn>
                    <a:cxn ang="0">
                      <a:pos x="168" y="0"/>
                    </a:cxn>
                    <a:cxn ang="0">
                      <a:pos x="32" y="96"/>
                    </a:cxn>
                  </a:cxnLst>
                  <a:rect l="0" t="0" r="r" b="b"/>
                  <a:pathLst>
                    <a:path w="1296" h="336">
                      <a:moveTo>
                        <a:pt x="32" y="96"/>
                      </a:moveTo>
                      <a:lnTo>
                        <a:pt x="0" y="216"/>
                      </a:lnTo>
                      <a:lnTo>
                        <a:pt x="0" y="280"/>
                      </a:lnTo>
                      <a:lnTo>
                        <a:pt x="56" y="336"/>
                      </a:lnTo>
                      <a:lnTo>
                        <a:pt x="1272" y="320"/>
                      </a:lnTo>
                      <a:lnTo>
                        <a:pt x="1296" y="280"/>
                      </a:lnTo>
                      <a:lnTo>
                        <a:pt x="1296" y="216"/>
                      </a:lnTo>
                      <a:lnTo>
                        <a:pt x="1272" y="152"/>
                      </a:lnTo>
                      <a:lnTo>
                        <a:pt x="1104" y="24"/>
                      </a:lnTo>
                      <a:lnTo>
                        <a:pt x="168" y="0"/>
                      </a:lnTo>
                      <a:lnTo>
                        <a:pt x="32" y="9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 cap="flat">
                  <a:noFill/>
                  <a:prstDash val="sysDot"/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</p:grpSp>
          <p:sp>
            <p:nvSpPr>
              <p:cNvPr id="39" name="Oval 822"/>
              <p:cNvSpPr>
                <a:spLocks noChangeArrowheads="1"/>
              </p:cNvSpPr>
              <p:nvPr/>
            </p:nvSpPr>
            <p:spPr bwMode="auto">
              <a:xfrm>
                <a:off x="3260" y="2036"/>
                <a:ext cx="371" cy="79"/>
              </a:xfrm>
              <a:prstGeom prst="ellipse">
                <a:avLst/>
              </a:prstGeom>
              <a:gradFill rotWithShape="0">
                <a:gsLst>
                  <a:gs pos="0">
                    <a:srgbClr val="FFFF99"/>
                  </a:gs>
                  <a:gs pos="100000">
                    <a:srgbClr val="B2B2B2"/>
                  </a:gs>
                </a:gsLst>
                <a:lin ang="18900000" scaled="1"/>
              </a:gradFill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37" name="Text Box 823"/>
            <p:cNvSpPr txBox="1">
              <a:spLocks noChangeArrowheads="1"/>
            </p:cNvSpPr>
            <p:nvPr/>
          </p:nvSpPr>
          <p:spPr bwMode="auto">
            <a:xfrm>
              <a:off x="2653" y="3521"/>
              <a:ext cx="454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cs-CZ" sz="10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Databáze</a:t>
              </a:r>
              <a:endParaRPr lang="cs-CZ" sz="1000" b="1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43" name="Text Box 827"/>
          <p:cNvSpPr txBox="1">
            <a:spLocks noChangeArrowheads="1"/>
          </p:cNvSpPr>
          <p:nvPr/>
        </p:nvSpPr>
        <p:spPr bwMode="auto">
          <a:xfrm>
            <a:off x="1044377" y="2634704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A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44" name="Group 893"/>
          <p:cNvGrpSpPr>
            <a:grpSpLocks/>
          </p:cNvGrpSpPr>
          <p:nvPr/>
        </p:nvGrpSpPr>
        <p:grpSpPr bwMode="auto">
          <a:xfrm>
            <a:off x="3709020" y="1989857"/>
            <a:ext cx="144462" cy="360363"/>
            <a:chOff x="1918" y="1939"/>
            <a:chExt cx="64" cy="130"/>
          </a:xfrm>
        </p:grpSpPr>
        <p:grpSp>
          <p:nvGrpSpPr>
            <p:cNvPr id="45" name="Group 842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47" name="Rectangle 843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9" name="Oval 84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0" name="Freeform 845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46" name="Oval 846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51" name="AutoShape 848"/>
          <p:cNvCxnSpPr>
            <a:cxnSpLocks noChangeShapeType="1"/>
            <a:stCxn id="43" idx="2"/>
            <a:endCxn id="39" idx="1"/>
          </p:cNvCxnSpPr>
          <p:nvPr/>
        </p:nvCxnSpPr>
        <p:spPr bwMode="auto">
          <a:xfrm rot="16200000" flipH="1">
            <a:off x="2586324" y="1916670"/>
            <a:ext cx="253320" cy="2241838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  <p:cxnSp>
        <p:nvCxnSpPr>
          <p:cNvPr id="52" name="AutoShape 856"/>
          <p:cNvCxnSpPr>
            <a:cxnSpLocks noChangeShapeType="1"/>
            <a:stCxn id="43" idx="3"/>
            <a:endCxn id="46" idx="1"/>
          </p:cNvCxnSpPr>
          <p:nvPr/>
        </p:nvCxnSpPr>
        <p:spPr bwMode="auto">
          <a:xfrm flipV="1">
            <a:off x="2139752" y="2009749"/>
            <a:ext cx="1590424" cy="763068"/>
          </a:xfrm>
          <a:prstGeom prst="curvedConnector4">
            <a:avLst>
              <a:gd name="adj1" fmla="val 49335"/>
              <a:gd name="adj2" fmla="val 132565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53" name="Text Box 897"/>
          <p:cNvSpPr txBox="1">
            <a:spLocks noChangeArrowheads="1"/>
          </p:cNvSpPr>
          <p:nvPr/>
        </p:nvSpPr>
        <p:spPr bwMode="auto">
          <a:xfrm>
            <a:off x="6156945" y="2421657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C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54" name="Group 898"/>
          <p:cNvGrpSpPr>
            <a:grpSpLocks/>
          </p:cNvGrpSpPr>
          <p:nvPr/>
        </p:nvGrpSpPr>
        <p:grpSpPr bwMode="auto">
          <a:xfrm>
            <a:off x="6085507" y="2134320"/>
            <a:ext cx="144463" cy="360362"/>
            <a:chOff x="1918" y="1939"/>
            <a:chExt cx="64" cy="130"/>
          </a:xfrm>
        </p:grpSpPr>
        <p:grpSp>
          <p:nvGrpSpPr>
            <p:cNvPr id="55" name="Group 899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57" name="Rectangle 900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8" name="Oval 901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9" name="Freeform 902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56" name="Oval 903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61" name="AutoShape 904"/>
          <p:cNvCxnSpPr>
            <a:cxnSpLocks noChangeShapeType="1"/>
            <a:stCxn id="34" idx="3"/>
            <a:endCxn id="56" idx="1"/>
          </p:cNvCxnSpPr>
          <p:nvPr/>
        </p:nvCxnSpPr>
        <p:spPr bwMode="auto">
          <a:xfrm flipV="1">
            <a:off x="4888532" y="2154957"/>
            <a:ext cx="1217613" cy="260350"/>
          </a:xfrm>
          <a:prstGeom prst="curvedConnector4">
            <a:avLst>
              <a:gd name="adj1" fmla="val 48630"/>
              <a:gd name="adj2" fmla="val 19573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62" name="AutoShape 905"/>
          <p:cNvCxnSpPr>
            <a:cxnSpLocks noChangeShapeType="1"/>
            <a:stCxn id="34" idx="2"/>
            <a:endCxn id="39" idx="0"/>
          </p:cNvCxnSpPr>
          <p:nvPr/>
        </p:nvCxnSpPr>
        <p:spPr bwMode="auto">
          <a:xfrm rot="5400000">
            <a:off x="3950320" y="2755032"/>
            <a:ext cx="566737" cy="188913"/>
          </a:xfrm>
          <a:prstGeom prst="curvedConnector3">
            <a:avLst>
              <a:gd name="adj1" fmla="val 49579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  <p:cxnSp>
        <p:nvCxnSpPr>
          <p:cNvPr id="63" name="AutoShape 906"/>
          <p:cNvCxnSpPr>
            <a:cxnSpLocks noChangeShapeType="1"/>
            <a:stCxn id="53" idx="2"/>
            <a:endCxn id="39" idx="7"/>
          </p:cNvCxnSpPr>
          <p:nvPr/>
        </p:nvCxnSpPr>
        <p:spPr bwMode="auto">
          <a:xfrm rot="5400000">
            <a:off x="5351288" y="1803326"/>
            <a:ext cx="446088" cy="2260600"/>
          </a:xfrm>
          <a:prstGeom prst="curvedConnector3">
            <a:avLst>
              <a:gd name="adj1" fmla="val 46620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  <p:grpSp>
        <p:nvGrpSpPr>
          <p:cNvPr id="64" name="Group 907"/>
          <p:cNvGrpSpPr>
            <a:grpSpLocks/>
          </p:cNvGrpSpPr>
          <p:nvPr/>
        </p:nvGrpSpPr>
        <p:grpSpPr bwMode="auto">
          <a:xfrm>
            <a:off x="755452" y="2131467"/>
            <a:ext cx="519112" cy="138112"/>
            <a:chOff x="2888" y="971"/>
            <a:chExt cx="327" cy="87"/>
          </a:xfrm>
        </p:grpSpPr>
        <p:grpSp>
          <p:nvGrpSpPr>
            <p:cNvPr id="65" name="Group 908"/>
            <p:cNvGrpSpPr>
              <a:grpSpLocks/>
            </p:cNvGrpSpPr>
            <p:nvPr/>
          </p:nvGrpSpPr>
          <p:grpSpPr bwMode="auto">
            <a:xfrm>
              <a:off x="2890" y="988"/>
              <a:ext cx="324" cy="70"/>
              <a:chOff x="186" y="2796"/>
              <a:chExt cx="935" cy="766"/>
            </a:xfrm>
          </p:grpSpPr>
          <p:sp>
            <p:nvSpPr>
              <p:cNvPr id="67" name="Rectangle 909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8" name="Oval 910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9" name="Freeform 911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66" name="Oval 912"/>
            <p:cNvSpPr>
              <a:spLocks noChangeArrowheads="1"/>
            </p:cNvSpPr>
            <p:nvPr/>
          </p:nvSpPr>
          <p:spPr bwMode="auto">
            <a:xfrm>
              <a:off x="2888" y="971"/>
              <a:ext cx="327" cy="33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50000">
                  <a:srgbClr val="FF99CC"/>
                </a:gs>
                <a:gs pos="100000">
                  <a:srgbClr val="CCEC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71" name="AutoShape 913"/>
          <p:cNvCxnSpPr>
            <a:cxnSpLocks noChangeShapeType="1"/>
            <a:stCxn id="68" idx="4"/>
            <a:endCxn id="43" idx="0"/>
          </p:cNvCxnSpPr>
          <p:nvPr/>
        </p:nvCxnSpPr>
        <p:spPr bwMode="auto">
          <a:xfrm rot="16200000" flipH="1">
            <a:off x="1127720" y="2157661"/>
            <a:ext cx="352425" cy="576262"/>
          </a:xfrm>
          <a:prstGeom prst="curvedConnector3">
            <a:avLst>
              <a:gd name="adj1" fmla="val 5180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74" name="Rectangle 918"/>
          <p:cNvSpPr>
            <a:spLocks noChangeArrowheads="1"/>
          </p:cNvSpPr>
          <p:nvPr/>
        </p:nvSpPr>
        <p:spPr bwMode="auto">
          <a:xfrm>
            <a:off x="755452" y="184254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A</a:t>
            </a:r>
          </a:p>
        </p:txBody>
      </p:sp>
      <p:sp>
        <p:nvSpPr>
          <p:cNvPr id="75" name="Rectangle 919"/>
          <p:cNvSpPr>
            <a:spLocks noChangeArrowheads="1"/>
          </p:cNvSpPr>
          <p:nvPr/>
        </p:nvSpPr>
        <p:spPr bwMode="auto">
          <a:xfrm>
            <a:off x="3564557" y="1772370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B</a:t>
            </a:r>
          </a:p>
        </p:txBody>
      </p:sp>
      <p:sp>
        <p:nvSpPr>
          <p:cNvPr id="76" name="Rectangle 920"/>
          <p:cNvSpPr>
            <a:spLocks noChangeArrowheads="1"/>
          </p:cNvSpPr>
          <p:nvPr/>
        </p:nvSpPr>
        <p:spPr bwMode="auto">
          <a:xfrm>
            <a:off x="5941045" y="19168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1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100" b="1" dirty="0">
                <a:latin typeface="Calibri" pitchFamily="34" charset="0"/>
                <a:cs typeface="Calibri" pitchFamily="34" charset="0"/>
              </a:rPr>
              <a:t>C</a:t>
            </a:r>
          </a:p>
        </p:txBody>
      </p:sp>
      <p:sp>
        <p:nvSpPr>
          <p:cNvPr id="82" name="Rectangle 925"/>
          <p:cNvSpPr>
            <a:spLocks noChangeArrowheads="1"/>
          </p:cNvSpPr>
          <p:nvPr/>
        </p:nvSpPr>
        <p:spPr bwMode="auto">
          <a:xfrm>
            <a:off x="3780457" y="1989857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Q_FrontaB</a:t>
            </a:r>
          </a:p>
        </p:txBody>
      </p:sp>
      <p:sp>
        <p:nvSpPr>
          <p:cNvPr id="84" name="Rectangle 926"/>
          <p:cNvSpPr>
            <a:spLocks noChangeArrowheads="1"/>
          </p:cNvSpPr>
          <p:nvPr/>
        </p:nvSpPr>
        <p:spPr bwMode="auto">
          <a:xfrm>
            <a:off x="1188839" y="2058442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/pis/…/adrA</a:t>
            </a:r>
          </a:p>
        </p:txBody>
      </p:sp>
      <p:sp>
        <p:nvSpPr>
          <p:cNvPr id="86" name="Rectangle 927"/>
          <p:cNvSpPr>
            <a:spLocks noChangeArrowheads="1"/>
          </p:cNvSpPr>
          <p:nvPr/>
        </p:nvSpPr>
        <p:spPr bwMode="auto">
          <a:xfrm>
            <a:off x="6156945" y="21327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Q_FrontaC</a:t>
            </a:r>
          </a:p>
        </p:txBody>
      </p:sp>
      <p:sp>
        <p:nvSpPr>
          <p:cNvPr id="94" name="Rectangle 928"/>
          <p:cNvSpPr>
            <a:spLocks noChangeArrowheads="1"/>
          </p:cNvSpPr>
          <p:nvPr/>
        </p:nvSpPr>
        <p:spPr bwMode="auto">
          <a:xfrm>
            <a:off x="5148064" y="3501008"/>
            <a:ext cx="3744416" cy="2592288"/>
          </a:xfrm>
          <a:prstGeom prst="rect">
            <a:avLst/>
          </a:prstGeom>
          <a:gradFill rotWithShape="1">
            <a:gsLst>
              <a:gs pos="0">
                <a:srgbClr val="FDFCCF">
                  <a:gamma/>
                  <a:tint val="3137"/>
                  <a:invGamma/>
                </a:srgbClr>
              </a:gs>
              <a:gs pos="100000">
                <a:srgbClr val="FDFCC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t"/>
          <a:lstStyle/>
          <a:p>
            <a:r>
              <a:rPr lang="cs-CZ" sz="850" b="1" dirty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DefRozhrani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Rozhrani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Objednavky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…&gt;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DefMsg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Msg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NovaObjednavka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Tok=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Objednavka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_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Prijem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…/&gt;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DefMsg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Msg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StornoObjednavka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Tok=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Objednavka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_Storno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…/&gt;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 :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DefRozhrani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</a:t>
            </a:r>
          </a:p>
          <a:p>
            <a:endParaRPr lang="cs-CZ" sz="850" b="1" dirty="0" smtClean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DefTok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Tok="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Objednavky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_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Prijem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…&gt;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="A"&gt;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DefSet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Param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Out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Type="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Hodnota="B"/&gt;  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 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   :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DefTok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    </a:t>
            </a:r>
          </a:p>
          <a:p>
            <a:endParaRPr lang="cs-CZ" sz="850" b="1" dirty="0" smtClean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DefTok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Tok="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Objednavky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_Storno" …&gt;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="A"&gt;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DefSet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Param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Out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Type="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Hodnota="D"/&gt;  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 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   :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DefTok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    </a:t>
            </a:r>
          </a:p>
          <a:p>
            <a:endParaRPr lang="cs-CZ" sz="850" b="1" dirty="0">
              <a:latin typeface="Consolas" pitchFamily="49" charset="0"/>
              <a:cs typeface="Calibri" pitchFamily="34" charset="0"/>
            </a:endParaRPr>
          </a:p>
        </p:txBody>
      </p:sp>
      <p:sp>
        <p:nvSpPr>
          <p:cNvPr id="95" name="Line 929"/>
          <p:cNvSpPr>
            <a:spLocks noChangeShapeType="1"/>
          </p:cNvSpPr>
          <p:nvPr/>
        </p:nvSpPr>
        <p:spPr bwMode="auto">
          <a:xfrm>
            <a:off x="3707904" y="3501008"/>
            <a:ext cx="1440160" cy="25922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6" name="Line 930"/>
          <p:cNvSpPr>
            <a:spLocks noChangeShapeType="1"/>
          </p:cNvSpPr>
          <p:nvPr/>
        </p:nvSpPr>
        <p:spPr bwMode="auto">
          <a:xfrm>
            <a:off x="4572000" y="3212976"/>
            <a:ext cx="576585" cy="289049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3" name="Oval 914"/>
          <p:cNvSpPr>
            <a:spLocks noChangeArrowheads="1"/>
          </p:cNvSpPr>
          <p:nvPr/>
        </p:nvSpPr>
        <p:spPr bwMode="auto">
          <a:xfrm>
            <a:off x="1475458" y="3788271"/>
            <a:ext cx="1296987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7" name="Text Box 894"/>
          <p:cNvSpPr txBox="1">
            <a:spLocks noChangeArrowheads="1"/>
          </p:cNvSpPr>
          <p:nvPr/>
        </p:nvSpPr>
        <p:spPr bwMode="auto">
          <a:xfrm>
            <a:off x="2051720" y="4293096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</a:t>
            </a:r>
            <a:r>
              <a:rPr lang="cs-CZ" sz="10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D</a:t>
            </a:r>
            <a:endParaRPr lang="cs-CZ" sz="10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78" name="Group 893"/>
          <p:cNvGrpSpPr>
            <a:grpSpLocks/>
          </p:cNvGrpSpPr>
          <p:nvPr/>
        </p:nvGrpSpPr>
        <p:grpSpPr bwMode="auto">
          <a:xfrm>
            <a:off x="1980283" y="4005758"/>
            <a:ext cx="144462" cy="360363"/>
            <a:chOff x="1918" y="1939"/>
            <a:chExt cx="64" cy="130"/>
          </a:xfrm>
        </p:grpSpPr>
        <p:grpSp>
          <p:nvGrpSpPr>
            <p:cNvPr id="79" name="Group 842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81" name="Rectangle 843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83" name="Oval 84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85" name="Freeform 845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80" name="Oval 846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87" name="Rectangle 919"/>
          <p:cNvSpPr>
            <a:spLocks noChangeArrowheads="1"/>
          </p:cNvSpPr>
          <p:nvPr/>
        </p:nvSpPr>
        <p:spPr bwMode="auto">
          <a:xfrm>
            <a:off x="1835820" y="3788271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D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8" name="Rectangle 925"/>
          <p:cNvSpPr>
            <a:spLocks noChangeArrowheads="1"/>
          </p:cNvSpPr>
          <p:nvPr/>
        </p:nvSpPr>
        <p:spPr bwMode="auto">
          <a:xfrm>
            <a:off x="2051720" y="4005758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 dirty="0" smtClean="0">
                <a:latin typeface="Calibri" pitchFamily="34" charset="0"/>
                <a:cs typeface="Calibri" pitchFamily="34" charset="0"/>
              </a:rPr>
              <a:t>Q_</a:t>
            </a:r>
            <a:r>
              <a:rPr lang="cs-CZ" sz="800" b="1" dirty="0" err="1" smtClean="0">
                <a:latin typeface="Calibri" pitchFamily="34" charset="0"/>
                <a:cs typeface="Calibri" pitchFamily="34" charset="0"/>
              </a:rPr>
              <a:t>FrontaD</a:t>
            </a:r>
            <a:endParaRPr lang="cs-CZ" sz="8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60" name="AutoShape 856"/>
          <p:cNvCxnSpPr>
            <a:cxnSpLocks noChangeShapeType="1"/>
            <a:stCxn id="43" idx="3"/>
            <a:endCxn id="80" idx="2"/>
          </p:cNvCxnSpPr>
          <p:nvPr/>
        </p:nvCxnSpPr>
        <p:spPr bwMode="auto">
          <a:xfrm flipH="1">
            <a:off x="1980283" y="2772817"/>
            <a:ext cx="159469" cy="1300856"/>
          </a:xfrm>
          <a:prstGeom prst="curvedConnector5">
            <a:avLst>
              <a:gd name="adj1" fmla="val -143351"/>
              <a:gd name="adj2" fmla="val 52698"/>
              <a:gd name="adj3" fmla="val 24335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90" name="AutoShape 905"/>
          <p:cNvCxnSpPr>
            <a:cxnSpLocks noChangeShapeType="1"/>
            <a:stCxn id="77" idx="2"/>
            <a:endCxn id="40" idx="1"/>
          </p:cNvCxnSpPr>
          <p:nvPr/>
        </p:nvCxnSpPr>
        <p:spPr bwMode="auto">
          <a:xfrm rot="5400000" flipH="1" flipV="1">
            <a:off x="2552080" y="3409314"/>
            <a:ext cx="1207335" cy="1112680"/>
          </a:xfrm>
          <a:prstGeom prst="curvedConnector4">
            <a:avLst>
              <a:gd name="adj1" fmla="val -18934"/>
              <a:gd name="adj2" fmla="val 74611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Aplikační </a:t>
            </a: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manager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55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917"/>
          <p:cNvSpPr>
            <a:spLocks noChangeArrowheads="1"/>
          </p:cNvSpPr>
          <p:nvPr/>
        </p:nvSpPr>
        <p:spPr bwMode="auto">
          <a:xfrm>
            <a:off x="5652120" y="1916832"/>
            <a:ext cx="1296987" cy="576263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Oval 915"/>
          <p:cNvSpPr>
            <a:spLocks noChangeArrowheads="1"/>
          </p:cNvSpPr>
          <p:nvPr/>
        </p:nvSpPr>
        <p:spPr bwMode="auto">
          <a:xfrm>
            <a:off x="539552" y="1842542"/>
            <a:ext cx="1368425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Oval 914"/>
          <p:cNvSpPr>
            <a:spLocks noChangeArrowheads="1"/>
          </p:cNvSpPr>
          <p:nvPr/>
        </p:nvSpPr>
        <p:spPr bwMode="auto">
          <a:xfrm>
            <a:off x="3204195" y="1772370"/>
            <a:ext cx="1296987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 Box 894"/>
          <p:cNvSpPr txBox="1">
            <a:spLocks noChangeArrowheads="1"/>
          </p:cNvSpPr>
          <p:nvPr/>
        </p:nvSpPr>
        <p:spPr bwMode="auto">
          <a:xfrm>
            <a:off x="3780457" y="2277195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B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896"/>
          <p:cNvGrpSpPr>
            <a:grpSpLocks/>
          </p:cNvGrpSpPr>
          <p:nvPr/>
        </p:nvGrpSpPr>
        <p:grpSpPr bwMode="auto">
          <a:xfrm>
            <a:off x="3707432" y="3140795"/>
            <a:ext cx="863600" cy="431800"/>
            <a:chOff x="2608" y="3430"/>
            <a:chExt cx="544" cy="272"/>
          </a:xfrm>
        </p:grpSpPr>
        <p:grpSp>
          <p:nvGrpSpPr>
            <p:cNvPr id="3" name="Group 895"/>
            <p:cNvGrpSpPr>
              <a:grpSpLocks/>
            </p:cNvGrpSpPr>
            <p:nvPr/>
          </p:nvGrpSpPr>
          <p:grpSpPr bwMode="auto">
            <a:xfrm>
              <a:off x="2608" y="3430"/>
              <a:ext cx="544" cy="272"/>
              <a:chOff x="3260" y="2036"/>
              <a:chExt cx="371" cy="213"/>
            </a:xfrm>
          </p:grpSpPr>
          <p:grpSp>
            <p:nvGrpSpPr>
              <p:cNvPr id="4" name="Group 818"/>
              <p:cNvGrpSpPr>
                <a:grpSpLocks/>
              </p:cNvGrpSpPr>
              <p:nvPr/>
            </p:nvGrpSpPr>
            <p:grpSpPr bwMode="auto">
              <a:xfrm>
                <a:off x="3262" y="2076"/>
                <a:ext cx="368" cy="173"/>
                <a:chOff x="186" y="2796"/>
                <a:chExt cx="935" cy="766"/>
              </a:xfrm>
            </p:grpSpPr>
            <p:sp>
              <p:nvSpPr>
                <p:cNvPr id="40" name="Rectangle 819"/>
                <p:cNvSpPr>
                  <a:spLocks noChangeArrowheads="1"/>
                </p:cNvSpPr>
                <p:nvPr/>
              </p:nvSpPr>
              <p:spPr bwMode="auto">
                <a:xfrm>
                  <a:off x="186" y="2796"/>
                  <a:ext cx="935" cy="61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41" name="Oval 820"/>
                <p:cNvSpPr>
                  <a:spLocks noChangeArrowheads="1"/>
                </p:cNvSpPr>
                <p:nvPr/>
              </p:nvSpPr>
              <p:spPr bwMode="auto">
                <a:xfrm>
                  <a:off x="186" y="3207"/>
                  <a:ext cx="935" cy="35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42" name="Freeform 821"/>
                <p:cNvSpPr>
                  <a:spLocks/>
                </p:cNvSpPr>
                <p:nvPr/>
              </p:nvSpPr>
              <p:spPr bwMode="auto">
                <a:xfrm>
                  <a:off x="197" y="3147"/>
                  <a:ext cx="913" cy="282"/>
                </a:xfrm>
                <a:custGeom>
                  <a:avLst/>
                  <a:gdLst/>
                  <a:ahLst/>
                  <a:cxnLst>
                    <a:cxn ang="0">
                      <a:pos x="32" y="96"/>
                    </a:cxn>
                    <a:cxn ang="0">
                      <a:pos x="0" y="216"/>
                    </a:cxn>
                    <a:cxn ang="0">
                      <a:pos x="0" y="280"/>
                    </a:cxn>
                    <a:cxn ang="0">
                      <a:pos x="56" y="336"/>
                    </a:cxn>
                    <a:cxn ang="0">
                      <a:pos x="1272" y="320"/>
                    </a:cxn>
                    <a:cxn ang="0">
                      <a:pos x="1296" y="280"/>
                    </a:cxn>
                    <a:cxn ang="0">
                      <a:pos x="1296" y="216"/>
                    </a:cxn>
                    <a:cxn ang="0">
                      <a:pos x="1272" y="152"/>
                    </a:cxn>
                    <a:cxn ang="0">
                      <a:pos x="1104" y="24"/>
                    </a:cxn>
                    <a:cxn ang="0">
                      <a:pos x="168" y="0"/>
                    </a:cxn>
                    <a:cxn ang="0">
                      <a:pos x="32" y="96"/>
                    </a:cxn>
                  </a:cxnLst>
                  <a:rect l="0" t="0" r="r" b="b"/>
                  <a:pathLst>
                    <a:path w="1296" h="336">
                      <a:moveTo>
                        <a:pt x="32" y="96"/>
                      </a:moveTo>
                      <a:lnTo>
                        <a:pt x="0" y="216"/>
                      </a:lnTo>
                      <a:lnTo>
                        <a:pt x="0" y="280"/>
                      </a:lnTo>
                      <a:lnTo>
                        <a:pt x="56" y="336"/>
                      </a:lnTo>
                      <a:lnTo>
                        <a:pt x="1272" y="320"/>
                      </a:lnTo>
                      <a:lnTo>
                        <a:pt x="1296" y="280"/>
                      </a:lnTo>
                      <a:lnTo>
                        <a:pt x="1296" y="216"/>
                      </a:lnTo>
                      <a:lnTo>
                        <a:pt x="1272" y="152"/>
                      </a:lnTo>
                      <a:lnTo>
                        <a:pt x="1104" y="24"/>
                      </a:lnTo>
                      <a:lnTo>
                        <a:pt x="168" y="0"/>
                      </a:lnTo>
                      <a:lnTo>
                        <a:pt x="32" y="9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 cap="flat">
                  <a:noFill/>
                  <a:prstDash val="sysDot"/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</p:grpSp>
          <p:sp>
            <p:nvSpPr>
              <p:cNvPr id="39" name="Oval 822"/>
              <p:cNvSpPr>
                <a:spLocks noChangeArrowheads="1"/>
              </p:cNvSpPr>
              <p:nvPr/>
            </p:nvSpPr>
            <p:spPr bwMode="auto">
              <a:xfrm>
                <a:off x="3260" y="2036"/>
                <a:ext cx="371" cy="79"/>
              </a:xfrm>
              <a:prstGeom prst="ellipse">
                <a:avLst/>
              </a:prstGeom>
              <a:gradFill rotWithShape="0">
                <a:gsLst>
                  <a:gs pos="0">
                    <a:srgbClr val="FFFF99"/>
                  </a:gs>
                  <a:gs pos="100000">
                    <a:srgbClr val="B2B2B2"/>
                  </a:gs>
                </a:gsLst>
                <a:lin ang="18900000" scaled="1"/>
              </a:gradFill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37" name="Text Box 823"/>
            <p:cNvSpPr txBox="1">
              <a:spLocks noChangeArrowheads="1"/>
            </p:cNvSpPr>
            <p:nvPr/>
          </p:nvSpPr>
          <p:spPr bwMode="auto">
            <a:xfrm>
              <a:off x="2653" y="3521"/>
              <a:ext cx="454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cs-CZ" sz="10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Databáze</a:t>
              </a:r>
              <a:endParaRPr lang="cs-CZ" sz="1000" b="1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43" name="Text Box 827"/>
          <p:cNvSpPr txBox="1">
            <a:spLocks noChangeArrowheads="1"/>
          </p:cNvSpPr>
          <p:nvPr/>
        </p:nvSpPr>
        <p:spPr bwMode="auto">
          <a:xfrm>
            <a:off x="1044377" y="2634704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A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6" name="Group 893"/>
          <p:cNvGrpSpPr>
            <a:grpSpLocks/>
          </p:cNvGrpSpPr>
          <p:nvPr/>
        </p:nvGrpSpPr>
        <p:grpSpPr bwMode="auto">
          <a:xfrm>
            <a:off x="3709020" y="1989857"/>
            <a:ext cx="144462" cy="360363"/>
            <a:chOff x="1918" y="1939"/>
            <a:chExt cx="64" cy="130"/>
          </a:xfrm>
        </p:grpSpPr>
        <p:grpSp>
          <p:nvGrpSpPr>
            <p:cNvPr id="7" name="Group 842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47" name="Rectangle 843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9" name="Oval 84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0" name="Freeform 845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46" name="Oval 846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51" name="AutoShape 848"/>
          <p:cNvCxnSpPr>
            <a:cxnSpLocks noChangeShapeType="1"/>
            <a:stCxn id="43" idx="2"/>
            <a:endCxn id="39" idx="1"/>
          </p:cNvCxnSpPr>
          <p:nvPr/>
        </p:nvCxnSpPr>
        <p:spPr bwMode="auto">
          <a:xfrm rot="16200000" flipH="1">
            <a:off x="2586324" y="1916670"/>
            <a:ext cx="253320" cy="2241838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  <p:cxnSp>
        <p:nvCxnSpPr>
          <p:cNvPr id="52" name="AutoShape 856"/>
          <p:cNvCxnSpPr>
            <a:cxnSpLocks noChangeShapeType="1"/>
            <a:stCxn id="43" idx="3"/>
            <a:endCxn id="46" idx="1"/>
          </p:cNvCxnSpPr>
          <p:nvPr/>
        </p:nvCxnSpPr>
        <p:spPr bwMode="auto">
          <a:xfrm flipV="1">
            <a:off x="2139752" y="2009749"/>
            <a:ext cx="1590424" cy="763068"/>
          </a:xfrm>
          <a:prstGeom prst="curvedConnector4">
            <a:avLst>
              <a:gd name="adj1" fmla="val 49335"/>
              <a:gd name="adj2" fmla="val 132565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53" name="Text Box 897"/>
          <p:cNvSpPr txBox="1">
            <a:spLocks noChangeArrowheads="1"/>
          </p:cNvSpPr>
          <p:nvPr/>
        </p:nvSpPr>
        <p:spPr bwMode="auto">
          <a:xfrm>
            <a:off x="6156945" y="2421657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C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8" name="Group 898"/>
          <p:cNvGrpSpPr>
            <a:grpSpLocks/>
          </p:cNvGrpSpPr>
          <p:nvPr/>
        </p:nvGrpSpPr>
        <p:grpSpPr bwMode="auto">
          <a:xfrm>
            <a:off x="6085507" y="2134320"/>
            <a:ext cx="144463" cy="360362"/>
            <a:chOff x="1918" y="1939"/>
            <a:chExt cx="64" cy="130"/>
          </a:xfrm>
        </p:grpSpPr>
        <p:grpSp>
          <p:nvGrpSpPr>
            <p:cNvPr id="9" name="Group 899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57" name="Rectangle 900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8" name="Oval 901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9" name="Freeform 902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56" name="Oval 903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61" name="AutoShape 904"/>
          <p:cNvCxnSpPr>
            <a:cxnSpLocks noChangeShapeType="1"/>
            <a:stCxn id="34" idx="3"/>
            <a:endCxn id="56" idx="1"/>
          </p:cNvCxnSpPr>
          <p:nvPr/>
        </p:nvCxnSpPr>
        <p:spPr bwMode="auto">
          <a:xfrm flipV="1">
            <a:off x="4888532" y="2154957"/>
            <a:ext cx="1217613" cy="260350"/>
          </a:xfrm>
          <a:prstGeom prst="curvedConnector4">
            <a:avLst>
              <a:gd name="adj1" fmla="val 48630"/>
              <a:gd name="adj2" fmla="val 19573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62" name="AutoShape 905"/>
          <p:cNvCxnSpPr>
            <a:cxnSpLocks noChangeShapeType="1"/>
            <a:stCxn id="34" idx="2"/>
            <a:endCxn id="39" idx="0"/>
          </p:cNvCxnSpPr>
          <p:nvPr/>
        </p:nvCxnSpPr>
        <p:spPr bwMode="auto">
          <a:xfrm rot="5400000">
            <a:off x="3950320" y="2755032"/>
            <a:ext cx="566737" cy="188913"/>
          </a:xfrm>
          <a:prstGeom prst="curvedConnector3">
            <a:avLst>
              <a:gd name="adj1" fmla="val 49579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  <p:cxnSp>
        <p:nvCxnSpPr>
          <p:cNvPr id="63" name="AutoShape 906"/>
          <p:cNvCxnSpPr>
            <a:cxnSpLocks noChangeShapeType="1"/>
            <a:stCxn id="53" idx="2"/>
            <a:endCxn id="39" idx="7"/>
          </p:cNvCxnSpPr>
          <p:nvPr/>
        </p:nvCxnSpPr>
        <p:spPr bwMode="auto">
          <a:xfrm rot="5400000">
            <a:off x="5351288" y="1803326"/>
            <a:ext cx="446088" cy="2260600"/>
          </a:xfrm>
          <a:prstGeom prst="curvedConnector3">
            <a:avLst>
              <a:gd name="adj1" fmla="val 46620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  <p:grpSp>
        <p:nvGrpSpPr>
          <p:cNvPr id="12" name="Group 907"/>
          <p:cNvGrpSpPr>
            <a:grpSpLocks/>
          </p:cNvGrpSpPr>
          <p:nvPr/>
        </p:nvGrpSpPr>
        <p:grpSpPr bwMode="auto">
          <a:xfrm>
            <a:off x="755452" y="2131467"/>
            <a:ext cx="519112" cy="138112"/>
            <a:chOff x="2888" y="971"/>
            <a:chExt cx="327" cy="87"/>
          </a:xfrm>
        </p:grpSpPr>
        <p:grpSp>
          <p:nvGrpSpPr>
            <p:cNvPr id="13" name="Group 908"/>
            <p:cNvGrpSpPr>
              <a:grpSpLocks/>
            </p:cNvGrpSpPr>
            <p:nvPr/>
          </p:nvGrpSpPr>
          <p:grpSpPr bwMode="auto">
            <a:xfrm>
              <a:off x="2890" y="988"/>
              <a:ext cx="324" cy="70"/>
              <a:chOff x="186" y="2796"/>
              <a:chExt cx="935" cy="766"/>
            </a:xfrm>
          </p:grpSpPr>
          <p:sp>
            <p:nvSpPr>
              <p:cNvPr id="67" name="Rectangle 909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8" name="Oval 910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9" name="Freeform 911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66" name="Oval 912"/>
            <p:cNvSpPr>
              <a:spLocks noChangeArrowheads="1"/>
            </p:cNvSpPr>
            <p:nvPr/>
          </p:nvSpPr>
          <p:spPr bwMode="auto">
            <a:xfrm>
              <a:off x="2888" y="971"/>
              <a:ext cx="327" cy="33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50000">
                  <a:srgbClr val="FF99CC"/>
                </a:gs>
                <a:gs pos="100000">
                  <a:srgbClr val="CCEC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71" name="AutoShape 913"/>
          <p:cNvCxnSpPr>
            <a:cxnSpLocks noChangeShapeType="1"/>
            <a:stCxn id="68" idx="4"/>
            <a:endCxn id="43" idx="0"/>
          </p:cNvCxnSpPr>
          <p:nvPr/>
        </p:nvCxnSpPr>
        <p:spPr bwMode="auto">
          <a:xfrm rot="16200000" flipH="1">
            <a:off x="1127720" y="2157661"/>
            <a:ext cx="352425" cy="576262"/>
          </a:xfrm>
          <a:prstGeom prst="curvedConnector3">
            <a:avLst>
              <a:gd name="adj1" fmla="val 5180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74" name="Rectangle 918"/>
          <p:cNvSpPr>
            <a:spLocks noChangeArrowheads="1"/>
          </p:cNvSpPr>
          <p:nvPr/>
        </p:nvSpPr>
        <p:spPr bwMode="auto">
          <a:xfrm>
            <a:off x="755452" y="184254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A</a:t>
            </a:r>
          </a:p>
        </p:txBody>
      </p:sp>
      <p:sp>
        <p:nvSpPr>
          <p:cNvPr id="75" name="Rectangle 919"/>
          <p:cNvSpPr>
            <a:spLocks noChangeArrowheads="1"/>
          </p:cNvSpPr>
          <p:nvPr/>
        </p:nvSpPr>
        <p:spPr bwMode="auto">
          <a:xfrm>
            <a:off x="3564557" y="1772370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B</a:t>
            </a:r>
          </a:p>
        </p:txBody>
      </p:sp>
      <p:sp>
        <p:nvSpPr>
          <p:cNvPr id="76" name="Rectangle 920"/>
          <p:cNvSpPr>
            <a:spLocks noChangeArrowheads="1"/>
          </p:cNvSpPr>
          <p:nvPr/>
        </p:nvSpPr>
        <p:spPr bwMode="auto">
          <a:xfrm>
            <a:off x="5941045" y="19168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1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100" b="1" dirty="0">
                <a:latin typeface="Calibri" pitchFamily="34" charset="0"/>
                <a:cs typeface="Calibri" pitchFamily="34" charset="0"/>
              </a:rPr>
              <a:t>C</a:t>
            </a:r>
          </a:p>
        </p:txBody>
      </p:sp>
      <p:sp>
        <p:nvSpPr>
          <p:cNvPr id="82" name="Rectangle 925"/>
          <p:cNvSpPr>
            <a:spLocks noChangeArrowheads="1"/>
          </p:cNvSpPr>
          <p:nvPr/>
        </p:nvSpPr>
        <p:spPr bwMode="auto">
          <a:xfrm>
            <a:off x="3780457" y="1989857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Q_FrontaB</a:t>
            </a:r>
          </a:p>
        </p:txBody>
      </p:sp>
      <p:sp>
        <p:nvSpPr>
          <p:cNvPr id="84" name="Rectangle 926"/>
          <p:cNvSpPr>
            <a:spLocks noChangeArrowheads="1"/>
          </p:cNvSpPr>
          <p:nvPr/>
        </p:nvSpPr>
        <p:spPr bwMode="auto">
          <a:xfrm>
            <a:off x="1188839" y="2058442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/pis/…/adrA</a:t>
            </a:r>
          </a:p>
        </p:txBody>
      </p:sp>
      <p:sp>
        <p:nvSpPr>
          <p:cNvPr id="86" name="Rectangle 927"/>
          <p:cNvSpPr>
            <a:spLocks noChangeArrowheads="1"/>
          </p:cNvSpPr>
          <p:nvPr/>
        </p:nvSpPr>
        <p:spPr bwMode="auto">
          <a:xfrm>
            <a:off x="6156945" y="21327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Q_FrontaC</a:t>
            </a:r>
          </a:p>
        </p:txBody>
      </p:sp>
      <p:sp>
        <p:nvSpPr>
          <p:cNvPr id="94" name="Rectangle 928"/>
          <p:cNvSpPr>
            <a:spLocks noChangeArrowheads="1"/>
          </p:cNvSpPr>
          <p:nvPr/>
        </p:nvSpPr>
        <p:spPr bwMode="auto">
          <a:xfrm>
            <a:off x="5148064" y="3501008"/>
            <a:ext cx="3744416" cy="2592288"/>
          </a:xfrm>
          <a:prstGeom prst="rect">
            <a:avLst/>
          </a:prstGeom>
          <a:gradFill rotWithShape="1">
            <a:gsLst>
              <a:gs pos="0">
                <a:srgbClr val="FDFCCF">
                  <a:gamma/>
                  <a:tint val="3137"/>
                  <a:invGamma/>
                </a:srgbClr>
              </a:gs>
              <a:gs pos="100000">
                <a:srgbClr val="FDFCC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t"/>
          <a:lstStyle/>
          <a:p>
            <a:r>
              <a:rPr lang="cs-CZ" sz="850" b="1" dirty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A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Adresar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c:/dir1/adrA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…/&gt;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B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Fronta=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Q_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FrontaB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…/&gt;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DefMisto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C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Fronta=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Q_</a:t>
            </a:r>
            <a:r>
              <a:rPr lang="cs-CZ" sz="850" b="1" dirty="0" err="1">
                <a:latin typeface="Consolas" pitchFamily="49" charset="0"/>
                <a:cs typeface="Calibri" pitchFamily="34" charset="0"/>
              </a:rPr>
              <a:t>FrontaC</a:t>
            </a:r>
            <a:r>
              <a:rPr lang="en-US" sz="850" b="1" dirty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…/&gt;</a:t>
            </a:r>
          </a:p>
          <a:p>
            <a:endParaRPr lang="cs-CZ" sz="850" b="1" dirty="0" smtClean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DefProgram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Program=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PrgA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A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…/&gt;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DefProgram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Program=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PrgB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B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…/&gt;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DefProgram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Program=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PrgC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C</a:t>
            </a:r>
            <a:r>
              <a:rPr lang="en-US" sz="850" b="1" dirty="0" smtClean="0">
                <a:latin typeface="Consolas" pitchFamily="49" charset="0"/>
                <a:cs typeface="Calibri" pitchFamily="34" charset="0"/>
              </a:rPr>
              <a:t>"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…/&gt;</a:t>
            </a:r>
          </a:p>
          <a:p>
            <a:endParaRPr lang="cs-CZ" sz="850" b="1" dirty="0" smtClean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DefTok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Nazev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Objednavky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_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Prijem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…&gt;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="A"&gt;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DefSet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Param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Out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Type="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Hodnota="B"/&gt;  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 </a:t>
            </a:r>
          </a:p>
          <a:p>
            <a:endParaRPr lang="cs-CZ" sz="850" b="1" dirty="0" smtClean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="B"&gt;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DefSet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Param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Out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Type="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" Hodnota="C"/&gt;  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    </a:t>
            </a:r>
          </a:p>
          <a:p>
            <a:endParaRPr lang="cs-CZ" sz="850" b="1" dirty="0" smtClean="0">
              <a:latin typeface="Consolas" pitchFamily="49" charset="0"/>
              <a:cs typeface="Calibri" pitchFamily="34" charset="0"/>
            </a:endParaRP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  &lt;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DefBod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 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Misto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="C"/&gt;</a:t>
            </a:r>
          </a:p>
          <a:p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&lt;/</a:t>
            </a:r>
            <a:r>
              <a:rPr lang="cs-CZ" sz="850" b="1" dirty="0" err="1" smtClean="0">
                <a:latin typeface="Consolas" pitchFamily="49" charset="0"/>
                <a:cs typeface="Calibri" pitchFamily="34" charset="0"/>
              </a:rPr>
              <a:t>DefTok</a:t>
            </a:r>
            <a:r>
              <a:rPr lang="cs-CZ" sz="850" b="1" dirty="0" smtClean="0">
                <a:latin typeface="Consolas" pitchFamily="49" charset="0"/>
                <a:cs typeface="Calibri" pitchFamily="34" charset="0"/>
              </a:rPr>
              <a:t>&gt;    </a:t>
            </a:r>
            <a:endParaRPr lang="cs-CZ" sz="850" b="1" dirty="0">
              <a:latin typeface="Consolas" pitchFamily="49" charset="0"/>
              <a:cs typeface="Calibri" pitchFamily="34" charset="0"/>
            </a:endParaRPr>
          </a:p>
        </p:txBody>
      </p:sp>
      <p:sp>
        <p:nvSpPr>
          <p:cNvPr id="95" name="Line 929"/>
          <p:cNvSpPr>
            <a:spLocks noChangeShapeType="1"/>
          </p:cNvSpPr>
          <p:nvPr/>
        </p:nvSpPr>
        <p:spPr bwMode="auto">
          <a:xfrm>
            <a:off x="2411760" y="5085184"/>
            <a:ext cx="2736304" cy="100811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6" name="Line 930"/>
          <p:cNvSpPr>
            <a:spLocks noChangeShapeType="1"/>
          </p:cNvSpPr>
          <p:nvPr/>
        </p:nvSpPr>
        <p:spPr bwMode="auto">
          <a:xfrm flipV="1">
            <a:off x="2411760" y="3502025"/>
            <a:ext cx="2736825" cy="129512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Text Box 921"/>
          <p:cNvSpPr txBox="1">
            <a:spLocks noChangeArrowheads="1"/>
          </p:cNvSpPr>
          <p:nvPr/>
        </p:nvSpPr>
        <p:spPr bwMode="auto">
          <a:xfrm>
            <a:off x="1259632" y="4797153"/>
            <a:ext cx="1152128" cy="288032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2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GAM</a:t>
            </a:r>
            <a:endParaRPr lang="cs-CZ" sz="12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55" name="AutoShape 922"/>
          <p:cNvCxnSpPr>
            <a:cxnSpLocks noChangeShapeType="1"/>
            <a:stCxn id="54" idx="0"/>
          </p:cNvCxnSpPr>
          <p:nvPr/>
        </p:nvCxnSpPr>
        <p:spPr bwMode="auto">
          <a:xfrm rot="16200000" flipV="1">
            <a:off x="56395" y="3017852"/>
            <a:ext cx="2462485" cy="1096118"/>
          </a:xfrm>
          <a:prstGeom prst="curvedConnector3">
            <a:avLst>
              <a:gd name="adj1" fmla="val 40427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65" name="AutoShape 922"/>
          <p:cNvCxnSpPr>
            <a:cxnSpLocks noChangeShapeType="1"/>
            <a:stCxn id="54" idx="0"/>
          </p:cNvCxnSpPr>
          <p:nvPr/>
        </p:nvCxnSpPr>
        <p:spPr bwMode="auto">
          <a:xfrm rot="16200000" flipV="1">
            <a:off x="647564" y="3609021"/>
            <a:ext cx="1872209" cy="504056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77" name="AutoShape 922"/>
          <p:cNvCxnSpPr>
            <a:cxnSpLocks noChangeShapeType="1"/>
            <a:stCxn id="54" idx="0"/>
            <a:endCxn id="33" idx="3"/>
          </p:cNvCxnSpPr>
          <p:nvPr/>
        </p:nvCxnSpPr>
        <p:spPr bwMode="auto">
          <a:xfrm rot="5400000" flipH="1" flipV="1">
            <a:off x="1348459" y="2751478"/>
            <a:ext cx="2532913" cy="1558438"/>
          </a:xfrm>
          <a:prstGeom prst="curvedConnector3">
            <a:avLst>
              <a:gd name="adj1" fmla="val 67204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87" name="AutoShape 922"/>
          <p:cNvCxnSpPr>
            <a:cxnSpLocks noChangeShapeType="1"/>
            <a:stCxn id="54" idx="0"/>
          </p:cNvCxnSpPr>
          <p:nvPr/>
        </p:nvCxnSpPr>
        <p:spPr bwMode="auto">
          <a:xfrm rot="5400000" flipH="1" flipV="1">
            <a:off x="1727686" y="2672917"/>
            <a:ext cx="2232247" cy="2016226"/>
          </a:xfrm>
          <a:prstGeom prst="curvedConnector3">
            <a:avLst>
              <a:gd name="adj1" fmla="val 66001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91" name="AutoShape 922"/>
          <p:cNvCxnSpPr>
            <a:cxnSpLocks noChangeShapeType="1"/>
            <a:stCxn id="54" idx="0"/>
            <a:endCxn id="30" idx="3"/>
          </p:cNvCxnSpPr>
          <p:nvPr/>
        </p:nvCxnSpPr>
        <p:spPr bwMode="auto">
          <a:xfrm rot="5400000" flipH="1" flipV="1">
            <a:off x="2644652" y="1599747"/>
            <a:ext cx="2388450" cy="4006363"/>
          </a:xfrm>
          <a:prstGeom prst="curvedConnector3">
            <a:avLst>
              <a:gd name="adj1" fmla="val 41027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98" name="AutoShape 922"/>
          <p:cNvCxnSpPr>
            <a:cxnSpLocks noChangeShapeType="1"/>
            <a:stCxn id="54" idx="0"/>
            <a:endCxn id="53" idx="2"/>
          </p:cNvCxnSpPr>
          <p:nvPr/>
        </p:nvCxnSpPr>
        <p:spPr bwMode="auto">
          <a:xfrm rot="5400000" flipH="1" flipV="1">
            <a:off x="3220529" y="1313050"/>
            <a:ext cx="2099271" cy="4868937"/>
          </a:xfrm>
          <a:prstGeom prst="curvedConnector3">
            <a:avLst>
              <a:gd name="adj1" fmla="val 27540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105" name="AutoShape 848"/>
          <p:cNvCxnSpPr>
            <a:cxnSpLocks noChangeShapeType="1"/>
            <a:stCxn id="54" idx="0"/>
            <a:endCxn id="41" idx="3"/>
          </p:cNvCxnSpPr>
          <p:nvPr/>
        </p:nvCxnSpPr>
        <p:spPr bwMode="auto">
          <a:xfrm rot="5400000" flipH="1" flipV="1">
            <a:off x="2212436" y="3172053"/>
            <a:ext cx="1248361" cy="2001841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prstDash val="dash"/>
            <a:round/>
            <a:headEnd type="triangle" w="lg" len="med"/>
            <a:tailEnd type="none" w="lg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Volný tvar 139"/>
          <p:cNvSpPr/>
          <p:nvPr/>
        </p:nvSpPr>
        <p:spPr bwMode="auto">
          <a:xfrm>
            <a:off x="764381" y="1707356"/>
            <a:ext cx="5610834" cy="3214688"/>
          </a:xfrm>
          <a:custGeom>
            <a:avLst/>
            <a:gdLst>
              <a:gd name="connsiteX0" fmla="*/ 21432 w 5610834"/>
              <a:gd name="connsiteY0" fmla="*/ 1114425 h 3214688"/>
              <a:gd name="connsiteX1" fmla="*/ 21432 w 5610834"/>
              <a:gd name="connsiteY1" fmla="*/ 1114425 h 3214688"/>
              <a:gd name="connsiteX2" fmla="*/ 57150 w 5610834"/>
              <a:gd name="connsiteY2" fmla="*/ 992982 h 3214688"/>
              <a:gd name="connsiteX3" fmla="*/ 64294 w 5610834"/>
              <a:gd name="connsiteY3" fmla="*/ 971550 h 3214688"/>
              <a:gd name="connsiteX4" fmla="*/ 71438 w 5610834"/>
              <a:gd name="connsiteY4" fmla="*/ 935832 h 3214688"/>
              <a:gd name="connsiteX5" fmla="*/ 100013 w 5610834"/>
              <a:gd name="connsiteY5" fmla="*/ 871538 h 3214688"/>
              <a:gd name="connsiteX6" fmla="*/ 114300 w 5610834"/>
              <a:gd name="connsiteY6" fmla="*/ 828675 h 3214688"/>
              <a:gd name="connsiteX7" fmla="*/ 128588 w 5610834"/>
              <a:gd name="connsiteY7" fmla="*/ 785813 h 3214688"/>
              <a:gd name="connsiteX8" fmla="*/ 157163 w 5610834"/>
              <a:gd name="connsiteY8" fmla="*/ 742950 h 3214688"/>
              <a:gd name="connsiteX9" fmla="*/ 171450 w 5610834"/>
              <a:gd name="connsiteY9" fmla="*/ 721519 h 3214688"/>
              <a:gd name="connsiteX10" fmla="*/ 178594 w 5610834"/>
              <a:gd name="connsiteY10" fmla="*/ 700088 h 3214688"/>
              <a:gd name="connsiteX11" fmla="*/ 221457 w 5610834"/>
              <a:gd name="connsiteY11" fmla="*/ 657225 h 3214688"/>
              <a:gd name="connsiteX12" fmla="*/ 250032 w 5610834"/>
              <a:gd name="connsiteY12" fmla="*/ 621507 h 3214688"/>
              <a:gd name="connsiteX13" fmla="*/ 300038 w 5610834"/>
              <a:gd name="connsiteY13" fmla="*/ 578644 h 3214688"/>
              <a:gd name="connsiteX14" fmla="*/ 321469 w 5610834"/>
              <a:gd name="connsiteY14" fmla="*/ 557213 h 3214688"/>
              <a:gd name="connsiteX15" fmla="*/ 335757 w 5610834"/>
              <a:gd name="connsiteY15" fmla="*/ 535782 h 3214688"/>
              <a:gd name="connsiteX16" fmla="*/ 378619 w 5610834"/>
              <a:gd name="connsiteY16" fmla="*/ 514350 h 3214688"/>
              <a:gd name="connsiteX17" fmla="*/ 400050 w 5610834"/>
              <a:gd name="connsiteY17" fmla="*/ 492919 h 3214688"/>
              <a:gd name="connsiteX18" fmla="*/ 442913 w 5610834"/>
              <a:gd name="connsiteY18" fmla="*/ 464344 h 3214688"/>
              <a:gd name="connsiteX19" fmla="*/ 485775 w 5610834"/>
              <a:gd name="connsiteY19" fmla="*/ 450057 h 3214688"/>
              <a:gd name="connsiteX20" fmla="*/ 507207 w 5610834"/>
              <a:gd name="connsiteY20" fmla="*/ 435769 h 3214688"/>
              <a:gd name="connsiteX21" fmla="*/ 542925 w 5610834"/>
              <a:gd name="connsiteY21" fmla="*/ 407194 h 3214688"/>
              <a:gd name="connsiteX22" fmla="*/ 564357 w 5610834"/>
              <a:gd name="connsiteY22" fmla="*/ 400050 h 3214688"/>
              <a:gd name="connsiteX23" fmla="*/ 628650 w 5610834"/>
              <a:gd name="connsiteY23" fmla="*/ 364332 h 3214688"/>
              <a:gd name="connsiteX24" fmla="*/ 650082 w 5610834"/>
              <a:gd name="connsiteY24" fmla="*/ 350044 h 3214688"/>
              <a:gd name="connsiteX25" fmla="*/ 692944 w 5610834"/>
              <a:gd name="connsiteY25" fmla="*/ 335757 h 3214688"/>
              <a:gd name="connsiteX26" fmla="*/ 735807 w 5610834"/>
              <a:gd name="connsiteY26" fmla="*/ 307182 h 3214688"/>
              <a:gd name="connsiteX27" fmla="*/ 757238 w 5610834"/>
              <a:gd name="connsiteY27" fmla="*/ 300038 h 3214688"/>
              <a:gd name="connsiteX28" fmla="*/ 778669 w 5610834"/>
              <a:gd name="connsiteY28" fmla="*/ 285750 h 3214688"/>
              <a:gd name="connsiteX29" fmla="*/ 828675 w 5610834"/>
              <a:gd name="connsiteY29" fmla="*/ 271463 h 3214688"/>
              <a:gd name="connsiteX30" fmla="*/ 871538 w 5610834"/>
              <a:gd name="connsiteY30" fmla="*/ 257175 h 3214688"/>
              <a:gd name="connsiteX31" fmla="*/ 892969 w 5610834"/>
              <a:gd name="connsiteY31" fmla="*/ 250032 h 3214688"/>
              <a:gd name="connsiteX32" fmla="*/ 921544 w 5610834"/>
              <a:gd name="connsiteY32" fmla="*/ 242888 h 3214688"/>
              <a:gd name="connsiteX33" fmla="*/ 942975 w 5610834"/>
              <a:gd name="connsiteY33" fmla="*/ 228600 h 3214688"/>
              <a:gd name="connsiteX34" fmla="*/ 1028700 w 5610834"/>
              <a:gd name="connsiteY34" fmla="*/ 207169 h 3214688"/>
              <a:gd name="connsiteX35" fmla="*/ 1114425 w 5610834"/>
              <a:gd name="connsiteY35" fmla="*/ 192882 h 3214688"/>
              <a:gd name="connsiteX36" fmla="*/ 1171575 w 5610834"/>
              <a:gd name="connsiteY36" fmla="*/ 178594 h 3214688"/>
              <a:gd name="connsiteX37" fmla="*/ 1257300 w 5610834"/>
              <a:gd name="connsiteY37" fmla="*/ 164307 h 3214688"/>
              <a:gd name="connsiteX38" fmla="*/ 1314450 w 5610834"/>
              <a:gd name="connsiteY38" fmla="*/ 150019 h 3214688"/>
              <a:gd name="connsiteX39" fmla="*/ 1385888 w 5610834"/>
              <a:gd name="connsiteY39" fmla="*/ 128588 h 3214688"/>
              <a:gd name="connsiteX40" fmla="*/ 1785938 w 5610834"/>
              <a:gd name="connsiteY40" fmla="*/ 107157 h 3214688"/>
              <a:gd name="connsiteX41" fmla="*/ 1850232 w 5610834"/>
              <a:gd name="connsiteY41" fmla="*/ 100013 h 3214688"/>
              <a:gd name="connsiteX42" fmla="*/ 1900238 w 5610834"/>
              <a:gd name="connsiteY42" fmla="*/ 85725 h 3214688"/>
              <a:gd name="connsiteX43" fmla="*/ 1928813 w 5610834"/>
              <a:gd name="connsiteY43" fmla="*/ 78582 h 3214688"/>
              <a:gd name="connsiteX44" fmla="*/ 2021682 w 5610834"/>
              <a:gd name="connsiteY44" fmla="*/ 71438 h 3214688"/>
              <a:gd name="connsiteX45" fmla="*/ 2078832 w 5610834"/>
              <a:gd name="connsiteY45" fmla="*/ 64294 h 3214688"/>
              <a:gd name="connsiteX46" fmla="*/ 2150269 w 5610834"/>
              <a:gd name="connsiteY46" fmla="*/ 57150 h 3214688"/>
              <a:gd name="connsiteX47" fmla="*/ 2200275 w 5610834"/>
              <a:gd name="connsiteY47" fmla="*/ 50007 h 3214688"/>
              <a:gd name="connsiteX48" fmla="*/ 2300288 w 5610834"/>
              <a:gd name="connsiteY48" fmla="*/ 42863 h 3214688"/>
              <a:gd name="connsiteX49" fmla="*/ 2407444 w 5610834"/>
              <a:gd name="connsiteY49" fmla="*/ 28575 h 3214688"/>
              <a:gd name="connsiteX50" fmla="*/ 2478882 w 5610834"/>
              <a:gd name="connsiteY50" fmla="*/ 21432 h 3214688"/>
              <a:gd name="connsiteX51" fmla="*/ 2578894 w 5610834"/>
              <a:gd name="connsiteY51" fmla="*/ 7144 h 3214688"/>
              <a:gd name="connsiteX52" fmla="*/ 2686050 w 5610834"/>
              <a:gd name="connsiteY52" fmla="*/ 0 h 3214688"/>
              <a:gd name="connsiteX53" fmla="*/ 3429000 w 5610834"/>
              <a:gd name="connsiteY53" fmla="*/ 14288 h 3214688"/>
              <a:gd name="connsiteX54" fmla="*/ 3486150 w 5610834"/>
              <a:gd name="connsiteY54" fmla="*/ 21432 h 3214688"/>
              <a:gd name="connsiteX55" fmla="*/ 3750469 w 5610834"/>
              <a:gd name="connsiteY55" fmla="*/ 35719 h 3214688"/>
              <a:gd name="connsiteX56" fmla="*/ 3843338 w 5610834"/>
              <a:gd name="connsiteY56" fmla="*/ 57150 h 3214688"/>
              <a:gd name="connsiteX57" fmla="*/ 3893344 w 5610834"/>
              <a:gd name="connsiteY57" fmla="*/ 64294 h 3214688"/>
              <a:gd name="connsiteX58" fmla="*/ 3971925 w 5610834"/>
              <a:gd name="connsiteY58" fmla="*/ 78582 h 3214688"/>
              <a:gd name="connsiteX59" fmla="*/ 4000500 w 5610834"/>
              <a:gd name="connsiteY59" fmla="*/ 85725 h 3214688"/>
              <a:gd name="connsiteX60" fmla="*/ 4036219 w 5610834"/>
              <a:gd name="connsiteY60" fmla="*/ 100013 h 3214688"/>
              <a:gd name="connsiteX61" fmla="*/ 4093369 w 5610834"/>
              <a:gd name="connsiteY61" fmla="*/ 107157 h 3214688"/>
              <a:gd name="connsiteX62" fmla="*/ 4121944 w 5610834"/>
              <a:gd name="connsiteY62" fmla="*/ 114300 h 3214688"/>
              <a:gd name="connsiteX63" fmla="*/ 4221957 w 5610834"/>
              <a:gd name="connsiteY63" fmla="*/ 128588 h 3214688"/>
              <a:gd name="connsiteX64" fmla="*/ 4279107 w 5610834"/>
              <a:gd name="connsiteY64" fmla="*/ 142875 h 3214688"/>
              <a:gd name="connsiteX65" fmla="*/ 4379119 w 5610834"/>
              <a:gd name="connsiteY65" fmla="*/ 164307 h 3214688"/>
              <a:gd name="connsiteX66" fmla="*/ 4436269 w 5610834"/>
              <a:gd name="connsiteY66" fmla="*/ 178594 h 3214688"/>
              <a:gd name="connsiteX67" fmla="*/ 4471988 w 5610834"/>
              <a:gd name="connsiteY67" fmla="*/ 192882 h 3214688"/>
              <a:gd name="connsiteX68" fmla="*/ 4543425 w 5610834"/>
              <a:gd name="connsiteY68" fmla="*/ 207169 h 3214688"/>
              <a:gd name="connsiteX69" fmla="*/ 4579144 w 5610834"/>
              <a:gd name="connsiteY69" fmla="*/ 214313 h 3214688"/>
              <a:gd name="connsiteX70" fmla="*/ 4600575 w 5610834"/>
              <a:gd name="connsiteY70" fmla="*/ 221457 h 3214688"/>
              <a:gd name="connsiteX71" fmla="*/ 4636294 w 5610834"/>
              <a:gd name="connsiteY71" fmla="*/ 235744 h 3214688"/>
              <a:gd name="connsiteX72" fmla="*/ 4700588 w 5610834"/>
              <a:gd name="connsiteY72" fmla="*/ 278607 h 3214688"/>
              <a:gd name="connsiteX73" fmla="*/ 4764882 w 5610834"/>
              <a:gd name="connsiteY73" fmla="*/ 314325 h 3214688"/>
              <a:gd name="connsiteX74" fmla="*/ 4843463 w 5610834"/>
              <a:gd name="connsiteY74" fmla="*/ 371475 h 3214688"/>
              <a:gd name="connsiteX75" fmla="*/ 4893469 w 5610834"/>
              <a:gd name="connsiteY75" fmla="*/ 407194 h 3214688"/>
              <a:gd name="connsiteX76" fmla="*/ 4950619 w 5610834"/>
              <a:gd name="connsiteY76" fmla="*/ 435769 h 3214688"/>
              <a:gd name="connsiteX77" fmla="*/ 5014913 w 5610834"/>
              <a:gd name="connsiteY77" fmla="*/ 485775 h 3214688"/>
              <a:gd name="connsiteX78" fmla="*/ 5043488 w 5610834"/>
              <a:gd name="connsiteY78" fmla="*/ 507207 h 3214688"/>
              <a:gd name="connsiteX79" fmla="*/ 5072063 w 5610834"/>
              <a:gd name="connsiteY79" fmla="*/ 528638 h 3214688"/>
              <a:gd name="connsiteX80" fmla="*/ 5129213 w 5610834"/>
              <a:gd name="connsiteY80" fmla="*/ 564357 h 3214688"/>
              <a:gd name="connsiteX81" fmla="*/ 5164932 w 5610834"/>
              <a:gd name="connsiteY81" fmla="*/ 585788 h 3214688"/>
              <a:gd name="connsiteX82" fmla="*/ 5193507 w 5610834"/>
              <a:gd name="connsiteY82" fmla="*/ 600075 h 3214688"/>
              <a:gd name="connsiteX83" fmla="*/ 5207794 w 5610834"/>
              <a:gd name="connsiteY83" fmla="*/ 621507 h 3214688"/>
              <a:gd name="connsiteX84" fmla="*/ 5229225 w 5610834"/>
              <a:gd name="connsiteY84" fmla="*/ 628650 h 3214688"/>
              <a:gd name="connsiteX85" fmla="*/ 5250657 w 5610834"/>
              <a:gd name="connsiteY85" fmla="*/ 642938 h 3214688"/>
              <a:gd name="connsiteX86" fmla="*/ 5279232 w 5610834"/>
              <a:gd name="connsiteY86" fmla="*/ 650082 h 3214688"/>
              <a:gd name="connsiteX87" fmla="*/ 5343525 w 5610834"/>
              <a:gd name="connsiteY87" fmla="*/ 671513 h 3214688"/>
              <a:gd name="connsiteX88" fmla="*/ 5386388 w 5610834"/>
              <a:gd name="connsiteY88" fmla="*/ 692944 h 3214688"/>
              <a:gd name="connsiteX89" fmla="*/ 5422107 w 5610834"/>
              <a:gd name="connsiteY89" fmla="*/ 707232 h 3214688"/>
              <a:gd name="connsiteX90" fmla="*/ 5493544 w 5610834"/>
              <a:gd name="connsiteY90" fmla="*/ 757238 h 3214688"/>
              <a:gd name="connsiteX91" fmla="*/ 5507832 w 5610834"/>
              <a:gd name="connsiteY91" fmla="*/ 778669 h 3214688"/>
              <a:gd name="connsiteX92" fmla="*/ 5522119 w 5610834"/>
              <a:gd name="connsiteY92" fmla="*/ 835819 h 3214688"/>
              <a:gd name="connsiteX93" fmla="*/ 5536407 w 5610834"/>
              <a:gd name="connsiteY93" fmla="*/ 878682 h 3214688"/>
              <a:gd name="connsiteX94" fmla="*/ 5550694 w 5610834"/>
              <a:gd name="connsiteY94" fmla="*/ 921544 h 3214688"/>
              <a:gd name="connsiteX95" fmla="*/ 5564982 w 5610834"/>
              <a:gd name="connsiteY95" fmla="*/ 957263 h 3214688"/>
              <a:gd name="connsiteX96" fmla="*/ 5579269 w 5610834"/>
              <a:gd name="connsiteY96" fmla="*/ 1007269 h 3214688"/>
              <a:gd name="connsiteX97" fmla="*/ 5593557 w 5610834"/>
              <a:gd name="connsiteY97" fmla="*/ 1035844 h 3214688"/>
              <a:gd name="connsiteX98" fmla="*/ 5593557 w 5610834"/>
              <a:gd name="connsiteY98" fmla="*/ 1321594 h 3214688"/>
              <a:gd name="connsiteX99" fmla="*/ 5586413 w 5610834"/>
              <a:gd name="connsiteY99" fmla="*/ 1343025 h 3214688"/>
              <a:gd name="connsiteX100" fmla="*/ 5572125 w 5610834"/>
              <a:gd name="connsiteY100" fmla="*/ 1364457 h 3214688"/>
              <a:gd name="connsiteX101" fmla="*/ 5536407 w 5610834"/>
              <a:gd name="connsiteY101" fmla="*/ 1428750 h 3214688"/>
              <a:gd name="connsiteX102" fmla="*/ 5486400 w 5610834"/>
              <a:gd name="connsiteY102" fmla="*/ 1464469 h 3214688"/>
              <a:gd name="connsiteX103" fmla="*/ 5422107 w 5610834"/>
              <a:gd name="connsiteY103" fmla="*/ 1507332 h 3214688"/>
              <a:gd name="connsiteX104" fmla="*/ 5379244 w 5610834"/>
              <a:gd name="connsiteY104" fmla="*/ 1521619 h 3214688"/>
              <a:gd name="connsiteX105" fmla="*/ 5357813 w 5610834"/>
              <a:gd name="connsiteY105" fmla="*/ 1528763 h 3214688"/>
              <a:gd name="connsiteX106" fmla="*/ 5336382 w 5610834"/>
              <a:gd name="connsiteY106" fmla="*/ 1535907 h 3214688"/>
              <a:gd name="connsiteX107" fmla="*/ 5314950 w 5610834"/>
              <a:gd name="connsiteY107" fmla="*/ 1543050 h 3214688"/>
              <a:gd name="connsiteX108" fmla="*/ 5250657 w 5610834"/>
              <a:gd name="connsiteY108" fmla="*/ 1578769 h 3214688"/>
              <a:gd name="connsiteX109" fmla="*/ 5229225 w 5610834"/>
              <a:gd name="connsiteY109" fmla="*/ 1600200 h 3214688"/>
              <a:gd name="connsiteX110" fmla="*/ 5207794 w 5610834"/>
              <a:gd name="connsiteY110" fmla="*/ 1614488 h 3214688"/>
              <a:gd name="connsiteX111" fmla="*/ 5157788 w 5610834"/>
              <a:gd name="connsiteY111" fmla="*/ 1671638 h 3214688"/>
              <a:gd name="connsiteX112" fmla="*/ 5136357 w 5610834"/>
              <a:gd name="connsiteY112" fmla="*/ 1678782 h 3214688"/>
              <a:gd name="connsiteX113" fmla="*/ 5086350 w 5610834"/>
              <a:gd name="connsiteY113" fmla="*/ 1707357 h 3214688"/>
              <a:gd name="connsiteX114" fmla="*/ 5064919 w 5610834"/>
              <a:gd name="connsiteY114" fmla="*/ 1714500 h 3214688"/>
              <a:gd name="connsiteX115" fmla="*/ 5000625 w 5610834"/>
              <a:gd name="connsiteY115" fmla="*/ 1757363 h 3214688"/>
              <a:gd name="connsiteX116" fmla="*/ 4979194 w 5610834"/>
              <a:gd name="connsiteY116" fmla="*/ 1764507 h 3214688"/>
              <a:gd name="connsiteX117" fmla="*/ 4957763 w 5610834"/>
              <a:gd name="connsiteY117" fmla="*/ 1778794 h 3214688"/>
              <a:gd name="connsiteX118" fmla="*/ 4936332 w 5610834"/>
              <a:gd name="connsiteY118" fmla="*/ 1785938 h 3214688"/>
              <a:gd name="connsiteX119" fmla="*/ 4914900 w 5610834"/>
              <a:gd name="connsiteY119" fmla="*/ 1800225 h 3214688"/>
              <a:gd name="connsiteX120" fmla="*/ 4822032 w 5610834"/>
              <a:gd name="connsiteY120" fmla="*/ 1821657 h 3214688"/>
              <a:gd name="connsiteX121" fmla="*/ 4793457 w 5610834"/>
              <a:gd name="connsiteY121" fmla="*/ 1828800 h 3214688"/>
              <a:gd name="connsiteX122" fmla="*/ 4736307 w 5610834"/>
              <a:gd name="connsiteY122" fmla="*/ 1843088 h 3214688"/>
              <a:gd name="connsiteX123" fmla="*/ 4707732 w 5610834"/>
              <a:gd name="connsiteY123" fmla="*/ 1857375 h 3214688"/>
              <a:gd name="connsiteX124" fmla="*/ 4686300 w 5610834"/>
              <a:gd name="connsiteY124" fmla="*/ 1864519 h 3214688"/>
              <a:gd name="connsiteX125" fmla="*/ 4650582 w 5610834"/>
              <a:gd name="connsiteY125" fmla="*/ 1885950 h 3214688"/>
              <a:gd name="connsiteX126" fmla="*/ 4629150 w 5610834"/>
              <a:gd name="connsiteY126" fmla="*/ 1900238 h 3214688"/>
              <a:gd name="connsiteX127" fmla="*/ 4607719 w 5610834"/>
              <a:gd name="connsiteY127" fmla="*/ 1907382 h 3214688"/>
              <a:gd name="connsiteX128" fmla="*/ 4529138 w 5610834"/>
              <a:gd name="connsiteY128" fmla="*/ 1943100 h 3214688"/>
              <a:gd name="connsiteX129" fmla="*/ 4486275 w 5610834"/>
              <a:gd name="connsiteY129" fmla="*/ 1971675 h 3214688"/>
              <a:gd name="connsiteX130" fmla="*/ 4464844 w 5610834"/>
              <a:gd name="connsiteY130" fmla="*/ 1993107 h 3214688"/>
              <a:gd name="connsiteX131" fmla="*/ 4414838 w 5610834"/>
              <a:gd name="connsiteY131" fmla="*/ 2028825 h 3214688"/>
              <a:gd name="connsiteX132" fmla="*/ 4393407 w 5610834"/>
              <a:gd name="connsiteY132" fmla="*/ 2035969 h 3214688"/>
              <a:gd name="connsiteX133" fmla="*/ 4364832 w 5610834"/>
              <a:gd name="connsiteY133" fmla="*/ 2057400 h 3214688"/>
              <a:gd name="connsiteX134" fmla="*/ 4300538 w 5610834"/>
              <a:gd name="connsiteY134" fmla="*/ 2100263 h 3214688"/>
              <a:gd name="connsiteX135" fmla="*/ 4279107 w 5610834"/>
              <a:gd name="connsiteY135" fmla="*/ 2121694 h 3214688"/>
              <a:gd name="connsiteX136" fmla="*/ 4257675 w 5610834"/>
              <a:gd name="connsiteY136" fmla="*/ 2135982 h 3214688"/>
              <a:gd name="connsiteX137" fmla="*/ 4229100 w 5610834"/>
              <a:gd name="connsiteY137" fmla="*/ 2157413 h 3214688"/>
              <a:gd name="connsiteX138" fmla="*/ 4207669 w 5610834"/>
              <a:gd name="connsiteY138" fmla="*/ 2171700 h 3214688"/>
              <a:gd name="connsiteX139" fmla="*/ 4157663 w 5610834"/>
              <a:gd name="connsiteY139" fmla="*/ 2221707 h 3214688"/>
              <a:gd name="connsiteX140" fmla="*/ 4136232 w 5610834"/>
              <a:gd name="connsiteY140" fmla="*/ 2235994 h 3214688"/>
              <a:gd name="connsiteX141" fmla="*/ 4114800 w 5610834"/>
              <a:gd name="connsiteY141" fmla="*/ 2257425 h 3214688"/>
              <a:gd name="connsiteX142" fmla="*/ 4071938 w 5610834"/>
              <a:gd name="connsiteY142" fmla="*/ 2286000 h 3214688"/>
              <a:gd name="connsiteX143" fmla="*/ 4050507 w 5610834"/>
              <a:gd name="connsiteY143" fmla="*/ 2307432 h 3214688"/>
              <a:gd name="connsiteX144" fmla="*/ 4029075 w 5610834"/>
              <a:gd name="connsiteY144" fmla="*/ 2321719 h 3214688"/>
              <a:gd name="connsiteX145" fmla="*/ 4007644 w 5610834"/>
              <a:gd name="connsiteY145" fmla="*/ 2343150 h 3214688"/>
              <a:gd name="connsiteX146" fmla="*/ 3929063 w 5610834"/>
              <a:gd name="connsiteY146" fmla="*/ 2414588 h 3214688"/>
              <a:gd name="connsiteX147" fmla="*/ 3850482 w 5610834"/>
              <a:gd name="connsiteY147" fmla="*/ 2493169 h 3214688"/>
              <a:gd name="connsiteX148" fmla="*/ 3807619 w 5610834"/>
              <a:gd name="connsiteY148" fmla="*/ 2536032 h 3214688"/>
              <a:gd name="connsiteX149" fmla="*/ 3779044 w 5610834"/>
              <a:gd name="connsiteY149" fmla="*/ 2557463 h 3214688"/>
              <a:gd name="connsiteX150" fmla="*/ 3729038 w 5610834"/>
              <a:gd name="connsiteY150" fmla="*/ 2593182 h 3214688"/>
              <a:gd name="connsiteX151" fmla="*/ 3686175 w 5610834"/>
              <a:gd name="connsiteY151" fmla="*/ 2621757 h 3214688"/>
              <a:gd name="connsiteX152" fmla="*/ 3643313 w 5610834"/>
              <a:gd name="connsiteY152" fmla="*/ 2657475 h 3214688"/>
              <a:gd name="connsiteX153" fmla="*/ 3586163 w 5610834"/>
              <a:gd name="connsiteY153" fmla="*/ 2686050 h 3214688"/>
              <a:gd name="connsiteX154" fmla="*/ 3529013 w 5610834"/>
              <a:gd name="connsiteY154" fmla="*/ 2721769 h 3214688"/>
              <a:gd name="connsiteX155" fmla="*/ 3500438 w 5610834"/>
              <a:gd name="connsiteY155" fmla="*/ 2743200 h 3214688"/>
              <a:gd name="connsiteX156" fmla="*/ 3436144 w 5610834"/>
              <a:gd name="connsiteY156" fmla="*/ 2786063 h 3214688"/>
              <a:gd name="connsiteX157" fmla="*/ 3414713 w 5610834"/>
              <a:gd name="connsiteY157" fmla="*/ 2793207 h 3214688"/>
              <a:gd name="connsiteX158" fmla="*/ 3393282 w 5610834"/>
              <a:gd name="connsiteY158" fmla="*/ 2814638 h 3214688"/>
              <a:gd name="connsiteX159" fmla="*/ 3371850 w 5610834"/>
              <a:gd name="connsiteY159" fmla="*/ 2821782 h 3214688"/>
              <a:gd name="connsiteX160" fmla="*/ 3343275 w 5610834"/>
              <a:gd name="connsiteY160" fmla="*/ 2836069 h 3214688"/>
              <a:gd name="connsiteX161" fmla="*/ 3300413 w 5610834"/>
              <a:gd name="connsiteY161" fmla="*/ 2857500 h 3214688"/>
              <a:gd name="connsiteX162" fmla="*/ 3236119 w 5610834"/>
              <a:gd name="connsiteY162" fmla="*/ 2900363 h 3214688"/>
              <a:gd name="connsiteX163" fmla="*/ 3207544 w 5610834"/>
              <a:gd name="connsiteY163" fmla="*/ 2928938 h 3214688"/>
              <a:gd name="connsiteX164" fmla="*/ 3164682 w 5610834"/>
              <a:gd name="connsiteY164" fmla="*/ 2950369 h 3214688"/>
              <a:gd name="connsiteX165" fmla="*/ 3121819 w 5610834"/>
              <a:gd name="connsiteY165" fmla="*/ 2978944 h 3214688"/>
              <a:gd name="connsiteX166" fmla="*/ 3100388 w 5610834"/>
              <a:gd name="connsiteY166" fmla="*/ 2986088 h 3214688"/>
              <a:gd name="connsiteX167" fmla="*/ 3036094 w 5610834"/>
              <a:gd name="connsiteY167" fmla="*/ 3007519 h 3214688"/>
              <a:gd name="connsiteX168" fmla="*/ 3014663 w 5610834"/>
              <a:gd name="connsiteY168" fmla="*/ 3021807 h 3214688"/>
              <a:gd name="connsiteX169" fmla="*/ 2993232 w 5610834"/>
              <a:gd name="connsiteY169" fmla="*/ 3028950 h 3214688"/>
              <a:gd name="connsiteX170" fmla="*/ 2964657 w 5610834"/>
              <a:gd name="connsiteY170" fmla="*/ 3043238 h 3214688"/>
              <a:gd name="connsiteX171" fmla="*/ 2943225 w 5610834"/>
              <a:gd name="connsiteY171" fmla="*/ 3050382 h 3214688"/>
              <a:gd name="connsiteX172" fmla="*/ 2914650 w 5610834"/>
              <a:gd name="connsiteY172" fmla="*/ 3064669 h 3214688"/>
              <a:gd name="connsiteX173" fmla="*/ 2843213 w 5610834"/>
              <a:gd name="connsiteY173" fmla="*/ 3086100 h 3214688"/>
              <a:gd name="connsiteX174" fmla="*/ 2807494 w 5610834"/>
              <a:gd name="connsiteY174" fmla="*/ 3093244 h 3214688"/>
              <a:gd name="connsiteX175" fmla="*/ 2778919 w 5610834"/>
              <a:gd name="connsiteY175" fmla="*/ 3100388 h 3214688"/>
              <a:gd name="connsiteX176" fmla="*/ 2714625 w 5610834"/>
              <a:gd name="connsiteY176" fmla="*/ 3121819 h 3214688"/>
              <a:gd name="connsiteX177" fmla="*/ 2650332 w 5610834"/>
              <a:gd name="connsiteY177" fmla="*/ 3128963 h 3214688"/>
              <a:gd name="connsiteX178" fmla="*/ 2621757 w 5610834"/>
              <a:gd name="connsiteY178" fmla="*/ 3143250 h 3214688"/>
              <a:gd name="connsiteX179" fmla="*/ 2471738 w 5610834"/>
              <a:gd name="connsiteY179" fmla="*/ 3157538 h 3214688"/>
              <a:gd name="connsiteX180" fmla="*/ 2264569 w 5610834"/>
              <a:gd name="connsiteY180" fmla="*/ 3164682 h 3214688"/>
              <a:gd name="connsiteX181" fmla="*/ 2135982 w 5610834"/>
              <a:gd name="connsiteY181" fmla="*/ 3171825 h 3214688"/>
              <a:gd name="connsiteX182" fmla="*/ 1943100 w 5610834"/>
              <a:gd name="connsiteY182" fmla="*/ 3178969 h 3214688"/>
              <a:gd name="connsiteX183" fmla="*/ 1800225 w 5610834"/>
              <a:gd name="connsiteY183" fmla="*/ 3186113 h 3214688"/>
              <a:gd name="connsiteX184" fmla="*/ 1650207 w 5610834"/>
              <a:gd name="connsiteY184" fmla="*/ 3200400 h 3214688"/>
              <a:gd name="connsiteX185" fmla="*/ 1571625 w 5610834"/>
              <a:gd name="connsiteY185" fmla="*/ 3207544 h 3214688"/>
              <a:gd name="connsiteX186" fmla="*/ 1357313 w 5610834"/>
              <a:gd name="connsiteY186" fmla="*/ 3214688 h 3214688"/>
              <a:gd name="connsiteX187" fmla="*/ 978694 w 5610834"/>
              <a:gd name="connsiteY187" fmla="*/ 3200400 h 3214688"/>
              <a:gd name="connsiteX188" fmla="*/ 921544 w 5610834"/>
              <a:gd name="connsiteY188" fmla="*/ 3193257 h 3214688"/>
              <a:gd name="connsiteX189" fmla="*/ 828675 w 5610834"/>
              <a:gd name="connsiteY189" fmla="*/ 3178969 h 3214688"/>
              <a:gd name="connsiteX190" fmla="*/ 778669 w 5610834"/>
              <a:gd name="connsiteY190" fmla="*/ 3164682 h 3214688"/>
              <a:gd name="connsiteX191" fmla="*/ 735807 w 5610834"/>
              <a:gd name="connsiteY191" fmla="*/ 3157538 h 3214688"/>
              <a:gd name="connsiteX192" fmla="*/ 657225 w 5610834"/>
              <a:gd name="connsiteY192" fmla="*/ 3143250 h 3214688"/>
              <a:gd name="connsiteX193" fmla="*/ 600075 w 5610834"/>
              <a:gd name="connsiteY193" fmla="*/ 3121819 h 3214688"/>
              <a:gd name="connsiteX194" fmla="*/ 578644 w 5610834"/>
              <a:gd name="connsiteY194" fmla="*/ 3114675 h 3214688"/>
              <a:gd name="connsiteX195" fmla="*/ 507207 w 5610834"/>
              <a:gd name="connsiteY195" fmla="*/ 3086100 h 3214688"/>
              <a:gd name="connsiteX196" fmla="*/ 492919 w 5610834"/>
              <a:gd name="connsiteY196" fmla="*/ 3064669 h 3214688"/>
              <a:gd name="connsiteX197" fmla="*/ 435769 w 5610834"/>
              <a:gd name="connsiteY197" fmla="*/ 3043238 h 3214688"/>
              <a:gd name="connsiteX198" fmla="*/ 407194 w 5610834"/>
              <a:gd name="connsiteY198" fmla="*/ 3021807 h 3214688"/>
              <a:gd name="connsiteX199" fmla="*/ 385763 w 5610834"/>
              <a:gd name="connsiteY199" fmla="*/ 3014663 h 3214688"/>
              <a:gd name="connsiteX200" fmla="*/ 364332 w 5610834"/>
              <a:gd name="connsiteY200" fmla="*/ 3000375 h 3214688"/>
              <a:gd name="connsiteX201" fmla="*/ 321469 w 5610834"/>
              <a:gd name="connsiteY201" fmla="*/ 2964657 h 3214688"/>
              <a:gd name="connsiteX202" fmla="*/ 300038 w 5610834"/>
              <a:gd name="connsiteY202" fmla="*/ 2943225 h 3214688"/>
              <a:gd name="connsiteX203" fmla="*/ 271463 w 5610834"/>
              <a:gd name="connsiteY203" fmla="*/ 2928938 h 3214688"/>
              <a:gd name="connsiteX204" fmla="*/ 228600 w 5610834"/>
              <a:gd name="connsiteY204" fmla="*/ 2900363 h 3214688"/>
              <a:gd name="connsiteX205" fmla="*/ 207169 w 5610834"/>
              <a:gd name="connsiteY205" fmla="*/ 2864644 h 3214688"/>
              <a:gd name="connsiteX206" fmla="*/ 185738 w 5610834"/>
              <a:gd name="connsiteY206" fmla="*/ 2836069 h 3214688"/>
              <a:gd name="connsiteX207" fmla="*/ 142875 w 5610834"/>
              <a:gd name="connsiteY207" fmla="*/ 2764632 h 3214688"/>
              <a:gd name="connsiteX208" fmla="*/ 100013 w 5610834"/>
              <a:gd name="connsiteY208" fmla="*/ 2721769 h 3214688"/>
              <a:gd name="connsiteX209" fmla="*/ 92869 w 5610834"/>
              <a:gd name="connsiteY209" fmla="*/ 2686050 h 3214688"/>
              <a:gd name="connsiteX210" fmla="*/ 85725 w 5610834"/>
              <a:gd name="connsiteY210" fmla="*/ 2664619 h 3214688"/>
              <a:gd name="connsiteX211" fmla="*/ 64294 w 5610834"/>
              <a:gd name="connsiteY211" fmla="*/ 2450307 h 3214688"/>
              <a:gd name="connsiteX212" fmla="*/ 57150 w 5610834"/>
              <a:gd name="connsiteY212" fmla="*/ 2371725 h 3214688"/>
              <a:gd name="connsiteX213" fmla="*/ 42863 w 5610834"/>
              <a:gd name="connsiteY213" fmla="*/ 2286000 h 3214688"/>
              <a:gd name="connsiteX214" fmla="*/ 28575 w 5610834"/>
              <a:gd name="connsiteY214" fmla="*/ 2143125 h 3214688"/>
              <a:gd name="connsiteX215" fmla="*/ 7144 w 5610834"/>
              <a:gd name="connsiteY215" fmla="*/ 1793082 h 3214688"/>
              <a:gd name="connsiteX216" fmla="*/ 0 w 5610834"/>
              <a:gd name="connsiteY216" fmla="*/ 1750219 h 3214688"/>
              <a:gd name="connsiteX217" fmla="*/ 7144 w 5610834"/>
              <a:gd name="connsiteY217" fmla="*/ 1157288 h 3214688"/>
              <a:gd name="connsiteX218" fmla="*/ 21432 w 5610834"/>
              <a:gd name="connsiteY218" fmla="*/ 1114425 h 321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5610834" h="3214688">
                <a:moveTo>
                  <a:pt x="21432" y="1114425"/>
                </a:moveTo>
                <a:lnTo>
                  <a:pt x="21432" y="1114425"/>
                </a:lnTo>
                <a:cubicBezTo>
                  <a:pt x="49073" y="1031503"/>
                  <a:pt x="37384" y="1072048"/>
                  <a:pt x="57150" y="992982"/>
                </a:cubicBezTo>
                <a:cubicBezTo>
                  <a:pt x="58976" y="985676"/>
                  <a:pt x="62468" y="978856"/>
                  <a:pt x="64294" y="971550"/>
                </a:cubicBezTo>
                <a:cubicBezTo>
                  <a:pt x="67239" y="959771"/>
                  <a:pt x="68243" y="947546"/>
                  <a:pt x="71438" y="935832"/>
                </a:cubicBezTo>
                <a:cubicBezTo>
                  <a:pt x="101469" y="825717"/>
                  <a:pt x="69943" y="939196"/>
                  <a:pt x="100013" y="871538"/>
                </a:cubicBezTo>
                <a:cubicBezTo>
                  <a:pt x="106130" y="857776"/>
                  <a:pt x="109538" y="842963"/>
                  <a:pt x="114300" y="828675"/>
                </a:cubicBezTo>
                <a:lnTo>
                  <a:pt x="128588" y="785813"/>
                </a:lnTo>
                <a:cubicBezTo>
                  <a:pt x="134018" y="769523"/>
                  <a:pt x="147638" y="757238"/>
                  <a:pt x="157163" y="742950"/>
                </a:cubicBezTo>
                <a:lnTo>
                  <a:pt x="171450" y="721519"/>
                </a:lnTo>
                <a:cubicBezTo>
                  <a:pt x="175627" y="715254"/>
                  <a:pt x="173971" y="706032"/>
                  <a:pt x="178594" y="700088"/>
                </a:cubicBezTo>
                <a:cubicBezTo>
                  <a:pt x="190999" y="684139"/>
                  <a:pt x="207169" y="671513"/>
                  <a:pt x="221457" y="657225"/>
                </a:cubicBezTo>
                <a:cubicBezTo>
                  <a:pt x="232238" y="646444"/>
                  <a:pt x="239992" y="632982"/>
                  <a:pt x="250032" y="621507"/>
                </a:cubicBezTo>
                <a:cubicBezTo>
                  <a:pt x="276626" y="591114"/>
                  <a:pt x="267217" y="606776"/>
                  <a:pt x="300038" y="578644"/>
                </a:cubicBezTo>
                <a:cubicBezTo>
                  <a:pt x="307709" y="572069"/>
                  <a:pt x="315001" y="564974"/>
                  <a:pt x="321469" y="557213"/>
                </a:cubicBezTo>
                <a:cubicBezTo>
                  <a:pt x="326966" y="550617"/>
                  <a:pt x="328888" y="540933"/>
                  <a:pt x="335757" y="535782"/>
                </a:cubicBezTo>
                <a:cubicBezTo>
                  <a:pt x="348536" y="526198"/>
                  <a:pt x="365328" y="523211"/>
                  <a:pt x="378619" y="514350"/>
                </a:cubicBezTo>
                <a:cubicBezTo>
                  <a:pt x="387025" y="508746"/>
                  <a:pt x="392075" y="499121"/>
                  <a:pt x="400050" y="492919"/>
                </a:cubicBezTo>
                <a:cubicBezTo>
                  <a:pt x="413604" y="482377"/>
                  <a:pt x="426623" y="469774"/>
                  <a:pt x="442913" y="464344"/>
                </a:cubicBezTo>
                <a:lnTo>
                  <a:pt x="485775" y="450057"/>
                </a:lnTo>
                <a:cubicBezTo>
                  <a:pt x="492919" y="445294"/>
                  <a:pt x="500338" y="440921"/>
                  <a:pt x="507207" y="435769"/>
                </a:cubicBezTo>
                <a:cubicBezTo>
                  <a:pt x="519405" y="426621"/>
                  <a:pt x="529995" y="415275"/>
                  <a:pt x="542925" y="407194"/>
                </a:cubicBezTo>
                <a:cubicBezTo>
                  <a:pt x="549311" y="403203"/>
                  <a:pt x="557622" y="403418"/>
                  <a:pt x="564357" y="400050"/>
                </a:cubicBezTo>
                <a:cubicBezTo>
                  <a:pt x="586285" y="389086"/>
                  <a:pt x="607473" y="376685"/>
                  <a:pt x="628650" y="364332"/>
                </a:cubicBezTo>
                <a:cubicBezTo>
                  <a:pt x="636066" y="360006"/>
                  <a:pt x="642236" y="353531"/>
                  <a:pt x="650082" y="350044"/>
                </a:cubicBezTo>
                <a:cubicBezTo>
                  <a:pt x="663844" y="343928"/>
                  <a:pt x="692944" y="335757"/>
                  <a:pt x="692944" y="335757"/>
                </a:cubicBezTo>
                <a:cubicBezTo>
                  <a:pt x="707232" y="326232"/>
                  <a:pt x="719517" y="312612"/>
                  <a:pt x="735807" y="307182"/>
                </a:cubicBezTo>
                <a:cubicBezTo>
                  <a:pt x="742951" y="304801"/>
                  <a:pt x="750503" y="303406"/>
                  <a:pt x="757238" y="300038"/>
                </a:cubicBezTo>
                <a:cubicBezTo>
                  <a:pt x="764917" y="296198"/>
                  <a:pt x="770990" y="289590"/>
                  <a:pt x="778669" y="285750"/>
                </a:cubicBezTo>
                <a:cubicBezTo>
                  <a:pt x="790667" y="279751"/>
                  <a:pt x="817239" y="274894"/>
                  <a:pt x="828675" y="271463"/>
                </a:cubicBezTo>
                <a:cubicBezTo>
                  <a:pt x="843100" y="267135"/>
                  <a:pt x="857250" y="261937"/>
                  <a:pt x="871538" y="257175"/>
                </a:cubicBezTo>
                <a:cubicBezTo>
                  <a:pt x="878682" y="254794"/>
                  <a:pt x="885664" y="251858"/>
                  <a:pt x="892969" y="250032"/>
                </a:cubicBezTo>
                <a:lnTo>
                  <a:pt x="921544" y="242888"/>
                </a:lnTo>
                <a:cubicBezTo>
                  <a:pt x="928688" y="238125"/>
                  <a:pt x="935129" y="232087"/>
                  <a:pt x="942975" y="228600"/>
                </a:cubicBezTo>
                <a:cubicBezTo>
                  <a:pt x="979090" y="212549"/>
                  <a:pt x="990688" y="214080"/>
                  <a:pt x="1028700" y="207169"/>
                </a:cubicBezTo>
                <a:cubicBezTo>
                  <a:pt x="1105289" y="193243"/>
                  <a:pt x="1018620" y="206567"/>
                  <a:pt x="1114425" y="192882"/>
                </a:cubicBezTo>
                <a:cubicBezTo>
                  <a:pt x="1143364" y="183236"/>
                  <a:pt x="1134941" y="185059"/>
                  <a:pt x="1171575" y="178594"/>
                </a:cubicBezTo>
                <a:lnTo>
                  <a:pt x="1257300" y="164307"/>
                </a:lnTo>
                <a:cubicBezTo>
                  <a:pt x="1370434" y="126596"/>
                  <a:pt x="1142063" y="201735"/>
                  <a:pt x="1314450" y="150019"/>
                </a:cubicBezTo>
                <a:cubicBezTo>
                  <a:pt x="1363516" y="135299"/>
                  <a:pt x="1335631" y="134387"/>
                  <a:pt x="1385888" y="128588"/>
                </a:cubicBezTo>
                <a:cubicBezTo>
                  <a:pt x="1564835" y="107940"/>
                  <a:pt x="1575448" y="113170"/>
                  <a:pt x="1785938" y="107157"/>
                </a:cubicBezTo>
                <a:cubicBezTo>
                  <a:pt x="1807369" y="104776"/>
                  <a:pt x="1829038" y="103987"/>
                  <a:pt x="1850232" y="100013"/>
                </a:cubicBezTo>
                <a:cubicBezTo>
                  <a:pt x="1867271" y="96818"/>
                  <a:pt x="1883513" y="90286"/>
                  <a:pt x="1900238" y="85725"/>
                </a:cubicBezTo>
                <a:cubicBezTo>
                  <a:pt x="1909710" y="83142"/>
                  <a:pt x="1919062" y="79729"/>
                  <a:pt x="1928813" y="78582"/>
                </a:cubicBezTo>
                <a:cubicBezTo>
                  <a:pt x="1959648" y="74954"/>
                  <a:pt x="1990774" y="74382"/>
                  <a:pt x="2021682" y="71438"/>
                </a:cubicBezTo>
                <a:cubicBezTo>
                  <a:pt x="2040794" y="69618"/>
                  <a:pt x="2059751" y="66414"/>
                  <a:pt x="2078832" y="64294"/>
                </a:cubicBezTo>
                <a:cubicBezTo>
                  <a:pt x="2102617" y="61651"/>
                  <a:pt x="2126502" y="59946"/>
                  <a:pt x="2150269" y="57150"/>
                </a:cubicBezTo>
                <a:cubicBezTo>
                  <a:pt x="2166992" y="55183"/>
                  <a:pt x="2183513" y="51603"/>
                  <a:pt x="2200275" y="50007"/>
                </a:cubicBezTo>
                <a:cubicBezTo>
                  <a:pt x="2233547" y="46838"/>
                  <a:pt x="2267043" y="46302"/>
                  <a:pt x="2300288" y="42863"/>
                </a:cubicBezTo>
                <a:cubicBezTo>
                  <a:pt x="2336131" y="39155"/>
                  <a:pt x="2371666" y="32868"/>
                  <a:pt x="2407444" y="28575"/>
                </a:cubicBezTo>
                <a:cubicBezTo>
                  <a:pt x="2431205" y="25724"/>
                  <a:pt x="2455135" y="24400"/>
                  <a:pt x="2478882" y="21432"/>
                </a:cubicBezTo>
                <a:cubicBezTo>
                  <a:pt x="2554425" y="11989"/>
                  <a:pt x="2489154" y="14948"/>
                  <a:pt x="2578894" y="7144"/>
                </a:cubicBezTo>
                <a:cubicBezTo>
                  <a:pt x="2614557" y="4043"/>
                  <a:pt x="2650331" y="2381"/>
                  <a:pt x="2686050" y="0"/>
                </a:cubicBezTo>
                <a:lnTo>
                  <a:pt x="3429000" y="14288"/>
                </a:lnTo>
                <a:cubicBezTo>
                  <a:pt x="3448191" y="14802"/>
                  <a:pt x="3466994" y="20155"/>
                  <a:pt x="3486150" y="21432"/>
                </a:cubicBezTo>
                <a:cubicBezTo>
                  <a:pt x="3574190" y="27301"/>
                  <a:pt x="3750469" y="35719"/>
                  <a:pt x="3750469" y="35719"/>
                </a:cubicBezTo>
                <a:cubicBezTo>
                  <a:pt x="3781994" y="43601"/>
                  <a:pt x="3810488" y="50991"/>
                  <a:pt x="3843338" y="57150"/>
                </a:cubicBezTo>
                <a:cubicBezTo>
                  <a:pt x="3859888" y="60253"/>
                  <a:pt x="3876702" y="61734"/>
                  <a:pt x="3893344" y="64294"/>
                </a:cubicBezTo>
                <a:cubicBezTo>
                  <a:pt x="3918557" y="68173"/>
                  <a:pt x="3946838" y="73007"/>
                  <a:pt x="3971925" y="78582"/>
                </a:cubicBezTo>
                <a:cubicBezTo>
                  <a:pt x="3981509" y="80712"/>
                  <a:pt x="3991186" y="82620"/>
                  <a:pt x="4000500" y="85725"/>
                </a:cubicBezTo>
                <a:cubicBezTo>
                  <a:pt x="4012666" y="89780"/>
                  <a:pt x="4023724" y="97129"/>
                  <a:pt x="4036219" y="100013"/>
                </a:cubicBezTo>
                <a:cubicBezTo>
                  <a:pt x="4054926" y="104330"/>
                  <a:pt x="4074432" y="104001"/>
                  <a:pt x="4093369" y="107157"/>
                </a:cubicBezTo>
                <a:cubicBezTo>
                  <a:pt x="4103054" y="108771"/>
                  <a:pt x="4112240" y="112807"/>
                  <a:pt x="4121944" y="114300"/>
                </a:cubicBezTo>
                <a:cubicBezTo>
                  <a:pt x="4200338" y="126360"/>
                  <a:pt x="4163949" y="115202"/>
                  <a:pt x="4221957" y="128588"/>
                </a:cubicBezTo>
                <a:cubicBezTo>
                  <a:pt x="4241090" y="133003"/>
                  <a:pt x="4259959" y="138523"/>
                  <a:pt x="4279107" y="142875"/>
                </a:cubicBezTo>
                <a:cubicBezTo>
                  <a:pt x="4312353" y="150431"/>
                  <a:pt x="4345873" y="156751"/>
                  <a:pt x="4379119" y="164307"/>
                </a:cubicBezTo>
                <a:cubicBezTo>
                  <a:pt x="4398267" y="168659"/>
                  <a:pt x="4418037" y="171301"/>
                  <a:pt x="4436269" y="178594"/>
                </a:cubicBezTo>
                <a:cubicBezTo>
                  <a:pt x="4448175" y="183357"/>
                  <a:pt x="4459597" y="189578"/>
                  <a:pt x="4471988" y="192882"/>
                </a:cubicBezTo>
                <a:cubicBezTo>
                  <a:pt x="4495452" y="199139"/>
                  <a:pt x="4519613" y="202407"/>
                  <a:pt x="4543425" y="207169"/>
                </a:cubicBezTo>
                <a:lnTo>
                  <a:pt x="4579144" y="214313"/>
                </a:lnTo>
                <a:cubicBezTo>
                  <a:pt x="4586528" y="215790"/>
                  <a:pt x="4593524" y="218813"/>
                  <a:pt x="4600575" y="221457"/>
                </a:cubicBezTo>
                <a:cubicBezTo>
                  <a:pt x="4612582" y="225960"/>
                  <a:pt x="4625036" y="229604"/>
                  <a:pt x="4636294" y="235744"/>
                </a:cubicBezTo>
                <a:cubicBezTo>
                  <a:pt x="4636310" y="235753"/>
                  <a:pt x="4689865" y="271458"/>
                  <a:pt x="4700588" y="278607"/>
                </a:cubicBezTo>
                <a:cubicBezTo>
                  <a:pt x="4757851" y="316784"/>
                  <a:pt x="4712579" y="301251"/>
                  <a:pt x="4764882" y="314325"/>
                </a:cubicBezTo>
                <a:cubicBezTo>
                  <a:pt x="4815337" y="381599"/>
                  <a:pt x="4746603" y="298828"/>
                  <a:pt x="4843463" y="371475"/>
                </a:cubicBezTo>
                <a:cubicBezTo>
                  <a:pt x="4853159" y="378747"/>
                  <a:pt x="4880697" y="400228"/>
                  <a:pt x="4893469" y="407194"/>
                </a:cubicBezTo>
                <a:cubicBezTo>
                  <a:pt x="4912167" y="417393"/>
                  <a:pt x="4931569" y="426244"/>
                  <a:pt x="4950619" y="435769"/>
                </a:cubicBezTo>
                <a:cubicBezTo>
                  <a:pt x="4974903" y="447911"/>
                  <a:pt x="4993393" y="469221"/>
                  <a:pt x="5014913" y="485775"/>
                </a:cubicBezTo>
                <a:cubicBezTo>
                  <a:pt x="5024350" y="493034"/>
                  <a:pt x="5033963" y="500063"/>
                  <a:pt x="5043488" y="507207"/>
                </a:cubicBezTo>
                <a:cubicBezTo>
                  <a:pt x="5053013" y="514351"/>
                  <a:pt x="5061967" y="522328"/>
                  <a:pt x="5072063" y="528638"/>
                </a:cubicBezTo>
                <a:lnTo>
                  <a:pt x="5129213" y="564357"/>
                </a:lnTo>
                <a:cubicBezTo>
                  <a:pt x="5141038" y="571634"/>
                  <a:pt x="5152513" y="579579"/>
                  <a:pt x="5164932" y="585788"/>
                </a:cubicBezTo>
                <a:lnTo>
                  <a:pt x="5193507" y="600075"/>
                </a:lnTo>
                <a:cubicBezTo>
                  <a:pt x="5198269" y="607219"/>
                  <a:pt x="5201090" y="616143"/>
                  <a:pt x="5207794" y="621507"/>
                </a:cubicBezTo>
                <a:cubicBezTo>
                  <a:pt x="5213674" y="626211"/>
                  <a:pt x="5222490" y="625283"/>
                  <a:pt x="5229225" y="628650"/>
                </a:cubicBezTo>
                <a:cubicBezTo>
                  <a:pt x="5236905" y="632490"/>
                  <a:pt x="5242765" y="639556"/>
                  <a:pt x="5250657" y="642938"/>
                </a:cubicBezTo>
                <a:cubicBezTo>
                  <a:pt x="5259681" y="646806"/>
                  <a:pt x="5269848" y="647195"/>
                  <a:pt x="5279232" y="650082"/>
                </a:cubicBezTo>
                <a:cubicBezTo>
                  <a:pt x="5300823" y="656726"/>
                  <a:pt x="5322094" y="664369"/>
                  <a:pt x="5343525" y="671513"/>
                </a:cubicBezTo>
                <a:cubicBezTo>
                  <a:pt x="5397393" y="689469"/>
                  <a:pt x="5330997" y="665249"/>
                  <a:pt x="5386388" y="692944"/>
                </a:cubicBezTo>
                <a:cubicBezTo>
                  <a:pt x="5397858" y="698679"/>
                  <a:pt x="5410849" y="701091"/>
                  <a:pt x="5422107" y="707232"/>
                </a:cubicBezTo>
                <a:cubicBezTo>
                  <a:pt x="5427240" y="710032"/>
                  <a:pt x="5484261" y="747956"/>
                  <a:pt x="5493544" y="757238"/>
                </a:cubicBezTo>
                <a:cubicBezTo>
                  <a:pt x="5499615" y="763309"/>
                  <a:pt x="5503069" y="771525"/>
                  <a:pt x="5507832" y="778669"/>
                </a:cubicBezTo>
                <a:cubicBezTo>
                  <a:pt x="5529512" y="843716"/>
                  <a:pt x="5496248" y="740959"/>
                  <a:pt x="5522119" y="835819"/>
                </a:cubicBezTo>
                <a:cubicBezTo>
                  <a:pt x="5526082" y="850349"/>
                  <a:pt x="5531644" y="864394"/>
                  <a:pt x="5536407" y="878682"/>
                </a:cubicBezTo>
                <a:lnTo>
                  <a:pt x="5550694" y="921544"/>
                </a:lnTo>
                <a:cubicBezTo>
                  <a:pt x="5554749" y="933710"/>
                  <a:pt x="5560927" y="945097"/>
                  <a:pt x="5564982" y="957263"/>
                </a:cubicBezTo>
                <a:cubicBezTo>
                  <a:pt x="5574048" y="984461"/>
                  <a:pt x="5568946" y="983183"/>
                  <a:pt x="5579269" y="1007269"/>
                </a:cubicBezTo>
                <a:cubicBezTo>
                  <a:pt x="5583464" y="1017057"/>
                  <a:pt x="5588794" y="1026319"/>
                  <a:pt x="5593557" y="1035844"/>
                </a:cubicBezTo>
                <a:cubicBezTo>
                  <a:pt x="5610834" y="1156792"/>
                  <a:pt x="5605802" y="1101170"/>
                  <a:pt x="5593557" y="1321594"/>
                </a:cubicBezTo>
                <a:cubicBezTo>
                  <a:pt x="5593139" y="1329113"/>
                  <a:pt x="5589781" y="1336290"/>
                  <a:pt x="5586413" y="1343025"/>
                </a:cubicBezTo>
                <a:cubicBezTo>
                  <a:pt x="5582573" y="1350705"/>
                  <a:pt x="5576888" y="1357313"/>
                  <a:pt x="5572125" y="1364457"/>
                </a:cubicBezTo>
                <a:cubicBezTo>
                  <a:pt x="5564681" y="1386791"/>
                  <a:pt x="5557463" y="1414712"/>
                  <a:pt x="5536407" y="1428750"/>
                </a:cubicBezTo>
                <a:cubicBezTo>
                  <a:pt x="5466738" y="1475196"/>
                  <a:pt x="5574997" y="1402451"/>
                  <a:pt x="5486400" y="1464469"/>
                </a:cubicBezTo>
                <a:cubicBezTo>
                  <a:pt x="5465299" y="1479240"/>
                  <a:pt x="5443538" y="1493044"/>
                  <a:pt x="5422107" y="1507332"/>
                </a:cubicBezTo>
                <a:cubicBezTo>
                  <a:pt x="5409576" y="1515686"/>
                  <a:pt x="5393532" y="1516857"/>
                  <a:pt x="5379244" y="1521619"/>
                </a:cubicBezTo>
                <a:lnTo>
                  <a:pt x="5357813" y="1528763"/>
                </a:lnTo>
                <a:lnTo>
                  <a:pt x="5336382" y="1535907"/>
                </a:lnTo>
                <a:lnTo>
                  <a:pt x="5314950" y="1543050"/>
                </a:lnTo>
                <a:cubicBezTo>
                  <a:pt x="5265823" y="1575802"/>
                  <a:pt x="5288378" y="1566195"/>
                  <a:pt x="5250657" y="1578769"/>
                </a:cubicBezTo>
                <a:cubicBezTo>
                  <a:pt x="5243513" y="1585913"/>
                  <a:pt x="5236986" y="1593732"/>
                  <a:pt x="5229225" y="1600200"/>
                </a:cubicBezTo>
                <a:cubicBezTo>
                  <a:pt x="5222629" y="1605696"/>
                  <a:pt x="5213865" y="1608417"/>
                  <a:pt x="5207794" y="1614488"/>
                </a:cubicBezTo>
                <a:cubicBezTo>
                  <a:pt x="5195360" y="1626923"/>
                  <a:pt x="5175125" y="1660080"/>
                  <a:pt x="5157788" y="1671638"/>
                </a:cubicBezTo>
                <a:cubicBezTo>
                  <a:pt x="5151523" y="1675815"/>
                  <a:pt x="5143278" y="1675816"/>
                  <a:pt x="5136357" y="1678782"/>
                </a:cubicBezTo>
                <a:cubicBezTo>
                  <a:pt x="5048669" y="1716362"/>
                  <a:pt x="5158111" y="1671477"/>
                  <a:pt x="5086350" y="1707357"/>
                </a:cubicBezTo>
                <a:cubicBezTo>
                  <a:pt x="5079615" y="1710724"/>
                  <a:pt x="5072063" y="1712119"/>
                  <a:pt x="5064919" y="1714500"/>
                </a:cubicBezTo>
                <a:cubicBezTo>
                  <a:pt x="5040986" y="1732450"/>
                  <a:pt x="5028186" y="1743582"/>
                  <a:pt x="5000625" y="1757363"/>
                </a:cubicBezTo>
                <a:cubicBezTo>
                  <a:pt x="4993890" y="1760731"/>
                  <a:pt x="4985929" y="1761139"/>
                  <a:pt x="4979194" y="1764507"/>
                </a:cubicBezTo>
                <a:cubicBezTo>
                  <a:pt x="4971515" y="1768347"/>
                  <a:pt x="4965442" y="1774954"/>
                  <a:pt x="4957763" y="1778794"/>
                </a:cubicBezTo>
                <a:cubicBezTo>
                  <a:pt x="4951028" y="1782162"/>
                  <a:pt x="4943067" y="1782570"/>
                  <a:pt x="4936332" y="1785938"/>
                </a:cubicBezTo>
                <a:cubicBezTo>
                  <a:pt x="4928653" y="1789778"/>
                  <a:pt x="4922969" y="1797291"/>
                  <a:pt x="4914900" y="1800225"/>
                </a:cubicBezTo>
                <a:cubicBezTo>
                  <a:pt x="4887393" y="1810227"/>
                  <a:pt x="4851392" y="1815133"/>
                  <a:pt x="4822032" y="1821657"/>
                </a:cubicBezTo>
                <a:cubicBezTo>
                  <a:pt x="4812448" y="1823787"/>
                  <a:pt x="4803041" y="1826670"/>
                  <a:pt x="4793457" y="1828800"/>
                </a:cubicBezTo>
                <a:cubicBezTo>
                  <a:pt x="4770232" y="1833961"/>
                  <a:pt x="4756929" y="1834250"/>
                  <a:pt x="4736307" y="1843088"/>
                </a:cubicBezTo>
                <a:cubicBezTo>
                  <a:pt x="4726519" y="1847283"/>
                  <a:pt x="4717520" y="1853180"/>
                  <a:pt x="4707732" y="1857375"/>
                </a:cubicBezTo>
                <a:cubicBezTo>
                  <a:pt x="4700810" y="1860341"/>
                  <a:pt x="4693035" y="1861151"/>
                  <a:pt x="4686300" y="1864519"/>
                </a:cubicBezTo>
                <a:cubicBezTo>
                  <a:pt x="4673881" y="1870728"/>
                  <a:pt x="4662356" y="1878591"/>
                  <a:pt x="4650582" y="1885950"/>
                </a:cubicBezTo>
                <a:cubicBezTo>
                  <a:pt x="4643301" y="1890501"/>
                  <a:pt x="4636830" y="1896398"/>
                  <a:pt x="4629150" y="1900238"/>
                </a:cubicBezTo>
                <a:cubicBezTo>
                  <a:pt x="4622415" y="1903606"/>
                  <a:pt x="4614574" y="1904266"/>
                  <a:pt x="4607719" y="1907382"/>
                </a:cubicBezTo>
                <a:cubicBezTo>
                  <a:pt x="4519887" y="1947306"/>
                  <a:pt x="4579241" y="1926400"/>
                  <a:pt x="4529138" y="1943100"/>
                </a:cubicBezTo>
                <a:cubicBezTo>
                  <a:pt x="4460772" y="2011470"/>
                  <a:pt x="4548307" y="1930321"/>
                  <a:pt x="4486275" y="1971675"/>
                </a:cubicBezTo>
                <a:cubicBezTo>
                  <a:pt x="4477869" y="1977279"/>
                  <a:pt x="4472515" y="1986532"/>
                  <a:pt x="4464844" y="1993107"/>
                </a:cubicBezTo>
                <a:cubicBezTo>
                  <a:pt x="4460313" y="1996991"/>
                  <a:pt x="4423885" y="2024302"/>
                  <a:pt x="4414838" y="2028825"/>
                </a:cubicBezTo>
                <a:cubicBezTo>
                  <a:pt x="4408103" y="2032193"/>
                  <a:pt x="4400551" y="2033588"/>
                  <a:pt x="4393407" y="2035969"/>
                </a:cubicBezTo>
                <a:cubicBezTo>
                  <a:pt x="4383882" y="2043113"/>
                  <a:pt x="4374739" y="2050796"/>
                  <a:pt x="4364832" y="2057400"/>
                </a:cubicBezTo>
                <a:cubicBezTo>
                  <a:pt x="4328865" y="2081378"/>
                  <a:pt x="4331680" y="2073570"/>
                  <a:pt x="4300538" y="2100263"/>
                </a:cubicBezTo>
                <a:cubicBezTo>
                  <a:pt x="4292867" y="2106838"/>
                  <a:pt x="4286868" y="2115226"/>
                  <a:pt x="4279107" y="2121694"/>
                </a:cubicBezTo>
                <a:cubicBezTo>
                  <a:pt x="4272511" y="2127191"/>
                  <a:pt x="4264662" y="2130992"/>
                  <a:pt x="4257675" y="2135982"/>
                </a:cubicBezTo>
                <a:cubicBezTo>
                  <a:pt x="4247987" y="2142902"/>
                  <a:pt x="4238789" y="2150493"/>
                  <a:pt x="4229100" y="2157413"/>
                </a:cubicBezTo>
                <a:cubicBezTo>
                  <a:pt x="4222114" y="2162403"/>
                  <a:pt x="4214051" y="2165957"/>
                  <a:pt x="4207669" y="2171700"/>
                </a:cubicBezTo>
                <a:cubicBezTo>
                  <a:pt x="4190147" y="2187470"/>
                  <a:pt x="4177277" y="2208631"/>
                  <a:pt x="4157663" y="2221707"/>
                </a:cubicBezTo>
                <a:cubicBezTo>
                  <a:pt x="4150519" y="2226469"/>
                  <a:pt x="4142828" y="2230498"/>
                  <a:pt x="4136232" y="2235994"/>
                </a:cubicBezTo>
                <a:cubicBezTo>
                  <a:pt x="4128471" y="2242462"/>
                  <a:pt x="4122775" y="2251222"/>
                  <a:pt x="4114800" y="2257425"/>
                </a:cubicBezTo>
                <a:cubicBezTo>
                  <a:pt x="4101246" y="2267967"/>
                  <a:pt x="4086225" y="2276475"/>
                  <a:pt x="4071938" y="2286000"/>
                </a:cubicBezTo>
                <a:cubicBezTo>
                  <a:pt x="4063532" y="2291604"/>
                  <a:pt x="4058268" y="2300964"/>
                  <a:pt x="4050507" y="2307432"/>
                </a:cubicBezTo>
                <a:cubicBezTo>
                  <a:pt x="4043911" y="2312929"/>
                  <a:pt x="4035671" y="2316223"/>
                  <a:pt x="4029075" y="2321719"/>
                </a:cubicBezTo>
                <a:cubicBezTo>
                  <a:pt x="4021314" y="2328186"/>
                  <a:pt x="4015314" y="2336575"/>
                  <a:pt x="4007644" y="2343150"/>
                </a:cubicBezTo>
                <a:cubicBezTo>
                  <a:pt x="3924636" y="2414301"/>
                  <a:pt x="4057921" y="2285730"/>
                  <a:pt x="3929063" y="2414588"/>
                </a:cubicBezTo>
                <a:lnTo>
                  <a:pt x="3850482" y="2493169"/>
                </a:lnTo>
                <a:cubicBezTo>
                  <a:pt x="3836194" y="2507457"/>
                  <a:pt x="3823784" y="2523909"/>
                  <a:pt x="3807619" y="2536032"/>
                </a:cubicBezTo>
                <a:cubicBezTo>
                  <a:pt x="3798094" y="2543176"/>
                  <a:pt x="3788084" y="2549715"/>
                  <a:pt x="3779044" y="2557463"/>
                </a:cubicBezTo>
                <a:cubicBezTo>
                  <a:pt x="3720118" y="2607971"/>
                  <a:pt x="3798235" y="2551663"/>
                  <a:pt x="3729038" y="2593182"/>
                </a:cubicBezTo>
                <a:cubicBezTo>
                  <a:pt x="3714314" y="2602017"/>
                  <a:pt x="3686175" y="2621757"/>
                  <a:pt x="3686175" y="2621757"/>
                </a:cubicBezTo>
                <a:cubicBezTo>
                  <a:pt x="3661805" y="2658313"/>
                  <a:pt x="3684747" y="2631579"/>
                  <a:pt x="3643313" y="2657475"/>
                </a:cubicBezTo>
                <a:cubicBezTo>
                  <a:pt x="3594739" y="2687834"/>
                  <a:pt x="3636303" y="2673516"/>
                  <a:pt x="3586163" y="2686050"/>
                </a:cubicBezTo>
                <a:cubicBezTo>
                  <a:pt x="3505226" y="2746755"/>
                  <a:pt x="3607451" y="2672746"/>
                  <a:pt x="3529013" y="2721769"/>
                </a:cubicBezTo>
                <a:cubicBezTo>
                  <a:pt x="3518917" y="2728079"/>
                  <a:pt x="3510192" y="2736372"/>
                  <a:pt x="3500438" y="2743200"/>
                </a:cubicBezTo>
                <a:cubicBezTo>
                  <a:pt x="3479337" y="2757971"/>
                  <a:pt x="3457575" y="2771775"/>
                  <a:pt x="3436144" y="2786063"/>
                </a:cubicBezTo>
                <a:cubicBezTo>
                  <a:pt x="3429879" y="2790240"/>
                  <a:pt x="3421857" y="2790826"/>
                  <a:pt x="3414713" y="2793207"/>
                </a:cubicBezTo>
                <a:cubicBezTo>
                  <a:pt x="3407569" y="2800351"/>
                  <a:pt x="3401688" y="2809034"/>
                  <a:pt x="3393282" y="2814638"/>
                </a:cubicBezTo>
                <a:cubicBezTo>
                  <a:pt x="3387016" y="2818815"/>
                  <a:pt x="3378772" y="2818816"/>
                  <a:pt x="3371850" y="2821782"/>
                </a:cubicBezTo>
                <a:cubicBezTo>
                  <a:pt x="3362062" y="2825977"/>
                  <a:pt x="3352521" y="2830785"/>
                  <a:pt x="3343275" y="2836069"/>
                </a:cubicBezTo>
                <a:cubicBezTo>
                  <a:pt x="3304499" y="2858227"/>
                  <a:pt x="3339707" y="2844403"/>
                  <a:pt x="3300413" y="2857500"/>
                </a:cubicBezTo>
                <a:lnTo>
                  <a:pt x="3236119" y="2900363"/>
                </a:lnTo>
                <a:cubicBezTo>
                  <a:pt x="3224911" y="2907835"/>
                  <a:pt x="3217772" y="2920172"/>
                  <a:pt x="3207544" y="2928938"/>
                </a:cubicBezTo>
                <a:cubicBezTo>
                  <a:pt x="3172495" y="2958980"/>
                  <a:pt x="3200707" y="2930355"/>
                  <a:pt x="3164682" y="2950369"/>
                </a:cubicBezTo>
                <a:cubicBezTo>
                  <a:pt x="3149671" y="2958708"/>
                  <a:pt x="3136107" y="2969419"/>
                  <a:pt x="3121819" y="2978944"/>
                </a:cubicBezTo>
                <a:cubicBezTo>
                  <a:pt x="3115554" y="2983121"/>
                  <a:pt x="3107439" y="2983444"/>
                  <a:pt x="3100388" y="2986088"/>
                </a:cubicBezTo>
                <a:cubicBezTo>
                  <a:pt x="3046590" y="3006262"/>
                  <a:pt x="3083972" y="2995549"/>
                  <a:pt x="3036094" y="3007519"/>
                </a:cubicBezTo>
                <a:cubicBezTo>
                  <a:pt x="3028950" y="3012282"/>
                  <a:pt x="3022342" y="3017967"/>
                  <a:pt x="3014663" y="3021807"/>
                </a:cubicBezTo>
                <a:cubicBezTo>
                  <a:pt x="3007928" y="3025175"/>
                  <a:pt x="3000153" y="3025984"/>
                  <a:pt x="2993232" y="3028950"/>
                </a:cubicBezTo>
                <a:cubicBezTo>
                  <a:pt x="2983444" y="3033145"/>
                  <a:pt x="2974445" y="3039043"/>
                  <a:pt x="2964657" y="3043238"/>
                </a:cubicBezTo>
                <a:cubicBezTo>
                  <a:pt x="2957735" y="3046204"/>
                  <a:pt x="2950147" y="3047416"/>
                  <a:pt x="2943225" y="3050382"/>
                </a:cubicBezTo>
                <a:cubicBezTo>
                  <a:pt x="2933437" y="3054577"/>
                  <a:pt x="2924538" y="3060714"/>
                  <a:pt x="2914650" y="3064669"/>
                </a:cubicBezTo>
                <a:cubicBezTo>
                  <a:pt x="2892378" y="3073578"/>
                  <a:pt x="2866903" y="3080836"/>
                  <a:pt x="2843213" y="3086100"/>
                </a:cubicBezTo>
                <a:cubicBezTo>
                  <a:pt x="2831360" y="3088734"/>
                  <a:pt x="2819347" y="3090610"/>
                  <a:pt x="2807494" y="3093244"/>
                </a:cubicBezTo>
                <a:cubicBezTo>
                  <a:pt x="2797910" y="3095374"/>
                  <a:pt x="2788323" y="3097567"/>
                  <a:pt x="2778919" y="3100388"/>
                </a:cubicBezTo>
                <a:cubicBezTo>
                  <a:pt x="2778907" y="3100391"/>
                  <a:pt x="2725346" y="3118245"/>
                  <a:pt x="2714625" y="3121819"/>
                </a:cubicBezTo>
                <a:cubicBezTo>
                  <a:pt x="2694169" y="3128638"/>
                  <a:pt x="2671763" y="3126582"/>
                  <a:pt x="2650332" y="3128963"/>
                </a:cubicBezTo>
                <a:cubicBezTo>
                  <a:pt x="2640807" y="3133725"/>
                  <a:pt x="2632088" y="3140667"/>
                  <a:pt x="2621757" y="3143250"/>
                </a:cubicBezTo>
                <a:cubicBezTo>
                  <a:pt x="2598153" y="3149151"/>
                  <a:pt x="2479674" y="3157160"/>
                  <a:pt x="2471738" y="3157538"/>
                </a:cubicBezTo>
                <a:cubicBezTo>
                  <a:pt x="2402719" y="3160825"/>
                  <a:pt x="2333604" y="3161744"/>
                  <a:pt x="2264569" y="3164682"/>
                </a:cubicBezTo>
                <a:cubicBezTo>
                  <a:pt x="2221679" y="3166507"/>
                  <a:pt x="2178868" y="3169919"/>
                  <a:pt x="2135982" y="3171825"/>
                </a:cubicBezTo>
                <a:lnTo>
                  <a:pt x="1943100" y="3178969"/>
                </a:lnTo>
                <a:lnTo>
                  <a:pt x="1800225" y="3186113"/>
                </a:lnTo>
                <a:cubicBezTo>
                  <a:pt x="1701606" y="3198441"/>
                  <a:pt x="1779458" y="3189629"/>
                  <a:pt x="1650207" y="3200400"/>
                </a:cubicBezTo>
                <a:cubicBezTo>
                  <a:pt x="1623996" y="3202584"/>
                  <a:pt x="1597896" y="3206262"/>
                  <a:pt x="1571625" y="3207544"/>
                </a:cubicBezTo>
                <a:cubicBezTo>
                  <a:pt x="1500233" y="3211027"/>
                  <a:pt x="1428750" y="3212307"/>
                  <a:pt x="1357313" y="3214688"/>
                </a:cubicBezTo>
                <a:cubicBezTo>
                  <a:pt x="1255040" y="3211680"/>
                  <a:pt x="1091326" y="3208743"/>
                  <a:pt x="978694" y="3200400"/>
                </a:cubicBezTo>
                <a:cubicBezTo>
                  <a:pt x="959548" y="3198982"/>
                  <a:pt x="940574" y="3195794"/>
                  <a:pt x="921544" y="3193257"/>
                </a:cubicBezTo>
                <a:cubicBezTo>
                  <a:pt x="908972" y="3191581"/>
                  <a:pt x="843609" y="3182415"/>
                  <a:pt x="828675" y="3178969"/>
                </a:cubicBezTo>
                <a:cubicBezTo>
                  <a:pt x="811783" y="3175071"/>
                  <a:pt x="795561" y="3168580"/>
                  <a:pt x="778669" y="3164682"/>
                </a:cubicBezTo>
                <a:cubicBezTo>
                  <a:pt x="764555" y="3161425"/>
                  <a:pt x="750010" y="3160379"/>
                  <a:pt x="735807" y="3157538"/>
                </a:cubicBezTo>
                <a:cubicBezTo>
                  <a:pt x="651603" y="3140697"/>
                  <a:pt x="784340" y="3161410"/>
                  <a:pt x="657225" y="3143250"/>
                </a:cubicBezTo>
                <a:cubicBezTo>
                  <a:pt x="608598" y="3127042"/>
                  <a:pt x="668383" y="3147435"/>
                  <a:pt x="600075" y="3121819"/>
                </a:cubicBezTo>
                <a:cubicBezTo>
                  <a:pt x="593024" y="3119175"/>
                  <a:pt x="585565" y="3117641"/>
                  <a:pt x="578644" y="3114675"/>
                </a:cubicBezTo>
                <a:cubicBezTo>
                  <a:pt x="505065" y="3083141"/>
                  <a:pt x="604767" y="3118622"/>
                  <a:pt x="507207" y="3086100"/>
                </a:cubicBezTo>
                <a:cubicBezTo>
                  <a:pt x="502444" y="3078956"/>
                  <a:pt x="499515" y="3070165"/>
                  <a:pt x="492919" y="3064669"/>
                </a:cubicBezTo>
                <a:cubicBezTo>
                  <a:pt x="476910" y="3051328"/>
                  <a:pt x="454994" y="3048044"/>
                  <a:pt x="435769" y="3043238"/>
                </a:cubicBezTo>
                <a:cubicBezTo>
                  <a:pt x="426244" y="3036094"/>
                  <a:pt x="417531" y="3027714"/>
                  <a:pt x="407194" y="3021807"/>
                </a:cubicBezTo>
                <a:cubicBezTo>
                  <a:pt x="400656" y="3018071"/>
                  <a:pt x="392498" y="3018031"/>
                  <a:pt x="385763" y="3014663"/>
                </a:cubicBezTo>
                <a:cubicBezTo>
                  <a:pt x="378084" y="3010823"/>
                  <a:pt x="371476" y="3005138"/>
                  <a:pt x="364332" y="3000375"/>
                </a:cubicBezTo>
                <a:cubicBezTo>
                  <a:pt x="336163" y="2958124"/>
                  <a:pt x="367613" y="2997617"/>
                  <a:pt x="321469" y="2964657"/>
                </a:cubicBezTo>
                <a:cubicBezTo>
                  <a:pt x="313248" y="2958785"/>
                  <a:pt x="308259" y="2949097"/>
                  <a:pt x="300038" y="2943225"/>
                </a:cubicBezTo>
                <a:cubicBezTo>
                  <a:pt x="291372" y="2937035"/>
                  <a:pt x="280595" y="2934417"/>
                  <a:pt x="271463" y="2928938"/>
                </a:cubicBezTo>
                <a:cubicBezTo>
                  <a:pt x="256738" y="2920103"/>
                  <a:pt x="228600" y="2900363"/>
                  <a:pt x="228600" y="2900363"/>
                </a:cubicBezTo>
                <a:cubicBezTo>
                  <a:pt x="221456" y="2888457"/>
                  <a:pt x="214871" y="2876197"/>
                  <a:pt x="207169" y="2864644"/>
                </a:cubicBezTo>
                <a:cubicBezTo>
                  <a:pt x="200565" y="2854737"/>
                  <a:pt x="192048" y="2846165"/>
                  <a:pt x="185738" y="2836069"/>
                </a:cubicBezTo>
                <a:cubicBezTo>
                  <a:pt x="172303" y="2814573"/>
                  <a:pt x="163599" y="2780176"/>
                  <a:pt x="142875" y="2764632"/>
                </a:cubicBezTo>
                <a:cubicBezTo>
                  <a:pt x="107432" y="2738049"/>
                  <a:pt x="120904" y="2753107"/>
                  <a:pt x="100013" y="2721769"/>
                </a:cubicBezTo>
                <a:cubicBezTo>
                  <a:pt x="97632" y="2709863"/>
                  <a:pt x="95814" y="2697830"/>
                  <a:pt x="92869" y="2686050"/>
                </a:cubicBezTo>
                <a:cubicBezTo>
                  <a:pt x="91043" y="2678745"/>
                  <a:pt x="86350" y="2672123"/>
                  <a:pt x="85725" y="2664619"/>
                </a:cubicBezTo>
                <a:cubicBezTo>
                  <a:pt x="67712" y="2448457"/>
                  <a:pt x="93751" y="2582859"/>
                  <a:pt x="64294" y="2450307"/>
                </a:cubicBezTo>
                <a:cubicBezTo>
                  <a:pt x="61913" y="2424113"/>
                  <a:pt x="60054" y="2397866"/>
                  <a:pt x="57150" y="2371725"/>
                </a:cubicBezTo>
                <a:cubicBezTo>
                  <a:pt x="46686" y="2277544"/>
                  <a:pt x="54466" y="2361418"/>
                  <a:pt x="42863" y="2286000"/>
                </a:cubicBezTo>
                <a:cubicBezTo>
                  <a:pt x="35081" y="2235416"/>
                  <a:pt x="32955" y="2195678"/>
                  <a:pt x="28575" y="2143125"/>
                </a:cubicBezTo>
                <a:cubicBezTo>
                  <a:pt x="25410" y="2060827"/>
                  <a:pt x="21395" y="1878588"/>
                  <a:pt x="7144" y="1793082"/>
                </a:cubicBezTo>
                <a:lnTo>
                  <a:pt x="0" y="1750219"/>
                </a:lnTo>
                <a:cubicBezTo>
                  <a:pt x="2381" y="1552575"/>
                  <a:pt x="485" y="1354834"/>
                  <a:pt x="7144" y="1157288"/>
                </a:cubicBezTo>
                <a:cubicBezTo>
                  <a:pt x="7651" y="1142236"/>
                  <a:pt x="19051" y="1121569"/>
                  <a:pt x="21432" y="1114425"/>
                </a:cubicBezTo>
                <a:close/>
              </a:path>
            </a:pathLst>
          </a:custGeom>
          <a:solidFill>
            <a:srgbClr val="BE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2" tIns="45716" rIns="91432" bIns="4571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s-CZ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rbel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Řízení na základě událostí -&gt; scénář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56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Oval 148"/>
          <p:cNvSpPr>
            <a:spLocks noChangeArrowheads="1"/>
          </p:cNvSpPr>
          <p:nvPr/>
        </p:nvSpPr>
        <p:spPr bwMode="auto">
          <a:xfrm>
            <a:off x="395536" y="3356992"/>
            <a:ext cx="701477" cy="458787"/>
          </a:xfrm>
          <a:prstGeom prst="ellipse">
            <a:avLst/>
          </a:prstGeom>
          <a:gradFill rotWithShape="0">
            <a:gsLst>
              <a:gs pos="0">
                <a:srgbClr val="F8F8F8"/>
              </a:gs>
              <a:gs pos="50000">
                <a:srgbClr val="FFFFFF"/>
              </a:gs>
              <a:gs pos="100000">
                <a:srgbClr val="F8F8F8"/>
              </a:gs>
            </a:gsLst>
            <a:lin ang="5400000" scaled="1"/>
          </a:gradFill>
          <a:ln w="6350">
            <a:solidFill>
              <a:srgbClr val="000000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cs-CZ" sz="10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Stav</a:t>
            </a:r>
          </a:p>
          <a:p>
            <a:pPr algn="ctr"/>
            <a:r>
              <a:rPr lang="cs-CZ" sz="10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INIT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2" name="Oval 149"/>
          <p:cNvSpPr>
            <a:spLocks noChangeArrowheads="1"/>
          </p:cNvSpPr>
          <p:nvPr/>
        </p:nvSpPr>
        <p:spPr bwMode="auto">
          <a:xfrm>
            <a:off x="3347865" y="2667273"/>
            <a:ext cx="754410" cy="458788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cs-CZ" sz="105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Stav B</a:t>
            </a:r>
          </a:p>
        </p:txBody>
      </p:sp>
      <p:sp>
        <p:nvSpPr>
          <p:cNvPr id="73" name="Oval 150"/>
          <p:cNvSpPr>
            <a:spLocks noChangeArrowheads="1"/>
          </p:cNvSpPr>
          <p:nvPr/>
        </p:nvSpPr>
        <p:spPr bwMode="auto">
          <a:xfrm>
            <a:off x="1979712" y="3227661"/>
            <a:ext cx="830337" cy="460375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cs-CZ" sz="105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Stav </a:t>
            </a:r>
            <a:r>
              <a:rPr lang="cs-CZ" sz="105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</a:t>
            </a:r>
            <a:endParaRPr lang="cs-CZ" sz="105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78" name="AutoShape 151"/>
          <p:cNvCxnSpPr>
            <a:cxnSpLocks noChangeShapeType="1"/>
            <a:stCxn id="70" idx="7"/>
            <a:endCxn id="73" idx="2"/>
          </p:cNvCxnSpPr>
          <p:nvPr/>
        </p:nvCxnSpPr>
        <p:spPr bwMode="auto">
          <a:xfrm rot="16200000" flipH="1">
            <a:off x="1470163" y="2948300"/>
            <a:ext cx="33669" cy="985428"/>
          </a:xfrm>
          <a:prstGeom prst="curvedConnector4">
            <a:avLst>
              <a:gd name="adj1" fmla="val -678963"/>
              <a:gd name="adj2" fmla="val 55212"/>
            </a:avLst>
          </a:prstGeom>
          <a:noFill/>
          <a:ln w="3175">
            <a:solidFill>
              <a:srgbClr val="3333CC"/>
            </a:solidFill>
            <a:prstDash val="dash"/>
            <a:round/>
            <a:headEnd/>
            <a:tailEnd type="triangle" w="sm" len="sm"/>
          </a:ln>
          <a:effectLst/>
        </p:spPr>
      </p:cxnSp>
      <p:cxnSp>
        <p:nvCxnSpPr>
          <p:cNvPr id="80" name="AutoShape 153"/>
          <p:cNvCxnSpPr>
            <a:cxnSpLocks noChangeShapeType="1"/>
            <a:stCxn id="73" idx="1"/>
            <a:endCxn id="73" idx="7"/>
          </p:cNvCxnSpPr>
          <p:nvPr/>
        </p:nvCxnSpPr>
        <p:spPr bwMode="auto">
          <a:xfrm rot="5400000" flipH="1" flipV="1">
            <a:off x="2394880" y="3001513"/>
            <a:ext cx="12700" cy="587137"/>
          </a:xfrm>
          <a:prstGeom prst="curvedConnector3">
            <a:avLst>
              <a:gd name="adj1" fmla="val 4187112"/>
            </a:avLst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  <a:effectLst/>
        </p:spPr>
      </p:cxnSp>
      <p:sp>
        <p:nvSpPr>
          <p:cNvPr id="89" name="AutoShape 165"/>
          <p:cNvSpPr>
            <a:spLocks noChangeArrowheads="1"/>
          </p:cNvSpPr>
          <p:nvPr/>
        </p:nvSpPr>
        <p:spPr bwMode="auto">
          <a:xfrm>
            <a:off x="611560" y="4005064"/>
            <a:ext cx="944562" cy="216024"/>
          </a:xfrm>
          <a:prstGeom prst="wedgeRoundRectCallout">
            <a:avLst>
              <a:gd name="adj1" fmla="val 124537"/>
              <a:gd name="adj2" fmla="val -283960"/>
              <a:gd name="adj3" fmla="val 16667"/>
            </a:avLst>
          </a:prstGeom>
          <a:gradFill rotWithShape="0">
            <a:gsLst>
              <a:gs pos="0">
                <a:srgbClr val="FFFFCC"/>
              </a:gs>
              <a:gs pos="50000">
                <a:srgbClr val="FFFFCC">
                  <a:gamma/>
                  <a:tint val="0"/>
                  <a:invGamma/>
                </a:srgbClr>
              </a:gs>
              <a:gs pos="100000">
                <a:srgbClr val="FFFFC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cs-CZ" sz="800" b="1">
                <a:solidFill>
                  <a:srgbClr val="000000"/>
                </a:solidFill>
                <a:latin typeface="Arial" pitchFamily="34" charset="0"/>
              </a:rPr>
              <a:t>Stav aktuální</a:t>
            </a:r>
            <a:endParaRPr lang="cs-CZ" sz="800" b="1"/>
          </a:p>
        </p:txBody>
      </p:sp>
      <p:sp>
        <p:nvSpPr>
          <p:cNvPr id="90" name="AutoShape 166"/>
          <p:cNvSpPr>
            <a:spLocks noChangeArrowheads="1"/>
          </p:cNvSpPr>
          <p:nvPr/>
        </p:nvSpPr>
        <p:spPr bwMode="auto">
          <a:xfrm>
            <a:off x="1259632" y="2708920"/>
            <a:ext cx="866974" cy="360040"/>
          </a:xfrm>
          <a:prstGeom prst="wedgeRoundRectCallout">
            <a:avLst>
              <a:gd name="adj1" fmla="val 46931"/>
              <a:gd name="adj2" fmla="val 110319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Událost</a:t>
            </a:r>
          </a:p>
          <a:p>
            <a:pPr algn="ctr"/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 "</a:t>
            </a:r>
            <a:r>
              <a:rPr lang="cs-CZ" sz="800" b="1" dirty="0" err="1" smtClean="0">
                <a:solidFill>
                  <a:srgbClr val="000000"/>
                </a:solidFill>
                <a:latin typeface="Arial" pitchFamily="34" charset="0"/>
              </a:rPr>
              <a:t>TimeOver</a:t>
            </a:r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" </a:t>
            </a:r>
            <a:endParaRPr lang="cs-CZ" sz="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92" name="AutoShape 167"/>
          <p:cNvSpPr>
            <a:spLocks noChangeArrowheads="1"/>
          </p:cNvSpPr>
          <p:nvPr/>
        </p:nvSpPr>
        <p:spPr bwMode="auto">
          <a:xfrm>
            <a:off x="3563888" y="2276872"/>
            <a:ext cx="819150" cy="228030"/>
          </a:xfrm>
          <a:prstGeom prst="wedgeRoundRectCallout">
            <a:avLst>
              <a:gd name="adj1" fmla="val -29552"/>
              <a:gd name="adj2" fmla="val 184671"/>
              <a:gd name="adj3" fmla="val 16667"/>
            </a:avLst>
          </a:prstGeom>
          <a:gradFill rotWithShape="0">
            <a:gsLst>
              <a:gs pos="0">
                <a:srgbClr val="FFFFCC"/>
              </a:gs>
              <a:gs pos="50000">
                <a:srgbClr val="FFFFCC">
                  <a:gamma/>
                  <a:tint val="0"/>
                  <a:invGamma/>
                </a:srgbClr>
              </a:gs>
              <a:gs pos="100000">
                <a:srgbClr val="FFFFCC"/>
              </a:gs>
            </a:gsLst>
            <a:lin ang="5400000" scaled="1"/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cs-CZ" sz="800" b="1" dirty="0">
                <a:solidFill>
                  <a:srgbClr val="000000"/>
                </a:solidFill>
                <a:latin typeface="Arial" pitchFamily="34" charset="0"/>
              </a:rPr>
              <a:t>Stav nový</a:t>
            </a:r>
          </a:p>
        </p:txBody>
      </p:sp>
      <p:sp>
        <p:nvSpPr>
          <p:cNvPr id="93" name="AutoShape 168"/>
          <p:cNvSpPr>
            <a:spLocks noChangeArrowheads="1"/>
          </p:cNvSpPr>
          <p:nvPr/>
        </p:nvSpPr>
        <p:spPr bwMode="auto">
          <a:xfrm>
            <a:off x="1475656" y="2132856"/>
            <a:ext cx="1121222" cy="327025"/>
          </a:xfrm>
          <a:prstGeom prst="wedgeRoundRectCallout">
            <a:avLst>
              <a:gd name="adj1" fmla="val 31240"/>
              <a:gd name="adj2" fmla="val 148545"/>
              <a:gd name="adj3" fmla="val 16667"/>
            </a:avLst>
          </a:prstGeom>
          <a:solidFill>
            <a:srgbClr val="FF9966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cs-CZ" sz="800" b="1" dirty="0">
                <a:solidFill>
                  <a:srgbClr val="000000"/>
                </a:solidFill>
                <a:latin typeface="Arial" pitchFamily="34" charset="0"/>
              </a:rPr>
              <a:t>Provedení </a:t>
            </a:r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funkce </a:t>
            </a:r>
            <a:r>
              <a:rPr lang="cs-CZ" sz="800" b="1" dirty="0" err="1" smtClean="0">
                <a:solidFill>
                  <a:srgbClr val="000000"/>
                </a:solidFill>
                <a:latin typeface="Arial" pitchFamily="34" charset="0"/>
              </a:rPr>
              <a:t>TestSouboru</a:t>
            </a:r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()</a:t>
            </a:r>
            <a:endParaRPr lang="cs-CZ" sz="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99" name="Rectangle 172"/>
          <p:cNvSpPr>
            <a:spLocks noChangeArrowheads="1"/>
          </p:cNvSpPr>
          <p:nvPr/>
        </p:nvSpPr>
        <p:spPr bwMode="auto">
          <a:xfrm>
            <a:off x="4644008" y="3573016"/>
            <a:ext cx="4104456" cy="2592288"/>
          </a:xfrm>
          <a:prstGeom prst="rect">
            <a:avLst/>
          </a:prstGeom>
          <a:gradFill rotWithShape="1">
            <a:gsLst>
              <a:gs pos="0">
                <a:srgbClr val="FDFCCF">
                  <a:gamma/>
                  <a:tint val="3137"/>
                  <a:invGamma/>
                </a:srgbClr>
              </a:gs>
              <a:gs pos="100000">
                <a:srgbClr val="FDFCC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t"/>
          <a:lstStyle/>
          <a:p>
            <a:r>
              <a:rPr lang="cs-CZ" sz="900" b="1" dirty="0">
                <a:latin typeface="Consolas" pitchFamily="49" charset="0"/>
              </a:rPr>
              <a:t>&lt;Status </a:t>
            </a:r>
            <a:r>
              <a:rPr lang="cs-CZ" sz="900" b="1" dirty="0" err="1">
                <a:latin typeface="Consolas" pitchFamily="49" charset="0"/>
              </a:rPr>
              <a:t>Name</a:t>
            </a:r>
            <a:r>
              <a:rPr lang="cs-CZ" sz="900" b="1" dirty="0">
                <a:latin typeface="Consolas" pitchFamily="49" charset="0"/>
              </a:rPr>
              <a:t>=</a:t>
            </a:r>
            <a:r>
              <a:rPr lang="en-US" sz="900" b="1" dirty="0">
                <a:latin typeface="Consolas" pitchFamily="49" charset="0"/>
              </a:rPr>
              <a:t>"</a:t>
            </a:r>
            <a:r>
              <a:rPr lang="cs-CZ" sz="900" b="1" dirty="0">
                <a:latin typeface="Consolas" pitchFamily="49" charset="0"/>
              </a:rPr>
              <a:t>A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TimeOver</a:t>
            </a:r>
            <a:r>
              <a:rPr lang="cs-CZ" sz="900" b="1" dirty="0" smtClean="0">
                <a:latin typeface="Consolas" pitchFamily="49" charset="0"/>
              </a:rPr>
              <a:t>="60"&gt;</a:t>
            </a:r>
            <a:endParaRPr lang="cs-CZ" sz="900" b="1" dirty="0">
              <a:latin typeface="Consolas" pitchFamily="49" charset="0"/>
            </a:endParaRPr>
          </a:p>
          <a:p>
            <a:r>
              <a:rPr lang="cs-CZ" sz="900" b="1" dirty="0" smtClean="0">
                <a:latin typeface="Consolas" pitchFamily="49" charset="0"/>
              </a:rPr>
              <a:t>  &lt;</a:t>
            </a:r>
            <a:r>
              <a:rPr lang="cs-CZ" sz="900" b="1" dirty="0" err="1" smtClean="0">
                <a:latin typeface="Consolas" pitchFamily="49" charset="0"/>
              </a:rPr>
              <a:t>Event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err="1" smtClean="0">
                <a:latin typeface="Consolas" pitchFamily="49" charset="0"/>
              </a:rPr>
              <a:t>TimeOver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NextStatus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A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r>
              <a:rPr lang="cs-CZ" sz="900" b="1" dirty="0" smtClean="0">
                <a:latin typeface="Consolas" pitchFamily="49" charset="0"/>
              </a:rPr>
              <a:t>    &lt;</a:t>
            </a:r>
            <a:r>
              <a:rPr lang="cs-CZ" sz="900" b="1" dirty="0" err="1" smtClean="0">
                <a:latin typeface="Consolas" pitchFamily="49" charset="0"/>
              </a:rPr>
              <a:t>Action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Fce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err="1" smtClean="0">
                <a:latin typeface="Consolas" pitchFamily="49" charset="0"/>
              </a:rPr>
              <a:t>TestSouboru</a:t>
            </a:r>
            <a:r>
              <a:rPr lang="cs-CZ" sz="900" b="1" dirty="0" smtClean="0">
                <a:latin typeface="Consolas" pitchFamily="49" charset="0"/>
              </a:rPr>
              <a:t>(</a:t>
            </a:r>
            <a:r>
              <a:rPr lang="en-US" sz="900" b="1" dirty="0" smtClean="0">
                <a:latin typeface="Consolas" pitchFamily="49" charset="0"/>
              </a:rPr>
              <a:t>'</a:t>
            </a:r>
            <a:r>
              <a:rPr lang="cs-CZ" sz="900" b="1" dirty="0" smtClean="0">
                <a:latin typeface="Consolas" pitchFamily="49" charset="0"/>
                <a:cs typeface="Calibri" pitchFamily="34" charset="0"/>
              </a:rPr>
              <a:t>c:/dir1/adrA</a:t>
            </a:r>
            <a:r>
              <a:rPr lang="en-US" sz="900" b="1" dirty="0" smtClean="0">
                <a:latin typeface="Consolas" pitchFamily="49" charset="0"/>
              </a:rPr>
              <a:t>'‚'</a:t>
            </a:r>
            <a:r>
              <a:rPr lang="cs-CZ" sz="900" b="1" dirty="0" err="1" smtClean="0">
                <a:latin typeface="Consolas" pitchFamily="49" charset="0"/>
              </a:rPr>
              <a:t>JeSoubor</a:t>
            </a:r>
            <a:r>
              <a:rPr lang="en-US" sz="900" b="1" dirty="0" smtClean="0">
                <a:latin typeface="Consolas" pitchFamily="49" charset="0"/>
              </a:rPr>
              <a:t>'</a:t>
            </a:r>
            <a:r>
              <a:rPr lang="cs-CZ" sz="900" b="1" dirty="0" smtClean="0">
                <a:latin typeface="Consolas" pitchFamily="49" charset="0"/>
              </a:rPr>
              <a:t>)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r>
              <a:rPr lang="cs-CZ" sz="900" b="1" dirty="0" smtClean="0">
                <a:latin typeface="Consolas" pitchFamily="49" charset="0"/>
              </a:rPr>
              <a:t>  &lt;/</a:t>
            </a:r>
            <a:r>
              <a:rPr lang="cs-CZ" sz="900" b="1" dirty="0" err="1" smtClean="0">
                <a:latin typeface="Consolas" pitchFamily="49" charset="0"/>
              </a:rPr>
              <a:t>Event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r>
              <a:rPr lang="cs-CZ" sz="900" b="1" dirty="0" smtClean="0">
                <a:latin typeface="Consolas" pitchFamily="49" charset="0"/>
              </a:rPr>
              <a:t>  &lt;</a:t>
            </a:r>
            <a:r>
              <a:rPr lang="cs-CZ" sz="900" b="1" dirty="0" err="1">
                <a:latin typeface="Consolas" pitchFamily="49" charset="0"/>
              </a:rPr>
              <a:t>Event</a:t>
            </a:r>
            <a:r>
              <a:rPr lang="cs-CZ" sz="900" b="1" dirty="0">
                <a:latin typeface="Consolas" pitchFamily="49" charset="0"/>
              </a:rPr>
              <a:t> </a:t>
            </a:r>
            <a:r>
              <a:rPr lang="cs-CZ" sz="900" b="1" dirty="0" err="1">
                <a:latin typeface="Consolas" pitchFamily="49" charset="0"/>
              </a:rPr>
              <a:t>Name</a:t>
            </a:r>
            <a:r>
              <a:rPr lang="cs-CZ" sz="900" b="1" dirty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err="1" smtClean="0">
                <a:latin typeface="Consolas" pitchFamily="49" charset="0"/>
              </a:rPr>
              <a:t>JeSoubor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>
                <a:latin typeface="Consolas" pitchFamily="49" charset="0"/>
              </a:rPr>
              <a:t>NextStatus</a:t>
            </a:r>
            <a:r>
              <a:rPr lang="cs-CZ" sz="900" b="1" dirty="0">
                <a:latin typeface="Consolas" pitchFamily="49" charset="0"/>
              </a:rPr>
              <a:t>=</a:t>
            </a:r>
            <a:r>
              <a:rPr lang="en-US" sz="900" b="1" dirty="0">
                <a:latin typeface="Consolas" pitchFamily="49" charset="0"/>
              </a:rPr>
              <a:t>"</a:t>
            </a:r>
            <a:r>
              <a:rPr lang="cs-CZ" sz="900" b="1" dirty="0">
                <a:latin typeface="Consolas" pitchFamily="49" charset="0"/>
              </a:rPr>
              <a:t>B</a:t>
            </a:r>
            <a:r>
              <a:rPr lang="en-US" sz="900" b="1" dirty="0">
                <a:latin typeface="Consolas" pitchFamily="49" charset="0"/>
              </a:rPr>
              <a:t>"</a:t>
            </a:r>
            <a:r>
              <a:rPr lang="cs-CZ" sz="900" b="1" dirty="0">
                <a:latin typeface="Consolas" pitchFamily="49" charset="0"/>
              </a:rPr>
              <a:t>&gt;</a:t>
            </a:r>
          </a:p>
          <a:p>
            <a:r>
              <a:rPr lang="cs-CZ" sz="900" b="1" dirty="0">
                <a:latin typeface="Consolas" pitchFamily="49" charset="0"/>
              </a:rPr>
              <a:t>    </a:t>
            </a: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 smtClean="0">
                <a:latin typeface="Consolas" pitchFamily="49" charset="0"/>
              </a:rPr>
              <a:t>Action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Fce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>
                <a:latin typeface="Consolas" pitchFamily="49" charset="0"/>
              </a:rPr>
              <a:t>"</a:t>
            </a:r>
            <a:r>
              <a:rPr lang="cs-CZ" sz="900" b="1" dirty="0" err="1">
                <a:latin typeface="Consolas" pitchFamily="49" charset="0"/>
              </a:rPr>
              <a:t>StartPrg</a:t>
            </a:r>
            <a:r>
              <a:rPr lang="cs-CZ" sz="900" b="1" dirty="0">
                <a:latin typeface="Consolas" pitchFamily="49" charset="0"/>
              </a:rPr>
              <a:t>(</a:t>
            </a:r>
            <a:r>
              <a:rPr lang="en-US" sz="900" b="1" dirty="0">
                <a:latin typeface="Consolas" pitchFamily="49" charset="0"/>
              </a:rPr>
              <a:t>'</a:t>
            </a:r>
            <a:r>
              <a:rPr lang="cs-CZ" sz="900" b="1" dirty="0" err="1" smtClean="0">
                <a:latin typeface="Consolas" pitchFamily="49" charset="0"/>
              </a:rPr>
              <a:t>PrgA</a:t>
            </a:r>
            <a:r>
              <a:rPr lang="en-US" sz="900" b="1" dirty="0" smtClean="0">
                <a:latin typeface="Consolas" pitchFamily="49" charset="0"/>
              </a:rPr>
              <a:t>'</a:t>
            </a:r>
            <a:r>
              <a:rPr lang="cs-CZ" sz="900" b="1" dirty="0" smtClean="0">
                <a:latin typeface="Consolas" pitchFamily="49" charset="0"/>
              </a:rPr>
              <a:t>)</a:t>
            </a:r>
            <a:r>
              <a:rPr lang="en-US" sz="900" b="1" dirty="0">
                <a:latin typeface="Consolas" pitchFamily="49" charset="0"/>
              </a:rPr>
              <a:t>"</a:t>
            </a:r>
            <a:r>
              <a:rPr lang="cs-CZ" sz="900" b="1" dirty="0">
                <a:latin typeface="Consolas" pitchFamily="49" charset="0"/>
              </a:rPr>
              <a:t>/&gt;</a:t>
            </a:r>
          </a:p>
          <a:p>
            <a:r>
              <a:rPr lang="cs-CZ" sz="900" b="1" dirty="0" smtClean="0">
                <a:latin typeface="Consolas" pitchFamily="49" charset="0"/>
              </a:rPr>
              <a:t>  &lt;/</a:t>
            </a:r>
            <a:r>
              <a:rPr lang="cs-CZ" sz="900" b="1" dirty="0" err="1">
                <a:latin typeface="Consolas" pitchFamily="49" charset="0"/>
              </a:rPr>
              <a:t>Event</a:t>
            </a:r>
            <a:r>
              <a:rPr lang="cs-CZ" sz="900" b="1" dirty="0">
                <a:latin typeface="Consolas" pitchFamily="49" charset="0"/>
              </a:rPr>
              <a:t>&gt;</a:t>
            </a:r>
          </a:p>
          <a:p>
            <a:r>
              <a:rPr lang="cs-CZ" sz="900" b="1" dirty="0" smtClean="0">
                <a:latin typeface="Consolas" pitchFamily="49" charset="0"/>
              </a:rPr>
              <a:t>&lt;/</a:t>
            </a:r>
            <a:r>
              <a:rPr lang="cs-CZ" sz="900" b="1" dirty="0">
                <a:latin typeface="Consolas" pitchFamily="49" charset="0"/>
              </a:rPr>
              <a:t>Status&gt;</a:t>
            </a:r>
          </a:p>
          <a:p>
            <a:endParaRPr lang="cs-CZ" sz="900" b="1" dirty="0">
              <a:latin typeface="Consolas" pitchFamily="49" charset="0"/>
            </a:endParaRPr>
          </a:p>
          <a:p>
            <a:r>
              <a:rPr lang="cs-CZ" sz="900" b="1" dirty="0">
                <a:latin typeface="Consolas" pitchFamily="49" charset="0"/>
              </a:rPr>
              <a:t>&lt;Status </a:t>
            </a:r>
            <a:r>
              <a:rPr lang="cs-CZ" sz="900" b="1" dirty="0" err="1">
                <a:latin typeface="Consolas" pitchFamily="49" charset="0"/>
              </a:rPr>
              <a:t>Name</a:t>
            </a:r>
            <a:r>
              <a:rPr lang="cs-CZ" sz="900" b="1" dirty="0">
                <a:latin typeface="Consolas" pitchFamily="49" charset="0"/>
              </a:rPr>
              <a:t>=</a:t>
            </a:r>
            <a:r>
              <a:rPr lang="en-US" sz="900" b="1" dirty="0">
                <a:latin typeface="Consolas" pitchFamily="49" charset="0"/>
              </a:rPr>
              <a:t>"</a:t>
            </a:r>
            <a:r>
              <a:rPr lang="cs-CZ" sz="900" b="1" dirty="0">
                <a:latin typeface="Consolas" pitchFamily="49" charset="0"/>
              </a:rPr>
              <a:t>B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TimeOver</a:t>
            </a:r>
            <a:r>
              <a:rPr lang="cs-CZ" sz="900" b="1" dirty="0" smtClean="0">
                <a:latin typeface="Consolas" pitchFamily="49" charset="0"/>
              </a:rPr>
              <a:t>="30"&gt;</a:t>
            </a:r>
            <a:endParaRPr lang="cs-CZ" sz="900" b="1" dirty="0">
              <a:latin typeface="Consolas" pitchFamily="49" charset="0"/>
            </a:endParaRPr>
          </a:p>
          <a:p>
            <a:r>
              <a:rPr lang="cs-CZ" sz="900" b="1" dirty="0">
                <a:latin typeface="Consolas" pitchFamily="49" charset="0"/>
              </a:rPr>
              <a:t>  </a:t>
            </a: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>
                <a:latin typeface="Consolas" pitchFamily="49" charset="0"/>
              </a:rPr>
              <a:t>Event</a:t>
            </a:r>
            <a:r>
              <a:rPr lang="cs-CZ" sz="900" b="1" dirty="0">
                <a:latin typeface="Consolas" pitchFamily="49" charset="0"/>
              </a:rPr>
              <a:t> </a:t>
            </a:r>
            <a:r>
              <a:rPr lang="cs-CZ" sz="900" b="1" dirty="0" err="1">
                <a:latin typeface="Consolas" pitchFamily="49" charset="0"/>
              </a:rPr>
              <a:t>Name</a:t>
            </a:r>
            <a:r>
              <a:rPr lang="cs-CZ" sz="900" b="1" dirty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err="1" smtClean="0">
                <a:latin typeface="Consolas" pitchFamily="49" charset="0"/>
              </a:rPr>
              <a:t>TimeOver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>
                <a:latin typeface="Consolas" pitchFamily="49" charset="0"/>
              </a:rPr>
              <a:t>NextStatus</a:t>
            </a:r>
            <a:r>
              <a:rPr lang="cs-CZ" sz="900" b="1" dirty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END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>
                <a:latin typeface="Consolas" pitchFamily="49" charset="0"/>
              </a:rPr>
              <a:t>&gt;</a:t>
            </a:r>
          </a:p>
          <a:p>
            <a:r>
              <a:rPr lang="cs-CZ" sz="900" b="1" dirty="0">
                <a:latin typeface="Consolas" pitchFamily="49" charset="0"/>
              </a:rPr>
              <a:t>     </a:t>
            </a: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>
                <a:latin typeface="Consolas" pitchFamily="49" charset="0"/>
              </a:rPr>
              <a:t>Action</a:t>
            </a:r>
            <a:r>
              <a:rPr lang="cs-CZ" sz="900" b="1" dirty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Fce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Log(</a:t>
            </a:r>
            <a:r>
              <a:rPr lang="en-US" sz="900" b="1" dirty="0" smtClean="0">
                <a:latin typeface="Consolas" pitchFamily="49" charset="0"/>
              </a:rPr>
              <a:t>'</a:t>
            </a:r>
            <a:r>
              <a:rPr lang="cs-CZ" sz="900" b="1" dirty="0" smtClean="0">
                <a:latin typeface="Consolas" pitchFamily="49" charset="0"/>
              </a:rPr>
              <a:t>Nenastartoval </a:t>
            </a:r>
            <a:r>
              <a:rPr lang="cs-CZ" sz="900" b="1" dirty="0" err="1" smtClean="0">
                <a:latin typeface="Consolas" pitchFamily="49" charset="0"/>
              </a:rPr>
              <a:t>PrgA</a:t>
            </a:r>
            <a:r>
              <a:rPr lang="en-US" sz="900" b="1" dirty="0" smtClean="0">
                <a:latin typeface="Consolas" pitchFamily="49" charset="0"/>
              </a:rPr>
              <a:t>'</a:t>
            </a:r>
            <a:r>
              <a:rPr lang="cs-CZ" sz="900" b="1" dirty="0" smtClean="0">
                <a:latin typeface="Consolas" pitchFamily="49" charset="0"/>
              </a:rPr>
              <a:t>)</a:t>
            </a:r>
            <a:r>
              <a:rPr lang="en-US" sz="900" b="1" dirty="0">
                <a:latin typeface="Consolas" pitchFamily="49" charset="0"/>
              </a:rPr>
              <a:t>"</a:t>
            </a:r>
            <a:r>
              <a:rPr lang="cs-CZ" sz="900" b="1" dirty="0">
                <a:latin typeface="Consolas" pitchFamily="49" charset="0"/>
              </a:rPr>
              <a:t>/&gt;</a:t>
            </a:r>
          </a:p>
          <a:p>
            <a:r>
              <a:rPr lang="cs-CZ" sz="900" b="1" dirty="0" smtClean="0">
                <a:latin typeface="Consolas" pitchFamily="49" charset="0"/>
              </a:rPr>
              <a:t>  &lt;/</a:t>
            </a:r>
            <a:r>
              <a:rPr lang="cs-CZ" sz="900" b="1" dirty="0" err="1">
                <a:latin typeface="Consolas" pitchFamily="49" charset="0"/>
              </a:rPr>
              <a:t>Event</a:t>
            </a:r>
            <a:r>
              <a:rPr lang="cs-CZ" sz="900" b="1" dirty="0">
                <a:latin typeface="Consolas" pitchFamily="49" charset="0"/>
              </a:rPr>
              <a:t>&gt;</a:t>
            </a:r>
          </a:p>
          <a:p>
            <a:r>
              <a:rPr lang="cs-CZ" sz="900" b="1" dirty="0" smtClean="0">
                <a:latin typeface="Consolas" pitchFamily="49" charset="0"/>
              </a:rPr>
              <a:t>  &lt;</a:t>
            </a:r>
            <a:r>
              <a:rPr lang="cs-CZ" sz="900" b="1" dirty="0" err="1" smtClean="0">
                <a:latin typeface="Consolas" pitchFamily="49" charset="0"/>
              </a:rPr>
              <a:t>Event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err="1" smtClean="0">
                <a:latin typeface="Consolas" pitchFamily="49" charset="0"/>
              </a:rPr>
              <a:t>StartPrg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NextStatus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C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r>
              <a:rPr lang="cs-CZ" sz="900" b="1" dirty="0" smtClean="0">
                <a:latin typeface="Consolas" pitchFamily="49" charset="0"/>
              </a:rPr>
              <a:t>&lt;/Status&gt;</a:t>
            </a:r>
          </a:p>
          <a:p>
            <a:endParaRPr lang="cs-CZ" sz="900" b="1" dirty="0" smtClean="0">
              <a:latin typeface="Consolas" pitchFamily="49" charset="0"/>
            </a:endParaRPr>
          </a:p>
          <a:p>
            <a:r>
              <a:rPr lang="cs-CZ" sz="900" b="1" dirty="0" smtClean="0">
                <a:latin typeface="Consolas" pitchFamily="49" charset="0"/>
              </a:rPr>
              <a:t>&lt;Status </a:t>
            </a:r>
            <a:r>
              <a:rPr lang="cs-CZ" sz="900" b="1" dirty="0" err="1" smtClean="0"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="C"&gt;</a:t>
            </a:r>
          </a:p>
          <a:p>
            <a:r>
              <a:rPr lang="cs-CZ" sz="900" b="1" dirty="0" smtClean="0">
                <a:latin typeface="Consolas" pitchFamily="49" charset="0"/>
              </a:rPr>
              <a:t>    :</a:t>
            </a:r>
            <a:endParaRPr lang="cs-CZ" sz="900" b="1" dirty="0">
              <a:latin typeface="Consolas" pitchFamily="49" charset="0"/>
            </a:endParaRPr>
          </a:p>
        </p:txBody>
      </p:sp>
      <p:cxnSp>
        <p:nvCxnSpPr>
          <p:cNvPr id="119" name="AutoShape 153"/>
          <p:cNvCxnSpPr>
            <a:cxnSpLocks noChangeShapeType="1"/>
            <a:stCxn id="73" idx="6"/>
            <a:endCxn id="72" idx="1"/>
          </p:cNvCxnSpPr>
          <p:nvPr/>
        </p:nvCxnSpPr>
        <p:spPr bwMode="auto">
          <a:xfrm flipV="1">
            <a:off x="2810049" y="2734461"/>
            <a:ext cx="648297" cy="723388"/>
          </a:xfrm>
          <a:prstGeom prst="curvedConnector4">
            <a:avLst>
              <a:gd name="adj1" fmla="val 41479"/>
              <a:gd name="adj2" fmla="val 140889"/>
            </a:avLst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  <a:effectLst/>
        </p:spPr>
      </p:cxnSp>
      <p:sp>
        <p:nvSpPr>
          <p:cNvPr id="126" name="AutoShape 166"/>
          <p:cNvSpPr>
            <a:spLocks noChangeArrowheads="1"/>
          </p:cNvSpPr>
          <p:nvPr/>
        </p:nvSpPr>
        <p:spPr bwMode="auto">
          <a:xfrm>
            <a:off x="1979712" y="4077072"/>
            <a:ext cx="792088" cy="360040"/>
          </a:xfrm>
          <a:prstGeom prst="wedgeRoundRectCallout">
            <a:avLst>
              <a:gd name="adj1" fmla="val 55120"/>
              <a:gd name="adj2" fmla="val -223409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Událost</a:t>
            </a:r>
          </a:p>
          <a:p>
            <a:pPr algn="ctr"/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"</a:t>
            </a:r>
            <a:r>
              <a:rPr lang="cs-CZ" sz="800" b="1" dirty="0" err="1" smtClean="0">
                <a:solidFill>
                  <a:srgbClr val="000000"/>
                </a:solidFill>
                <a:latin typeface="Arial" pitchFamily="34" charset="0"/>
              </a:rPr>
              <a:t>JeSoubor</a:t>
            </a:r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" </a:t>
            </a:r>
          </a:p>
        </p:txBody>
      </p:sp>
      <p:sp>
        <p:nvSpPr>
          <p:cNvPr id="127" name="AutoShape 168"/>
          <p:cNvSpPr>
            <a:spLocks noChangeArrowheads="1"/>
          </p:cNvSpPr>
          <p:nvPr/>
        </p:nvSpPr>
        <p:spPr bwMode="auto">
          <a:xfrm>
            <a:off x="2915816" y="1772816"/>
            <a:ext cx="1080120" cy="327025"/>
          </a:xfrm>
          <a:prstGeom prst="wedgeRoundRectCallout">
            <a:avLst>
              <a:gd name="adj1" fmla="val -16753"/>
              <a:gd name="adj2" fmla="val 157283"/>
              <a:gd name="adj3" fmla="val 16667"/>
            </a:avLst>
          </a:prstGeom>
          <a:solidFill>
            <a:srgbClr val="FF9966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cs-CZ" sz="800" b="1" dirty="0">
                <a:solidFill>
                  <a:srgbClr val="000000"/>
                </a:solidFill>
                <a:latin typeface="Arial" pitchFamily="34" charset="0"/>
              </a:rPr>
              <a:t>Provedení </a:t>
            </a:r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funkce </a:t>
            </a:r>
            <a:r>
              <a:rPr lang="cs-CZ" sz="800" b="1" dirty="0" err="1" smtClean="0">
                <a:solidFill>
                  <a:srgbClr val="000000"/>
                </a:solidFill>
                <a:latin typeface="Arial" pitchFamily="34" charset="0"/>
              </a:rPr>
              <a:t>StartPrg</a:t>
            </a:r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()</a:t>
            </a:r>
            <a:endParaRPr lang="cs-CZ" sz="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28" name="Oval 149"/>
          <p:cNvSpPr>
            <a:spLocks noChangeArrowheads="1"/>
          </p:cNvSpPr>
          <p:nvPr/>
        </p:nvSpPr>
        <p:spPr bwMode="auto">
          <a:xfrm>
            <a:off x="5364088" y="2564904"/>
            <a:ext cx="792088" cy="458788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cs-CZ" sz="105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Stav C</a:t>
            </a:r>
          </a:p>
        </p:txBody>
      </p:sp>
      <p:sp>
        <p:nvSpPr>
          <p:cNvPr id="129" name="Oval 149"/>
          <p:cNvSpPr>
            <a:spLocks noChangeArrowheads="1"/>
          </p:cNvSpPr>
          <p:nvPr/>
        </p:nvSpPr>
        <p:spPr bwMode="auto">
          <a:xfrm>
            <a:off x="3635896" y="4293096"/>
            <a:ext cx="693737" cy="458788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cs-CZ" sz="105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Stav END</a:t>
            </a:r>
          </a:p>
        </p:txBody>
      </p:sp>
      <p:cxnSp>
        <p:nvCxnSpPr>
          <p:cNvPr id="130" name="AutoShape 153"/>
          <p:cNvCxnSpPr>
            <a:cxnSpLocks noChangeShapeType="1"/>
            <a:stCxn id="72" idx="4"/>
            <a:endCxn id="129" idx="0"/>
          </p:cNvCxnSpPr>
          <p:nvPr/>
        </p:nvCxnSpPr>
        <p:spPr bwMode="auto">
          <a:xfrm rot="16200000" flipH="1">
            <a:off x="3270400" y="3580730"/>
            <a:ext cx="1167035" cy="25769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  <a:effectLst/>
        </p:spPr>
      </p:cxnSp>
      <p:sp>
        <p:nvSpPr>
          <p:cNvPr id="133" name="AutoShape 166"/>
          <p:cNvSpPr>
            <a:spLocks noChangeArrowheads="1"/>
          </p:cNvSpPr>
          <p:nvPr/>
        </p:nvSpPr>
        <p:spPr bwMode="auto">
          <a:xfrm>
            <a:off x="2915816" y="3645024"/>
            <a:ext cx="792088" cy="360040"/>
          </a:xfrm>
          <a:prstGeom prst="wedgeRoundRectCallout">
            <a:avLst>
              <a:gd name="adj1" fmla="val 52415"/>
              <a:gd name="adj2" fmla="val -189679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Událost</a:t>
            </a:r>
          </a:p>
          <a:p>
            <a:pPr algn="ctr"/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"</a:t>
            </a:r>
            <a:r>
              <a:rPr lang="cs-CZ" sz="800" b="1" dirty="0" err="1" smtClean="0">
                <a:solidFill>
                  <a:srgbClr val="000000"/>
                </a:solidFill>
                <a:latin typeface="Arial" pitchFamily="34" charset="0"/>
              </a:rPr>
              <a:t>TimeOver</a:t>
            </a:r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" </a:t>
            </a:r>
          </a:p>
        </p:txBody>
      </p:sp>
      <p:sp>
        <p:nvSpPr>
          <p:cNvPr id="134" name="AutoShape 168"/>
          <p:cNvSpPr>
            <a:spLocks noChangeArrowheads="1"/>
          </p:cNvSpPr>
          <p:nvPr/>
        </p:nvSpPr>
        <p:spPr bwMode="auto">
          <a:xfrm>
            <a:off x="3923928" y="3140968"/>
            <a:ext cx="1080120" cy="327025"/>
          </a:xfrm>
          <a:prstGeom prst="wedgeRoundRectCallout">
            <a:avLst>
              <a:gd name="adj1" fmla="val -63712"/>
              <a:gd name="adj2" fmla="val 39321"/>
              <a:gd name="adj3" fmla="val 16667"/>
            </a:avLst>
          </a:prstGeom>
          <a:solidFill>
            <a:srgbClr val="FF9966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cs-CZ" sz="800" b="1" dirty="0">
                <a:solidFill>
                  <a:srgbClr val="000000"/>
                </a:solidFill>
                <a:latin typeface="Arial" pitchFamily="34" charset="0"/>
              </a:rPr>
              <a:t>Provedení </a:t>
            </a:r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funkce Log()</a:t>
            </a:r>
            <a:endParaRPr lang="cs-CZ" sz="800" b="1" dirty="0">
              <a:solidFill>
                <a:srgbClr val="000000"/>
              </a:solidFill>
              <a:latin typeface="Arial" pitchFamily="34" charset="0"/>
            </a:endParaRPr>
          </a:p>
        </p:txBody>
      </p:sp>
      <p:cxnSp>
        <p:nvCxnSpPr>
          <p:cNvPr id="135" name="AutoShape 153"/>
          <p:cNvCxnSpPr>
            <a:cxnSpLocks noChangeShapeType="1"/>
            <a:stCxn id="72" idx="6"/>
            <a:endCxn id="128" idx="2"/>
          </p:cNvCxnSpPr>
          <p:nvPr/>
        </p:nvCxnSpPr>
        <p:spPr bwMode="auto">
          <a:xfrm flipV="1">
            <a:off x="4102275" y="2794298"/>
            <a:ext cx="1261813" cy="102369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3333CC"/>
            </a:solidFill>
            <a:prstDash val="dash"/>
            <a:round/>
            <a:headEnd/>
            <a:tailEnd type="triangle" w="sm" len="sm"/>
          </a:ln>
          <a:effectLst/>
        </p:spPr>
      </p:cxnSp>
      <p:sp>
        <p:nvSpPr>
          <p:cNvPr id="138" name="AutoShape 166"/>
          <p:cNvSpPr>
            <a:spLocks noChangeArrowheads="1"/>
          </p:cNvSpPr>
          <p:nvPr/>
        </p:nvSpPr>
        <p:spPr bwMode="auto">
          <a:xfrm>
            <a:off x="4572000" y="2132856"/>
            <a:ext cx="792088" cy="360040"/>
          </a:xfrm>
          <a:prstGeom prst="wedgeRoundRectCallout">
            <a:avLst>
              <a:gd name="adj1" fmla="val -108122"/>
              <a:gd name="adj2" fmla="val 159533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Událost</a:t>
            </a:r>
          </a:p>
          <a:p>
            <a:pPr algn="ctr"/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"</a:t>
            </a:r>
            <a:r>
              <a:rPr lang="cs-CZ" sz="800" b="1" dirty="0" err="1" smtClean="0">
                <a:solidFill>
                  <a:srgbClr val="000000"/>
                </a:solidFill>
                <a:latin typeface="Arial" pitchFamily="34" charset="0"/>
              </a:rPr>
              <a:t>StartPrg</a:t>
            </a:r>
            <a:r>
              <a:rPr lang="cs-CZ" sz="800" b="1" dirty="0" smtClean="0">
                <a:solidFill>
                  <a:srgbClr val="000000"/>
                </a:solidFill>
                <a:latin typeface="Arial" pitchFamily="34" charset="0"/>
              </a:rPr>
              <a:t>"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Aplikační </a:t>
            </a: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manager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57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917"/>
          <p:cNvSpPr>
            <a:spLocks noChangeArrowheads="1"/>
          </p:cNvSpPr>
          <p:nvPr/>
        </p:nvSpPr>
        <p:spPr bwMode="auto">
          <a:xfrm>
            <a:off x="5652120" y="1916832"/>
            <a:ext cx="1296987" cy="576263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Oval 915"/>
          <p:cNvSpPr>
            <a:spLocks noChangeArrowheads="1"/>
          </p:cNvSpPr>
          <p:nvPr/>
        </p:nvSpPr>
        <p:spPr bwMode="auto">
          <a:xfrm>
            <a:off x="539552" y="1842542"/>
            <a:ext cx="1368425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Oval 914"/>
          <p:cNvSpPr>
            <a:spLocks noChangeArrowheads="1"/>
          </p:cNvSpPr>
          <p:nvPr/>
        </p:nvSpPr>
        <p:spPr bwMode="auto">
          <a:xfrm>
            <a:off x="3204195" y="1772370"/>
            <a:ext cx="1296987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 Box 894"/>
          <p:cNvSpPr txBox="1">
            <a:spLocks noChangeArrowheads="1"/>
          </p:cNvSpPr>
          <p:nvPr/>
        </p:nvSpPr>
        <p:spPr bwMode="auto">
          <a:xfrm>
            <a:off x="3780457" y="2277195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B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Text Box 827"/>
          <p:cNvSpPr txBox="1">
            <a:spLocks noChangeArrowheads="1"/>
          </p:cNvSpPr>
          <p:nvPr/>
        </p:nvSpPr>
        <p:spPr bwMode="auto">
          <a:xfrm>
            <a:off x="1044377" y="2634704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A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6" name="Group 893"/>
          <p:cNvGrpSpPr>
            <a:grpSpLocks/>
          </p:cNvGrpSpPr>
          <p:nvPr/>
        </p:nvGrpSpPr>
        <p:grpSpPr bwMode="auto">
          <a:xfrm>
            <a:off x="3709020" y="1989857"/>
            <a:ext cx="144462" cy="360363"/>
            <a:chOff x="1918" y="1939"/>
            <a:chExt cx="64" cy="130"/>
          </a:xfrm>
        </p:grpSpPr>
        <p:grpSp>
          <p:nvGrpSpPr>
            <p:cNvPr id="7" name="Group 842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47" name="Rectangle 843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9" name="Oval 84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0" name="Freeform 845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46" name="Oval 846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52" name="AutoShape 856"/>
          <p:cNvCxnSpPr>
            <a:cxnSpLocks noChangeShapeType="1"/>
            <a:stCxn id="43" idx="3"/>
            <a:endCxn id="46" idx="1"/>
          </p:cNvCxnSpPr>
          <p:nvPr/>
        </p:nvCxnSpPr>
        <p:spPr bwMode="auto">
          <a:xfrm flipV="1">
            <a:off x="2139752" y="2009749"/>
            <a:ext cx="1590424" cy="763068"/>
          </a:xfrm>
          <a:prstGeom prst="curvedConnector4">
            <a:avLst>
              <a:gd name="adj1" fmla="val 49335"/>
              <a:gd name="adj2" fmla="val 132565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53" name="Text Box 897"/>
          <p:cNvSpPr txBox="1">
            <a:spLocks noChangeArrowheads="1"/>
          </p:cNvSpPr>
          <p:nvPr/>
        </p:nvSpPr>
        <p:spPr bwMode="auto">
          <a:xfrm>
            <a:off x="6156945" y="2421657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C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8" name="Group 898"/>
          <p:cNvGrpSpPr>
            <a:grpSpLocks/>
          </p:cNvGrpSpPr>
          <p:nvPr/>
        </p:nvGrpSpPr>
        <p:grpSpPr bwMode="auto">
          <a:xfrm>
            <a:off x="6085507" y="2134320"/>
            <a:ext cx="144463" cy="360362"/>
            <a:chOff x="1918" y="1939"/>
            <a:chExt cx="64" cy="130"/>
          </a:xfrm>
        </p:grpSpPr>
        <p:grpSp>
          <p:nvGrpSpPr>
            <p:cNvPr id="9" name="Group 899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57" name="Rectangle 900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8" name="Oval 901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9" name="Freeform 902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56" name="Oval 903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61" name="AutoShape 904"/>
          <p:cNvCxnSpPr>
            <a:cxnSpLocks noChangeShapeType="1"/>
            <a:stCxn id="34" idx="3"/>
            <a:endCxn id="56" idx="1"/>
          </p:cNvCxnSpPr>
          <p:nvPr/>
        </p:nvCxnSpPr>
        <p:spPr bwMode="auto">
          <a:xfrm flipV="1">
            <a:off x="4888532" y="2154957"/>
            <a:ext cx="1217613" cy="260350"/>
          </a:xfrm>
          <a:prstGeom prst="curvedConnector4">
            <a:avLst>
              <a:gd name="adj1" fmla="val 48630"/>
              <a:gd name="adj2" fmla="val 19573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grpSp>
        <p:nvGrpSpPr>
          <p:cNvPr id="12" name="Group 907"/>
          <p:cNvGrpSpPr>
            <a:grpSpLocks/>
          </p:cNvGrpSpPr>
          <p:nvPr/>
        </p:nvGrpSpPr>
        <p:grpSpPr bwMode="auto">
          <a:xfrm>
            <a:off x="755452" y="2131467"/>
            <a:ext cx="519112" cy="138112"/>
            <a:chOff x="2888" y="971"/>
            <a:chExt cx="327" cy="87"/>
          </a:xfrm>
        </p:grpSpPr>
        <p:grpSp>
          <p:nvGrpSpPr>
            <p:cNvPr id="13" name="Group 908"/>
            <p:cNvGrpSpPr>
              <a:grpSpLocks/>
            </p:cNvGrpSpPr>
            <p:nvPr/>
          </p:nvGrpSpPr>
          <p:grpSpPr bwMode="auto">
            <a:xfrm>
              <a:off x="2890" y="988"/>
              <a:ext cx="324" cy="70"/>
              <a:chOff x="186" y="2796"/>
              <a:chExt cx="935" cy="766"/>
            </a:xfrm>
          </p:grpSpPr>
          <p:sp>
            <p:nvSpPr>
              <p:cNvPr id="67" name="Rectangle 909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8" name="Oval 910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9" name="Freeform 911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66" name="Oval 912"/>
            <p:cNvSpPr>
              <a:spLocks noChangeArrowheads="1"/>
            </p:cNvSpPr>
            <p:nvPr/>
          </p:nvSpPr>
          <p:spPr bwMode="auto">
            <a:xfrm>
              <a:off x="2888" y="971"/>
              <a:ext cx="327" cy="33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50000">
                  <a:srgbClr val="FF99CC"/>
                </a:gs>
                <a:gs pos="100000">
                  <a:srgbClr val="CCEC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71" name="AutoShape 913"/>
          <p:cNvCxnSpPr>
            <a:cxnSpLocks noChangeShapeType="1"/>
            <a:stCxn id="68" idx="4"/>
            <a:endCxn id="43" idx="0"/>
          </p:cNvCxnSpPr>
          <p:nvPr/>
        </p:nvCxnSpPr>
        <p:spPr bwMode="auto">
          <a:xfrm rot="16200000" flipH="1">
            <a:off x="1127720" y="2157661"/>
            <a:ext cx="352425" cy="576262"/>
          </a:xfrm>
          <a:prstGeom prst="curvedConnector3">
            <a:avLst>
              <a:gd name="adj1" fmla="val 5180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74" name="Rectangle 918"/>
          <p:cNvSpPr>
            <a:spLocks noChangeArrowheads="1"/>
          </p:cNvSpPr>
          <p:nvPr/>
        </p:nvSpPr>
        <p:spPr bwMode="auto">
          <a:xfrm>
            <a:off x="755452" y="184254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A</a:t>
            </a:r>
          </a:p>
        </p:txBody>
      </p:sp>
      <p:sp>
        <p:nvSpPr>
          <p:cNvPr id="75" name="Rectangle 919"/>
          <p:cNvSpPr>
            <a:spLocks noChangeArrowheads="1"/>
          </p:cNvSpPr>
          <p:nvPr/>
        </p:nvSpPr>
        <p:spPr bwMode="auto">
          <a:xfrm>
            <a:off x="3564557" y="1772370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B</a:t>
            </a:r>
          </a:p>
        </p:txBody>
      </p:sp>
      <p:sp>
        <p:nvSpPr>
          <p:cNvPr id="76" name="Rectangle 920"/>
          <p:cNvSpPr>
            <a:spLocks noChangeArrowheads="1"/>
          </p:cNvSpPr>
          <p:nvPr/>
        </p:nvSpPr>
        <p:spPr bwMode="auto">
          <a:xfrm>
            <a:off x="5941045" y="19168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1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100" b="1" dirty="0">
                <a:latin typeface="Calibri" pitchFamily="34" charset="0"/>
                <a:cs typeface="Calibri" pitchFamily="34" charset="0"/>
              </a:rPr>
              <a:t>C</a:t>
            </a:r>
          </a:p>
        </p:txBody>
      </p:sp>
      <p:sp>
        <p:nvSpPr>
          <p:cNvPr id="82" name="Rectangle 925"/>
          <p:cNvSpPr>
            <a:spLocks noChangeArrowheads="1"/>
          </p:cNvSpPr>
          <p:nvPr/>
        </p:nvSpPr>
        <p:spPr bwMode="auto">
          <a:xfrm>
            <a:off x="3780457" y="1989857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Q_FrontaB</a:t>
            </a:r>
          </a:p>
        </p:txBody>
      </p:sp>
      <p:sp>
        <p:nvSpPr>
          <p:cNvPr id="84" name="Rectangle 926"/>
          <p:cNvSpPr>
            <a:spLocks noChangeArrowheads="1"/>
          </p:cNvSpPr>
          <p:nvPr/>
        </p:nvSpPr>
        <p:spPr bwMode="auto">
          <a:xfrm>
            <a:off x="1188839" y="2058442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/pis/…/adrA</a:t>
            </a:r>
          </a:p>
        </p:txBody>
      </p:sp>
      <p:sp>
        <p:nvSpPr>
          <p:cNvPr id="86" name="Rectangle 927"/>
          <p:cNvSpPr>
            <a:spLocks noChangeArrowheads="1"/>
          </p:cNvSpPr>
          <p:nvPr/>
        </p:nvSpPr>
        <p:spPr bwMode="auto">
          <a:xfrm>
            <a:off x="6156945" y="21327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Q_FrontaC</a:t>
            </a:r>
          </a:p>
        </p:txBody>
      </p:sp>
      <p:sp>
        <p:nvSpPr>
          <p:cNvPr id="54" name="Text Box 921"/>
          <p:cNvSpPr txBox="1">
            <a:spLocks noChangeArrowheads="1"/>
          </p:cNvSpPr>
          <p:nvPr/>
        </p:nvSpPr>
        <p:spPr bwMode="auto">
          <a:xfrm>
            <a:off x="1259632" y="4797153"/>
            <a:ext cx="1152128" cy="288032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2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GAM</a:t>
            </a:r>
            <a:endParaRPr lang="cs-CZ" sz="12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55" name="AutoShape 922"/>
          <p:cNvCxnSpPr>
            <a:cxnSpLocks noChangeShapeType="1"/>
            <a:stCxn id="43" idx="2"/>
            <a:endCxn id="72" idx="1"/>
          </p:cNvCxnSpPr>
          <p:nvPr/>
        </p:nvCxnSpPr>
        <p:spPr bwMode="auto">
          <a:xfrm rot="5400000">
            <a:off x="555378" y="3564332"/>
            <a:ext cx="1690091" cy="38328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77" name="AutoShape 922"/>
          <p:cNvCxnSpPr>
            <a:cxnSpLocks noChangeShapeType="1"/>
            <a:stCxn id="34" idx="2"/>
            <a:endCxn id="72" idx="0"/>
          </p:cNvCxnSpPr>
          <p:nvPr/>
        </p:nvCxnSpPr>
        <p:spPr bwMode="auto">
          <a:xfrm rot="5400000">
            <a:off x="1780146" y="2033129"/>
            <a:ext cx="2027708" cy="306829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98" name="AutoShape 922"/>
          <p:cNvCxnSpPr>
            <a:cxnSpLocks noChangeShapeType="1"/>
            <a:stCxn id="53" idx="2"/>
            <a:endCxn id="72" idx="7"/>
          </p:cNvCxnSpPr>
          <p:nvPr/>
        </p:nvCxnSpPr>
        <p:spPr bwMode="auto">
          <a:xfrm rot="5400000">
            <a:off x="3056213" y="952600"/>
            <a:ext cx="1903138" cy="5393703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grpSp>
        <p:nvGrpSpPr>
          <p:cNvPr id="64" name="Group 893"/>
          <p:cNvGrpSpPr>
            <a:grpSpLocks/>
          </p:cNvGrpSpPr>
          <p:nvPr/>
        </p:nvGrpSpPr>
        <p:grpSpPr bwMode="auto">
          <a:xfrm>
            <a:off x="1187624" y="4581128"/>
            <a:ext cx="144462" cy="360363"/>
            <a:chOff x="1918" y="1939"/>
            <a:chExt cx="64" cy="130"/>
          </a:xfrm>
        </p:grpSpPr>
        <p:grpSp>
          <p:nvGrpSpPr>
            <p:cNvPr id="70" name="Group 842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73" name="Rectangle 843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78" name="Oval 84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79" name="Freeform 845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72" name="Oval 846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aoblený obdélník 6"/>
          <p:cNvSpPr/>
          <p:nvPr/>
        </p:nvSpPr>
        <p:spPr bwMode="auto">
          <a:xfrm>
            <a:off x="827584" y="1988840"/>
            <a:ext cx="7488832" cy="324036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4800" b="1" dirty="0"/>
          </a:p>
        </p:txBody>
      </p:sp>
      <p:sp>
        <p:nvSpPr>
          <p:cNvPr id="86" name="Zaoblený obdélník 85"/>
          <p:cNvSpPr/>
          <p:nvPr/>
        </p:nvSpPr>
        <p:spPr bwMode="auto">
          <a:xfrm>
            <a:off x="4572000" y="3212977"/>
            <a:ext cx="936104" cy="2016223"/>
          </a:xfrm>
          <a:prstGeom prst="roundRect">
            <a:avLst>
              <a:gd name="adj" fmla="val 0"/>
            </a:avLst>
          </a:prstGeom>
          <a:solidFill>
            <a:srgbClr val="FDC73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83" name="Zaoblený obdélník 82"/>
          <p:cNvSpPr/>
          <p:nvPr/>
        </p:nvSpPr>
        <p:spPr bwMode="auto">
          <a:xfrm>
            <a:off x="3635896" y="3212976"/>
            <a:ext cx="936104" cy="2016224"/>
          </a:xfrm>
          <a:prstGeom prst="roundRect">
            <a:avLst>
              <a:gd name="adj" fmla="val 0"/>
            </a:avLst>
          </a:prstGeom>
          <a:solidFill>
            <a:srgbClr val="8DFF6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sx="1000" sy="1000" algn="bl" rotWithShape="0">
              <a:prstClr val="black"/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Dekompozice řídicí části programu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7412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989A2B-21C7-4313-B816-4ED850A0BA16}" type="slidenum">
              <a:rPr lang="cs-CZ" altLang="cs-CZ">
                <a:latin typeface="Calibri" pitchFamily="34" charset="0"/>
              </a:rPr>
              <a:pPr/>
              <a:t>58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Přímá spojovací čára 80"/>
          <p:cNvCxnSpPr/>
          <p:nvPr/>
        </p:nvCxnSpPr>
        <p:spPr bwMode="auto">
          <a:xfrm>
            <a:off x="3635896" y="3212976"/>
            <a:ext cx="0" cy="194421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Přímá spojovací čára 83"/>
          <p:cNvCxnSpPr>
            <a:endCxn id="7" idx="2"/>
          </p:cNvCxnSpPr>
          <p:nvPr/>
        </p:nvCxnSpPr>
        <p:spPr bwMode="auto">
          <a:xfrm>
            <a:off x="4572000" y="3212976"/>
            <a:ext cx="0" cy="2016224"/>
          </a:xfrm>
          <a:prstGeom prst="line">
            <a:avLst/>
          </a:prstGeom>
          <a:noFill/>
          <a:ln w="25400" cap="flat" cmpd="sng" algn="ctr">
            <a:solidFill>
              <a:schemeClr val="bg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Zaoblený obdélník 84"/>
          <p:cNvSpPr/>
          <p:nvPr/>
        </p:nvSpPr>
        <p:spPr bwMode="auto">
          <a:xfrm>
            <a:off x="3347864" y="3501009"/>
            <a:ext cx="648072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38100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Vstupní objekt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7" name="Zaoblený obdélník 86"/>
          <p:cNvSpPr/>
          <p:nvPr/>
        </p:nvSpPr>
        <p:spPr bwMode="auto">
          <a:xfrm>
            <a:off x="4283968" y="2852937"/>
            <a:ext cx="576064" cy="246221"/>
          </a:xfrm>
          <a:prstGeom prst="roundRect">
            <a:avLst>
              <a:gd name="adj" fmla="val 0"/>
            </a:avLst>
          </a:prstGeom>
          <a:solidFill>
            <a:srgbClr val="FF0000"/>
          </a:solidFill>
          <a:ln w="15875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Chyba</a:t>
            </a:r>
          </a:p>
        </p:txBody>
      </p:sp>
      <p:cxnSp>
        <p:nvCxnSpPr>
          <p:cNvPr id="89" name="Přímá spojovací čára 88"/>
          <p:cNvCxnSpPr/>
          <p:nvPr/>
        </p:nvCxnSpPr>
        <p:spPr bwMode="auto">
          <a:xfrm>
            <a:off x="5508104" y="3212976"/>
            <a:ext cx="0" cy="194421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95" name="Zaoblený obdélník 94"/>
          <p:cNvSpPr/>
          <p:nvPr/>
        </p:nvSpPr>
        <p:spPr bwMode="auto">
          <a:xfrm>
            <a:off x="5220072" y="3501009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38100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Výstupní objekt</a:t>
            </a:r>
          </a:p>
        </p:txBody>
      </p:sp>
      <p:sp>
        <p:nvSpPr>
          <p:cNvPr id="96" name="Zaoblený obdélník 95"/>
          <p:cNvSpPr/>
          <p:nvPr/>
        </p:nvSpPr>
        <p:spPr bwMode="auto">
          <a:xfrm>
            <a:off x="4644008" y="4149081"/>
            <a:ext cx="720080" cy="40011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38100">
            <a:solidFill>
              <a:schemeClr val="tx1"/>
            </a:solidFill>
            <a:prstDash val="sysDash"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Věcný objekt</a:t>
            </a:r>
          </a:p>
        </p:txBody>
      </p:sp>
      <p:cxnSp>
        <p:nvCxnSpPr>
          <p:cNvPr id="101" name="Přímá spojovací šipka 100"/>
          <p:cNvCxnSpPr/>
          <p:nvPr/>
        </p:nvCxnSpPr>
        <p:spPr bwMode="auto">
          <a:xfrm>
            <a:off x="2987824" y="3717033"/>
            <a:ext cx="360040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08" name="Přímá spojovací šipka 107"/>
          <p:cNvCxnSpPr/>
          <p:nvPr/>
        </p:nvCxnSpPr>
        <p:spPr bwMode="auto">
          <a:xfrm>
            <a:off x="4572000" y="3212977"/>
            <a:ext cx="936104" cy="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Přímá spojovací šipka 109"/>
          <p:cNvCxnSpPr/>
          <p:nvPr/>
        </p:nvCxnSpPr>
        <p:spPr bwMode="auto">
          <a:xfrm flipV="1">
            <a:off x="3995936" y="3068960"/>
            <a:ext cx="360040" cy="432050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6" name="Přímá spojovací šipka 115"/>
          <p:cNvCxnSpPr>
            <a:stCxn id="96" idx="0"/>
          </p:cNvCxnSpPr>
          <p:nvPr/>
        </p:nvCxnSpPr>
        <p:spPr bwMode="auto">
          <a:xfrm flipV="1">
            <a:off x="5004048" y="3933057"/>
            <a:ext cx="360040" cy="216024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9" name="Přímá spojovací šipka 118"/>
          <p:cNvCxnSpPr>
            <a:stCxn id="85" idx="3"/>
            <a:endCxn id="96" idx="0"/>
          </p:cNvCxnSpPr>
          <p:nvPr/>
        </p:nvCxnSpPr>
        <p:spPr bwMode="auto">
          <a:xfrm>
            <a:off x="3995936" y="3701064"/>
            <a:ext cx="1008112" cy="448017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5" name="Přímá spojovací šipka 144"/>
          <p:cNvCxnSpPr/>
          <p:nvPr/>
        </p:nvCxnSpPr>
        <p:spPr bwMode="auto">
          <a:xfrm flipV="1">
            <a:off x="5940152" y="3717032"/>
            <a:ext cx="288032" cy="1"/>
          </a:xfrm>
          <a:prstGeom prst="straightConnector1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2" name="Group 103"/>
          <p:cNvGrpSpPr>
            <a:grpSpLocks/>
          </p:cNvGrpSpPr>
          <p:nvPr/>
        </p:nvGrpSpPr>
        <p:grpSpPr bwMode="auto">
          <a:xfrm>
            <a:off x="971600" y="5373216"/>
            <a:ext cx="6912768" cy="576411"/>
            <a:chOff x="181" y="2619"/>
            <a:chExt cx="943" cy="943"/>
          </a:xfrm>
        </p:grpSpPr>
        <p:grpSp>
          <p:nvGrpSpPr>
            <p:cNvPr id="3" name="Group 104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71" name="Rectangle 10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72" name="Oval 106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73" name="Freeform 107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32 w 1296"/>
                  <a:gd name="T1" fmla="*/ 96 h 336"/>
                  <a:gd name="T2" fmla="*/ 0 w 1296"/>
                  <a:gd name="T3" fmla="*/ 216 h 336"/>
                  <a:gd name="T4" fmla="*/ 0 w 1296"/>
                  <a:gd name="T5" fmla="*/ 280 h 336"/>
                  <a:gd name="T6" fmla="*/ 56 w 1296"/>
                  <a:gd name="T7" fmla="*/ 336 h 336"/>
                  <a:gd name="T8" fmla="*/ 1272 w 1296"/>
                  <a:gd name="T9" fmla="*/ 320 h 336"/>
                  <a:gd name="T10" fmla="*/ 1296 w 1296"/>
                  <a:gd name="T11" fmla="*/ 280 h 336"/>
                  <a:gd name="T12" fmla="*/ 1296 w 1296"/>
                  <a:gd name="T13" fmla="*/ 216 h 336"/>
                  <a:gd name="T14" fmla="*/ 1272 w 1296"/>
                  <a:gd name="T15" fmla="*/ 152 h 336"/>
                  <a:gd name="T16" fmla="*/ 1104 w 1296"/>
                  <a:gd name="T17" fmla="*/ 24 h 336"/>
                  <a:gd name="T18" fmla="*/ 168 w 1296"/>
                  <a:gd name="T19" fmla="*/ 0 h 336"/>
                  <a:gd name="T20" fmla="*/ 32 w 1296"/>
                  <a:gd name="T21" fmla="*/ 96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70" name="Oval 108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sp>
        <p:nvSpPr>
          <p:cNvPr id="174" name="TextovéPole 41"/>
          <p:cNvSpPr txBox="1">
            <a:spLocks noChangeArrowheads="1"/>
          </p:cNvSpPr>
          <p:nvPr/>
        </p:nvSpPr>
        <p:spPr bwMode="auto">
          <a:xfrm>
            <a:off x="3779912" y="5549170"/>
            <a:ext cx="12241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Databáze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75" name="Přímá spojovací šipka 174"/>
          <p:cNvCxnSpPr/>
          <p:nvPr/>
        </p:nvCxnSpPr>
        <p:spPr bwMode="auto">
          <a:xfrm>
            <a:off x="5004048" y="5085184"/>
            <a:ext cx="0" cy="319970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/>
          </a:ln>
          <a:effectLst/>
        </p:spPr>
      </p:cxnSp>
      <p:cxnSp>
        <p:nvCxnSpPr>
          <p:cNvPr id="177" name="Přímá spojovací šipka 176"/>
          <p:cNvCxnSpPr/>
          <p:nvPr/>
        </p:nvCxnSpPr>
        <p:spPr bwMode="auto">
          <a:xfrm>
            <a:off x="4139952" y="5085184"/>
            <a:ext cx="0" cy="28803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89" name="Přímá spojovací čára 188"/>
          <p:cNvCxnSpPr/>
          <p:nvPr/>
        </p:nvCxnSpPr>
        <p:spPr bwMode="auto">
          <a:xfrm>
            <a:off x="827584" y="1988840"/>
            <a:ext cx="0" cy="324036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Skupina 84"/>
          <p:cNvGrpSpPr>
            <a:grpSpLocks/>
          </p:cNvGrpSpPr>
          <p:nvPr/>
        </p:nvGrpSpPr>
        <p:grpSpPr bwMode="auto">
          <a:xfrm>
            <a:off x="323528" y="2636913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41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42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43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44" name="Přímá spojovací čára 102"/>
            <p:cNvCxnSpPr>
              <a:cxnSpLocks noChangeShapeType="1"/>
              <a:stCxn id="43" idx="6"/>
              <a:endCxn id="41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5" name="Přímá spojovací čára 103"/>
            <p:cNvCxnSpPr>
              <a:cxnSpLocks noChangeShapeType="1"/>
              <a:stCxn id="43" idx="2"/>
              <a:endCxn id="41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6" name="Group 289"/>
          <p:cNvGrpSpPr>
            <a:grpSpLocks/>
          </p:cNvGrpSpPr>
          <p:nvPr/>
        </p:nvGrpSpPr>
        <p:grpSpPr bwMode="auto">
          <a:xfrm>
            <a:off x="755576" y="3933057"/>
            <a:ext cx="216024" cy="432048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8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50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1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52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49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pic>
        <p:nvPicPr>
          <p:cNvPr id="46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212977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cxnSp>
        <p:nvCxnSpPr>
          <p:cNvPr id="190" name="Přímá spojovací čára 189"/>
          <p:cNvCxnSpPr/>
          <p:nvPr/>
        </p:nvCxnSpPr>
        <p:spPr bwMode="auto">
          <a:xfrm>
            <a:off x="8316416" y="1988840"/>
            <a:ext cx="0" cy="324036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9" name="Group 289"/>
          <p:cNvGrpSpPr>
            <a:grpSpLocks/>
          </p:cNvGrpSpPr>
          <p:nvPr/>
        </p:nvGrpSpPr>
        <p:grpSpPr bwMode="auto">
          <a:xfrm>
            <a:off x="8244408" y="3789041"/>
            <a:ext cx="216024" cy="432048"/>
            <a:chOff x="181" y="2619"/>
            <a:chExt cx="943" cy="943"/>
          </a:xfrm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grpSpPr>
        <p:grpSp>
          <p:nvGrpSpPr>
            <p:cNvPr id="12" name="Group 29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57" name="Rectangle 29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58" name="Oval 29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159" name="Freeform 29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56" name="Oval 29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pic>
        <p:nvPicPr>
          <p:cNvPr id="153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8384" y="3140969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grpSp>
        <p:nvGrpSpPr>
          <p:cNvPr id="13" name="Skupina 84"/>
          <p:cNvGrpSpPr>
            <a:grpSpLocks/>
          </p:cNvGrpSpPr>
          <p:nvPr/>
        </p:nvGrpSpPr>
        <p:grpSpPr bwMode="auto">
          <a:xfrm>
            <a:off x="7884368" y="2492897"/>
            <a:ext cx="864096" cy="288032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48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49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50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51" name="Přímá spojovací čára 102"/>
            <p:cNvCxnSpPr>
              <a:cxnSpLocks noChangeShapeType="1"/>
              <a:stCxn id="150" idx="6"/>
              <a:endCxn id="148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2" name="Přímá spojovací čára 103"/>
            <p:cNvCxnSpPr>
              <a:cxnSpLocks noChangeShapeType="1"/>
              <a:stCxn id="150" idx="2"/>
              <a:endCxn id="148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91" name="Přímá spojovací čára 190"/>
          <p:cNvCxnSpPr/>
          <p:nvPr/>
        </p:nvCxnSpPr>
        <p:spPr bwMode="auto">
          <a:xfrm>
            <a:off x="827584" y="1988840"/>
            <a:ext cx="7488832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5" name="TextovéPole 194"/>
          <p:cNvSpPr txBox="1"/>
          <p:nvPr/>
        </p:nvSpPr>
        <p:spPr>
          <a:xfrm>
            <a:off x="827584" y="4653136"/>
            <a:ext cx="9361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Získání vstupní zprávy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0" name="TextovéPole 199"/>
          <p:cNvSpPr txBox="1"/>
          <p:nvPr/>
        </p:nvSpPr>
        <p:spPr>
          <a:xfrm>
            <a:off x="1763688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Formální kontrola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1" name="TextovéPole 200"/>
          <p:cNvSpPr txBox="1"/>
          <p:nvPr/>
        </p:nvSpPr>
        <p:spPr>
          <a:xfrm>
            <a:off x="2627784" y="4685074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Vstupní transformace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2" name="TextovéPole 201"/>
          <p:cNvSpPr txBox="1"/>
          <p:nvPr/>
        </p:nvSpPr>
        <p:spPr>
          <a:xfrm>
            <a:off x="3635896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Věcná kontrola</a:t>
            </a:r>
          </a:p>
        </p:txBody>
      </p:sp>
      <p:cxnSp>
        <p:nvCxnSpPr>
          <p:cNvPr id="204" name="Přímá spojovací čára 203"/>
          <p:cNvCxnSpPr/>
          <p:nvPr/>
        </p:nvCxnSpPr>
        <p:spPr bwMode="auto">
          <a:xfrm>
            <a:off x="827584" y="5229200"/>
            <a:ext cx="7488832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7" name="TextovéPole 206"/>
          <p:cNvSpPr txBox="1"/>
          <p:nvPr/>
        </p:nvSpPr>
        <p:spPr>
          <a:xfrm>
            <a:off x="4572000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Věcné zpracování</a:t>
            </a:r>
            <a:endParaRPr lang="cs-CZ" sz="11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8" name="TextovéPole 207"/>
          <p:cNvSpPr txBox="1"/>
          <p:nvPr/>
        </p:nvSpPr>
        <p:spPr>
          <a:xfrm>
            <a:off x="5508104" y="4685074"/>
            <a:ext cx="9361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Procesní zpracování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9" name="TextovéPole 208"/>
          <p:cNvSpPr txBox="1"/>
          <p:nvPr/>
        </p:nvSpPr>
        <p:spPr>
          <a:xfrm>
            <a:off x="6372200" y="4685074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Výstupní transformace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0" name="TextovéPole 209"/>
          <p:cNvSpPr txBox="1"/>
          <p:nvPr/>
        </p:nvSpPr>
        <p:spPr>
          <a:xfrm>
            <a:off x="7380312" y="4653136"/>
            <a:ext cx="9361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100" b="1" dirty="0" smtClean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Odeslání výstupní zprávy</a:t>
            </a:r>
            <a:endParaRPr lang="cs-CZ" sz="1100" b="1" dirty="0">
              <a:solidFill>
                <a:schemeClr val="bg1">
                  <a:lumMod val="5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16" name="Přímá spojovací šipka 215"/>
          <p:cNvCxnSpPr/>
          <p:nvPr/>
        </p:nvCxnSpPr>
        <p:spPr bwMode="auto">
          <a:xfrm flipV="1">
            <a:off x="5940152" y="5085184"/>
            <a:ext cx="0" cy="28803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109" name="Přímá spojovací čára 108"/>
          <p:cNvCxnSpPr/>
          <p:nvPr/>
        </p:nvCxnSpPr>
        <p:spPr bwMode="auto">
          <a:xfrm>
            <a:off x="3635896" y="3212976"/>
            <a:ext cx="1872208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4" name="TextovéPole 103"/>
          <p:cNvSpPr txBox="1"/>
          <p:nvPr/>
        </p:nvSpPr>
        <p:spPr>
          <a:xfrm>
            <a:off x="3635896" y="3212976"/>
            <a:ext cx="1872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Domain</a:t>
            </a:r>
            <a:r>
              <a:rPr lang="cs-CZ" sz="12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Worker</a:t>
            </a:r>
            <a:endParaRPr lang="cs-CZ" sz="12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5" name="TextovéPole 104"/>
          <p:cNvSpPr txBox="1"/>
          <p:nvPr/>
        </p:nvSpPr>
        <p:spPr>
          <a:xfrm>
            <a:off x="3563888" y="2060848"/>
            <a:ext cx="1872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b="1" dirty="0" err="1" smtClean="0">
                <a:latin typeface="Calibri" pitchFamily="34" charset="0"/>
                <a:cs typeface="Calibri" pitchFamily="34" charset="0"/>
              </a:rPr>
              <a:t>Controller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5" name="Zaoblený obdélník 74"/>
          <p:cNvSpPr/>
          <p:nvPr/>
        </p:nvSpPr>
        <p:spPr bwMode="auto">
          <a:xfrm>
            <a:off x="1331640" y="3501008"/>
            <a:ext cx="792088" cy="576064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Reader</a:t>
            </a: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6" name="Zaoblený obdélník 75"/>
          <p:cNvSpPr/>
          <p:nvPr/>
        </p:nvSpPr>
        <p:spPr bwMode="auto">
          <a:xfrm>
            <a:off x="7092280" y="3068960"/>
            <a:ext cx="792088" cy="576064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Writer</a:t>
            </a: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7" name="Zaoblený obdélník 76"/>
          <p:cNvSpPr/>
          <p:nvPr/>
        </p:nvSpPr>
        <p:spPr bwMode="auto">
          <a:xfrm>
            <a:off x="2267744" y="3933056"/>
            <a:ext cx="864096" cy="432048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smtClean="0">
                <a:latin typeface="Calibri" pitchFamily="34" charset="0"/>
                <a:cs typeface="Calibri" pitchFamily="34" charset="0"/>
              </a:rPr>
              <a:t>X-definice</a:t>
            </a:r>
          </a:p>
        </p:txBody>
      </p:sp>
      <p:sp>
        <p:nvSpPr>
          <p:cNvPr id="78" name="Zaoblený obdélník 77"/>
          <p:cNvSpPr/>
          <p:nvPr/>
        </p:nvSpPr>
        <p:spPr bwMode="auto">
          <a:xfrm>
            <a:off x="6084168" y="3789040"/>
            <a:ext cx="1008112" cy="360040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Err</a:t>
            </a:r>
            <a:r>
              <a:rPr lang="cs-CZ" sz="12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handler</a:t>
            </a: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9" name="Zaoblený obdélník 78"/>
          <p:cNvSpPr/>
          <p:nvPr/>
        </p:nvSpPr>
        <p:spPr bwMode="auto">
          <a:xfrm>
            <a:off x="1331640" y="2492896"/>
            <a:ext cx="6408712" cy="288032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Controll</a:t>
            </a:r>
            <a:r>
              <a:rPr lang="cs-CZ" sz="12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Worker</a:t>
            </a: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0" name="Zaoblený obdélník 79"/>
          <p:cNvSpPr/>
          <p:nvPr/>
        </p:nvSpPr>
        <p:spPr bwMode="auto">
          <a:xfrm>
            <a:off x="2627784" y="2996952"/>
            <a:ext cx="792088" cy="432048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Batch</a:t>
            </a:r>
            <a:r>
              <a:rPr lang="cs-CZ" sz="12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handler</a:t>
            </a: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2" name="Zaoblený obdélník 81"/>
          <p:cNvSpPr/>
          <p:nvPr/>
        </p:nvSpPr>
        <p:spPr bwMode="auto">
          <a:xfrm>
            <a:off x="1619672" y="2924944"/>
            <a:ext cx="864096" cy="432048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Param</a:t>
            </a:r>
            <a:r>
              <a:rPr lang="cs-CZ" sz="12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handler</a:t>
            </a: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8" name="Zaoblený obdélník 87"/>
          <p:cNvSpPr/>
          <p:nvPr/>
        </p:nvSpPr>
        <p:spPr bwMode="auto">
          <a:xfrm>
            <a:off x="6300192" y="4293096"/>
            <a:ext cx="1512168" cy="360040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Transaction</a:t>
            </a:r>
            <a:r>
              <a:rPr lang="cs-CZ" sz="12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handler</a:t>
            </a: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0" name="Zaoblený obdélník 89"/>
          <p:cNvSpPr/>
          <p:nvPr/>
        </p:nvSpPr>
        <p:spPr bwMode="auto">
          <a:xfrm>
            <a:off x="5940152" y="2996952"/>
            <a:ext cx="792088" cy="432048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Event</a:t>
            </a:r>
            <a:r>
              <a:rPr lang="cs-CZ" sz="12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handler</a:t>
            </a: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Param</a:t>
            </a: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-</a:t>
            </a: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handler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59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Oval 914"/>
          <p:cNvSpPr>
            <a:spLocks noChangeArrowheads="1"/>
          </p:cNvSpPr>
          <p:nvPr/>
        </p:nvSpPr>
        <p:spPr bwMode="auto">
          <a:xfrm>
            <a:off x="3276402" y="2274342"/>
            <a:ext cx="1296987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 Box 894"/>
          <p:cNvSpPr txBox="1">
            <a:spLocks noChangeArrowheads="1"/>
          </p:cNvSpPr>
          <p:nvPr/>
        </p:nvSpPr>
        <p:spPr bwMode="auto">
          <a:xfrm>
            <a:off x="3852664" y="2779167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B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896"/>
          <p:cNvGrpSpPr>
            <a:grpSpLocks/>
          </p:cNvGrpSpPr>
          <p:nvPr/>
        </p:nvGrpSpPr>
        <p:grpSpPr bwMode="auto">
          <a:xfrm>
            <a:off x="3779639" y="3642767"/>
            <a:ext cx="863600" cy="431800"/>
            <a:chOff x="2608" y="3430"/>
            <a:chExt cx="544" cy="272"/>
          </a:xfrm>
        </p:grpSpPr>
        <p:grpSp>
          <p:nvGrpSpPr>
            <p:cNvPr id="3" name="Group 895"/>
            <p:cNvGrpSpPr>
              <a:grpSpLocks/>
            </p:cNvGrpSpPr>
            <p:nvPr/>
          </p:nvGrpSpPr>
          <p:grpSpPr bwMode="auto">
            <a:xfrm>
              <a:off x="2608" y="3430"/>
              <a:ext cx="544" cy="272"/>
              <a:chOff x="3260" y="2036"/>
              <a:chExt cx="371" cy="213"/>
            </a:xfrm>
          </p:grpSpPr>
          <p:grpSp>
            <p:nvGrpSpPr>
              <p:cNvPr id="4" name="Group 818"/>
              <p:cNvGrpSpPr>
                <a:grpSpLocks/>
              </p:cNvGrpSpPr>
              <p:nvPr/>
            </p:nvGrpSpPr>
            <p:grpSpPr bwMode="auto">
              <a:xfrm>
                <a:off x="3262" y="2076"/>
                <a:ext cx="368" cy="173"/>
                <a:chOff x="186" y="2796"/>
                <a:chExt cx="935" cy="766"/>
              </a:xfrm>
            </p:grpSpPr>
            <p:sp>
              <p:nvSpPr>
                <p:cNvPr id="40" name="Rectangle 819"/>
                <p:cNvSpPr>
                  <a:spLocks noChangeArrowheads="1"/>
                </p:cNvSpPr>
                <p:nvPr/>
              </p:nvSpPr>
              <p:spPr bwMode="auto">
                <a:xfrm>
                  <a:off x="186" y="2796"/>
                  <a:ext cx="935" cy="61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41" name="Oval 820"/>
                <p:cNvSpPr>
                  <a:spLocks noChangeArrowheads="1"/>
                </p:cNvSpPr>
                <p:nvPr/>
              </p:nvSpPr>
              <p:spPr bwMode="auto">
                <a:xfrm>
                  <a:off x="186" y="3207"/>
                  <a:ext cx="935" cy="35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42" name="Freeform 821"/>
                <p:cNvSpPr>
                  <a:spLocks/>
                </p:cNvSpPr>
                <p:nvPr/>
              </p:nvSpPr>
              <p:spPr bwMode="auto">
                <a:xfrm>
                  <a:off x="197" y="3147"/>
                  <a:ext cx="913" cy="282"/>
                </a:xfrm>
                <a:custGeom>
                  <a:avLst/>
                  <a:gdLst/>
                  <a:ahLst/>
                  <a:cxnLst>
                    <a:cxn ang="0">
                      <a:pos x="32" y="96"/>
                    </a:cxn>
                    <a:cxn ang="0">
                      <a:pos x="0" y="216"/>
                    </a:cxn>
                    <a:cxn ang="0">
                      <a:pos x="0" y="280"/>
                    </a:cxn>
                    <a:cxn ang="0">
                      <a:pos x="56" y="336"/>
                    </a:cxn>
                    <a:cxn ang="0">
                      <a:pos x="1272" y="320"/>
                    </a:cxn>
                    <a:cxn ang="0">
                      <a:pos x="1296" y="280"/>
                    </a:cxn>
                    <a:cxn ang="0">
                      <a:pos x="1296" y="216"/>
                    </a:cxn>
                    <a:cxn ang="0">
                      <a:pos x="1272" y="152"/>
                    </a:cxn>
                    <a:cxn ang="0">
                      <a:pos x="1104" y="24"/>
                    </a:cxn>
                    <a:cxn ang="0">
                      <a:pos x="168" y="0"/>
                    </a:cxn>
                    <a:cxn ang="0">
                      <a:pos x="32" y="96"/>
                    </a:cxn>
                  </a:cxnLst>
                  <a:rect l="0" t="0" r="r" b="b"/>
                  <a:pathLst>
                    <a:path w="1296" h="336">
                      <a:moveTo>
                        <a:pt x="32" y="96"/>
                      </a:moveTo>
                      <a:lnTo>
                        <a:pt x="0" y="216"/>
                      </a:lnTo>
                      <a:lnTo>
                        <a:pt x="0" y="280"/>
                      </a:lnTo>
                      <a:lnTo>
                        <a:pt x="56" y="336"/>
                      </a:lnTo>
                      <a:lnTo>
                        <a:pt x="1272" y="320"/>
                      </a:lnTo>
                      <a:lnTo>
                        <a:pt x="1296" y="280"/>
                      </a:lnTo>
                      <a:lnTo>
                        <a:pt x="1296" y="216"/>
                      </a:lnTo>
                      <a:lnTo>
                        <a:pt x="1272" y="152"/>
                      </a:lnTo>
                      <a:lnTo>
                        <a:pt x="1104" y="24"/>
                      </a:lnTo>
                      <a:lnTo>
                        <a:pt x="168" y="0"/>
                      </a:lnTo>
                      <a:lnTo>
                        <a:pt x="32" y="9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 cap="flat">
                  <a:noFill/>
                  <a:prstDash val="sysDot"/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</p:grpSp>
          <p:sp>
            <p:nvSpPr>
              <p:cNvPr id="39" name="Oval 822"/>
              <p:cNvSpPr>
                <a:spLocks noChangeArrowheads="1"/>
              </p:cNvSpPr>
              <p:nvPr/>
            </p:nvSpPr>
            <p:spPr bwMode="auto">
              <a:xfrm>
                <a:off x="3260" y="2036"/>
                <a:ext cx="371" cy="79"/>
              </a:xfrm>
              <a:prstGeom prst="ellipse">
                <a:avLst/>
              </a:prstGeom>
              <a:gradFill rotWithShape="0">
                <a:gsLst>
                  <a:gs pos="0">
                    <a:srgbClr val="FFFF99"/>
                  </a:gs>
                  <a:gs pos="100000">
                    <a:srgbClr val="B2B2B2"/>
                  </a:gs>
                </a:gsLst>
                <a:lin ang="18900000" scaled="1"/>
              </a:gradFill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37" name="Text Box 823"/>
            <p:cNvSpPr txBox="1">
              <a:spLocks noChangeArrowheads="1"/>
            </p:cNvSpPr>
            <p:nvPr/>
          </p:nvSpPr>
          <p:spPr bwMode="auto">
            <a:xfrm>
              <a:off x="2653" y="3521"/>
              <a:ext cx="454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cs-CZ" sz="10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Databáze</a:t>
              </a:r>
              <a:endParaRPr lang="cs-CZ" sz="1000" b="1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6" name="Group 893"/>
          <p:cNvGrpSpPr>
            <a:grpSpLocks/>
          </p:cNvGrpSpPr>
          <p:nvPr/>
        </p:nvGrpSpPr>
        <p:grpSpPr bwMode="auto">
          <a:xfrm>
            <a:off x="3781227" y="2491829"/>
            <a:ext cx="144462" cy="360363"/>
            <a:chOff x="1918" y="1939"/>
            <a:chExt cx="64" cy="130"/>
          </a:xfrm>
        </p:grpSpPr>
        <p:grpSp>
          <p:nvGrpSpPr>
            <p:cNvPr id="7" name="Group 842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47" name="Rectangle 843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9" name="Oval 84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0" name="Freeform 845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46" name="Oval 846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53" name="Text Box 897"/>
          <p:cNvSpPr txBox="1">
            <a:spLocks noChangeArrowheads="1"/>
          </p:cNvSpPr>
          <p:nvPr/>
        </p:nvSpPr>
        <p:spPr bwMode="auto">
          <a:xfrm>
            <a:off x="6012160" y="3212976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</a:t>
            </a:r>
            <a:r>
              <a:rPr lang="cs-CZ" sz="10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Admin</a:t>
            </a:r>
            <a:endParaRPr lang="cs-CZ" sz="10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61" name="AutoShape 904"/>
          <p:cNvCxnSpPr>
            <a:cxnSpLocks noChangeShapeType="1"/>
            <a:stCxn id="53" idx="1"/>
            <a:endCxn id="40" idx="3"/>
          </p:cNvCxnSpPr>
          <p:nvPr/>
        </p:nvCxnSpPr>
        <p:spPr bwMode="auto">
          <a:xfrm rot="10800000" flipV="1">
            <a:off x="4640912" y="3351088"/>
            <a:ext cx="1371248" cy="512869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6600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62" name="AutoShape 905"/>
          <p:cNvCxnSpPr>
            <a:cxnSpLocks noChangeShapeType="1"/>
            <a:stCxn id="34" idx="2"/>
            <a:endCxn id="39" idx="0"/>
          </p:cNvCxnSpPr>
          <p:nvPr/>
        </p:nvCxnSpPr>
        <p:spPr bwMode="auto">
          <a:xfrm rot="5400000">
            <a:off x="4022527" y="3257004"/>
            <a:ext cx="566737" cy="188913"/>
          </a:xfrm>
          <a:prstGeom prst="curvedConnector3">
            <a:avLst>
              <a:gd name="adj1" fmla="val 49579"/>
            </a:avLst>
          </a:prstGeom>
          <a:noFill/>
          <a:ln w="25400">
            <a:solidFill>
              <a:srgbClr val="0000FF"/>
            </a:solidFill>
            <a:prstDash val="dash"/>
            <a:round/>
            <a:headEnd type="triangle" w="lg" len="lg"/>
            <a:tailEnd type="triangle" w="lg" len="lg"/>
          </a:ln>
          <a:effectLst/>
        </p:spPr>
      </p:cxnSp>
      <p:sp>
        <p:nvSpPr>
          <p:cNvPr id="75" name="Rectangle 919"/>
          <p:cNvSpPr>
            <a:spLocks noChangeArrowheads="1"/>
          </p:cNvSpPr>
          <p:nvPr/>
        </p:nvSpPr>
        <p:spPr bwMode="auto">
          <a:xfrm>
            <a:off x="3636764" y="2274342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>
                <a:latin typeface="Calibri" pitchFamily="34" charset="0"/>
                <a:cs typeface="Calibri" pitchFamily="34" charset="0"/>
              </a:rPr>
              <a:t>Místo B</a:t>
            </a:r>
          </a:p>
        </p:txBody>
      </p:sp>
      <p:sp>
        <p:nvSpPr>
          <p:cNvPr id="82" name="Rectangle 925"/>
          <p:cNvSpPr>
            <a:spLocks noChangeArrowheads="1"/>
          </p:cNvSpPr>
          <p:nvPr/>
        </p:nvSpPr>
        <p:spPr bwMode="auto">
          <a:xfrm>
            <a:off x="3852664" y="2491829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Q_FrontaB</a:t>
            </a:r>
          </a:p>
        </p:txBody>
      </p:sp>
      <p:sp>
        <p:nvSpPr>
          <p:cNvPr id="94" name="Rectangle 928"/>
          <p:cNvSpPr>
            <a:spLocks noChangeArrowheads="1"/>
          </p:cNvSpPr>
          <p:nvPr/>
        </p:nvSpPr>
        <p:spPr bwMode="auto">
          <a:xfrm>
            <a:off x="3995936" y="4437112"/>
            <a:ext cx="2808312" cy="288032"/>
          </a:xfrm>
          <a:prstGeom prst="rect">
            <a:avLst/>
          </a:prstGeom>
          <a:gradFill rotWithShape="1">
            <a:gsLst>
              <a:gs pos="0">
                <a:srgbClr val="FDFCCF">
                  <a:gamma/>
                  <a:tint val="3137"/>
                  <a:invGamma/>
                </a:srgbClr>
              </a:gs>
              <a:gs pos="100000">
                <a:srgbClr val="FDFCC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cs-CZ" sz="1050" b="1" dirty="0" err="1" smtClean="0">
                <a:latin typeface="Calibri" pitchFamily="34" charset="0"/>
                <a:cs typeface="Calibri" pitchFamily="34" charset="0"/>
              </a:rPr>
              <a:t>ParamTimeStamp</a:t>
            </a:r>
            <a:r>
              <a:rPr lang="cs-CZ" sz="1050" b="1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en-US" sz="1050" b="1" dirty="0" smtClean="0">
                <a:latin typeface="Calibri" pitchFamily="34" charset="0"/>
                <a:cs typeface="Calibri" pitchFamily="34" charset="0"/>
              </a:rPr>
              <a:t>"</a:t>
            </a:r>
            <a:r>
              <a:rPr lang="cs-CZ" sz="1050" b="1" dirty="0" smtClean="0">
                <a:latin typeface="Calibri" pitchFamily="34" charset="0"/>
                <a:cs typeface="Calibri" pitchFamily="34" charset="0"/>
              </a:rPr>
              <a:t>2017-04-05T17:30:31.456</a:t>
            </a:r>
            <a:r>
              <a:rPr lang="en-US" sz="1050" b="1" dirty="0" smtClean="0">
                <a:latin typeface="Calibri" pitchFamily="34" charset="0"/>
                <a:cs typeface="Calibri" pitchFamily="34" charset="0"/>
              </a:rPr>
              <a:t>"</a:t>
            </a:r>
            <a:endParaRPr lang="cs-CZ" sz="105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5" name="Line 929"/>
          <p:cNvSpPr>
            <a:spLocks noChangeShapeType="1"/>
          </p:cNvSpPr>
          <p:nvPr/>
        </p:nvSpPr>
        <p:spPr bwMode="auto">
          <a:xfrm flipH="1">
            <a:off x="1763688" y="4005065"/>
            <a:ext cx="2016225" cy="43204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6" name="Line 930"/>
          <p:cNvSpPr>
            <a:spLocks noChangeShapeType="1"/>
          </p:cNvSpPr>
          <p:nvPr/>
        </p:nvSpPr>
        <p:spPr bwMode="auto">
          <a:xfrm flipH="1">
            <a:off x="3707904" y="4005065"/>
            <a:ext cx="936104" cy="43204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2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288" y="3140968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85" name="Rectangle 928"/>
          <p:cNvSpPr>
            <a:spLocks noChangeArrowheads="1"/>
          </p:cNvSpPr>
          <p:nvPr/>
        </p:nvSpPr>
        <p:spPr bwMode="auto">
          <a:xfrm>
            <a:off x="1763688" y="4437112"/>
            <a:ext cx="2016224" cy="288031"/>
          </a:xfrm>
          <a:prstGeom prst="rect">
            <a:avLst/>
          </a:prstGeom>
          <a:gradFill rotWithShape="1">
            <a:gsLst>
              <a:gs pos="0">
                <a:srgbClr val="FDFCCF">
                  <a:gamma/>
                  <a:tint val="3137"/>
                  <a:invGamma/>
                </a:srgbClr>
              </a:gs>
              <a:gs pos="100000">
                <a:srgbClr val="FDFCC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cs-CZ" sz="1050" b="1" dirty="0" err="1" smtClean="0">
                <a:latin typeface="Calibri" pitchFamily="34" charset="0"/>
                <a:cs typeface="Calibri" pitchFamily="34" charset="0"/>
              </a:rPr>
              <a:t>Param</a:t>
            </a:r>
            <a:r>
              <a:rPr lang="cs-CZ" sz="1050" b="1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en-US" sz="1050" b="1" dirty="0" smtClean="0">
                <a:latin typeface="Calibri" pitchFamily="34" charset="0"/>
                <a:cs typeface="Calibri" pitchFamily="34" charset="0"/>
              </a:rPr>
              <a:t>"</a:t>
            </a:r>
            <a:r>
              <a:rPr lang="cs-CZ" sz="1050" b="1" dirty="0" err="1" smtClean="0">
                <a:latin typeface="Calibri" pitchFamily="34" charset="0"/>
                <a:cs typeface="Calibri" pitchFamily="34" charset="0"/>
              </a:rPr>
              <a:t>ParamB</a:t>
            </a:r>
            <a:r>
              <a:rPr lang="en-US" sz="1050" b="1" dirty="0" smtClean="0">
                <a:latin typeface="Calibri" pitchFamily="34" charset="0"/>
                <a:cs typeface="Calibri" pitchFamily="34" charset="0"/>
              </a:rPr>
              <a:t>"</a:t>
            </a:r>
            <a:r>
              <a:rPr lang="cs-CZ" sz="1050" b="1" dirty="0" smtClean="0">
                <a:latin typeface="Calibri" pitchFamily="34" charset="0"/>
                <a:cs typeface="Calibri" pitchFamily="34" charset="0"/>
              </a:rPr>
              <a:t> Hodnota=</a:t>
            </a:r>
            <a:r>
              <a:rPr lang="en-US" sz="1050" b="1" dirty="0" smtClean="0">
                <a:latin typeface="Calibri" pitchFamily="34" charset="0"/>
                <a:cs typeface="Calibri" pitchFamily="34" charset="0"/>
              </a:rPr>
              <a:t>"</a:t>
            </a:r>
            <a:r>
              <a:rPr lang="cs-CZ" sz="1050" b="1" dirty="0" smtClean="0">
                <a:latin typeface="Calibri" pitchFamily="34" charset="0"/>
                <a:cs typeface="Calibri" pitchFamily="34" charset="0"/>
              </a:rPr>
              <a:t>34</a:t>
            </a:r>
            <a:r>
              <a:rPr lang="en-US" sz="1050" b="1" dirty="0" smtClean="0">
                <a:latin typeface="Calibri" pitchFamily="34" charset="0"/>
                <a:cs typeface="Calibri" pitchFamily="34" charset="0"/>
              </a:rPr>
              <a:t>"</a:t>
            </a:r>
            <a:endParaRPr lang="cs-CZ" sz="105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88" name="Přímá spojovací šipka 87"/>
          <p:cNvCxnSpPr>
            <a:stCxn id="87" idx="2"/>
            <a:endCxn id="94" idx="0"/>
          </p:cNvCxnSpPr>
          <p:nvPr/>
        </p:nvCxnSpPr>
        <p:spPr bwMode="auto">
          <a:xfrm>
            <a:off x="5328084" y="2492896"/>
            <a:ext cx="72008" cy="1944216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91" name="Line 929"/>
          <p:cNvSpPr>
            <a:spLocks noChangeShapeType="1"/>
          </p:cNvSpPr>
          <p:nvPr/>
        </p:nvSpPr>
        <p:spPr bwMode="auto">
          <a:xfrm flipH="1">
            <a:off x="3995936" y="2492896"/>
            <a:ext cx="1728192" cy="43204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2" name="Line 929"/>
          <p:cNvSpPr>
            <a:spLocks noChangeShapeType="1"/>
          </p:cNvSpPr>
          <p:nvPr/>
        </p:nvSpPr>
        <p:spPr bwMode="auto">
          <a:xfrm flipH="1">
            <a:off x="3923928" y="1916832"/>
            <a:ext cx="1008112" cy="936104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3" name="Zaoblený obdélník 92"/>
          <p:cNvSpPr/>
          <p:nvPr/>
        </p:nvSpPr>
        <p:spPr bwMode="auto">
          <a:xfrm>
            <a:off x="3923928" y="2852936"/>
            <a:ext cx="72008" cy="72008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0" name="Zaoblený obdélník 99"/>
          <p:cNvSpPr/>
          <p:nvPr/>
        </p:nvSpPr>
        <p:spPr bwMode="auto">
          <a:xfrm>
            <a:off x="6012160" y="1844824"/>
            <a:ext cx="792088" cy="576064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Param</a:t>
            </a:r>
            <a:r>
              <a:rPr lang="cs-CZ" sz="12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handler</a:t>
            </a: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1" name="Přímá spojovací šipka 100"/>
          <p:cNvCxnSpPr>
            <a:stCxn id="87" idx="3"/>
            <a:endCxn id="100" idx="1"/>
          </p:cNvCxnSpPr>
          <p:nvPr/>
        </p:nvCxnSpPr>
        <p:spPr bwMode="auto">
          <a:xfrm flipV="1">
            <a:off x="5724128" y="2132856"/>
            <a:ext cx="288032" cy="7200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04" name="Rectangle 928"/>
          <p:cNvSpPr>
            <a:spLocks noChangeArrowheads="1"/>
          </p:cNvSpPr>
          <p:nvPr/>
        </p:nvSpPr>
        <p:spPr bwMode="auto">
          <a:xfrm>
            <a:off x="6084168" y="1340768"/>
            <a:ext cx="2736304" cy="288032"/>
          </a:xfrm>
          <a:prstGeom prst="rect">
            <a:avLst/>
          </a:prstGeom>
          <a:gradFill rotWithShape="1">
            <a:gsLst>
              <a:gs pos="0">
                <a:srgbClr val="FDFCCF">
                  <a:gamma/>
                  <a:tint val="3137"/>
                  <a:invGamma/>
                </a:srgbClr>
              </a:gs>
              <a:gs pos="100000">
                <a:srgbClr val="FDFCC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r>
              <a:rPr lang="cs-CZ" sz="1050" b="1" dirty="0" err="1" smtClean="0">
                <a:latin typeface="Calibri" pitchFamily="34" charset="0"/>
                <a:cs typeface="Calibri" pitchFamily="34" charset="0"/>
              </a:rPr>
              <a:t>ParamTimeStamp</a:t>
            </a:r>
            <a:r>
              <a:rPr lang="cs-CZ" sz="1050" b="1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en-US" sz="1050" b="1" dirty="0" smtClean="0">
                <a:latin typeface="Calibri" pitchFamily="34" charset="0"/>
                <a:cs typeface="Calibri" pitchFamily="34" charset="0"/>
              </a:rPr>
              <a:t>"</a:t>
            </a:r>
            <a:r>
              <a:rPr lang="cs-CZ" sz="1050" b="1" dirty="0" smtClean="0">
                <a:latin typeface="Calibri" pitchFamily="34" charset="0"/>
                <a:cs typeface="Calibri" pitchFamily="34" charset="0"/>
              </a:rPr>
              <a:t>2017-02-01T09:12:56.098</a:t>
            </a:r>
            <a:r>
              <a:rPr lang="en-US" sz="1050" b="1" dirty="0" smtClean="0">
                <a:latin typeface="Calibri" pitchFamily="34" charset="0"/>
                <a:cs typeface="Calibri" pitchFamily="34" charset="0"/>
              </a:rPr>
              <a:t>"</a:t>
            </a:r>
            <a:endParaRPr lang="cs-CZ" sz="105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5" name="AutoShape 922"/>
          <p:cNvCxnSpPr>
            <a:cxnSpLocks noChangeShapeType="1"/>
            <a:stCxn id="85" idx="0"/>
            <a:endCxn id="100" idx="0"/>
          </p:cNvCxnSpPr>
          <p:nvPr/>
        </p:nvCxnSpPr>
        <p:spPr bwMode="auto">
          <a:xfrm rot="5400000" flipH="1" flipV="1">
            <a:off x="3293858" y="1322766"/>
            <a:ext cx="2592288" cy="3636404"/>
          </a:xfrm>
          <a:prstGeom prst="curvedConnector3">
            <a:avLst>
              <a:gd name="adj1" fmla="val 111574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110" name="Přímá spojovací šipka 109"/>
          <p:cNvCxnSpPr>
            <a:stCxn id="100" idx="0"/>
            <a:endCxn id="104" idx="2"/>
          </p:cNvCxnSpPr>
          <p:nvPr/>
        </p:nvCxnSpPr>
        <p:spPr bwMode="auto">
          <a:xfrm flipV="1">
            <a:off x="6408204" y="1628800"/>
            <a:ext cx="1044116" cy="216024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14" name="Zaoblený obdélník 113"/>
          <p:cNvSpPr/>
          <p:nvPr/>
        </p:nvSpPr>
        <p:spPr bwMode="auto">
          <a:xfrm>
            <a:off x="4716016" y="2924944"/>
            <a:ext cx="72008" cy="72008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5" name="Line 929"/>
          <p:cNvSpPr>
            <a:spLocks noChangeShapeType="1"/>
          </p:cNvSpPr>
          <p:nvPr/>
        </p:nvSpPr>
        <p:spPr bwMode="auto">
          <a:xfrm flipH="1">
            <a:off x="4788024" y="2420888"/>
            <a:ext cx="1944216" cy="576064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16" name="Line 929"/>
          <p:cNvSpPr>
            <a:spLocks noChangeShapeType="1"/>
          </p:cNvSpPr>
          <p:nvPr/>
        </p:nvSpPr>
        <p:spPr bwMode="auto">
          <a:xfrm flipH="1">
            <a:off x="4716016" y="1844824"/>
            <a:ext cx="1296144" cy="108012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7" name="Zaoblený obdélník 86"/>
          <p:cNvSpPr/>
          <p:nvPr/>
        </p:nvSpPr>
        <p:spPr bwMode="auto">
          <a:xfrm>
            <a:off x="4932040" y="1916832"/>
            <a:ext cx="792088" cy="576064"/>
          </a:xfrm>
          <a:prstGeom prst="roundRect">
            <a:avLst>
              <a:gd name="adj" fmla="val 2814"/>
            </a:avLst>
          </a:prstGeom>
          <a:solidFill>
            <a:schemeClr val="bg1">
              <a:lumMod val="95000"/>
            </a:schemeClr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  <p:txBody>
          <a:bodyPr lIns="91432" tIns="45716" rIns="91432" bIns="45716" anchor="ctr"/>
          <a:lstStyle/>
          <a:p>
            <a:pPr algn="ctr">
              <a:defRPr/>
            </a:pPr>
            <a:r>
              <a:rPr lang="cs-CZ" sz="1200" b="1" dirty="0" err="1" smtClean="0">
                <a:latin typeface="Calibri" pitchFamily="34" charset="0"/>
                <a:cs typeface="Calibri" pitchFamily="34" charset="0"/>
              </a:rPr>
              <a:t>Reader</a:t>
            </a:r>
            <a:endParaRPr lang="cs-CZ" sz="1200" b="1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94" grpId="0" animBg="1"/>
      <p:bldP spid="95" grpId="0" animBg="1"/>
      <p:bldP spid="96" grpId="0" animBg="1"/>
      <p:bldP spid="85" grpId="0" animBg="1"/>
      <p:bldP spid="91" grpId="0" animBg="1"/>
      <p:bldP spid="92" grpId="0" animBg="1"/>
      <p:bldP spid="100" grpId="0" animBg="1"/>
      <p:bldP spid="104" grpId="0" animBg="1"/>
      <p:bldP spid="115" grpId="0" animBg="1"/>
      <p:bldP spid="116" grpId="0" animBg="1"/>
      <p:bldP spid="8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Aplikační </a:t>
            </a: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manager</a:t>
            </a: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 -&gt; GAM 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60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917"/>
          <p:cNvSpPr>
            <a:spLocks noChangeArrowheads="1"/>
          </p:cNvSpPr>
          <p:nvPr/>
        </p:nvSpPr>
        <p:spPr bwMode="auto">
          <a:xfrm>
            <a:off x="5652120" y="1916832"/>
            <a:ext cx="1296987" cy="576263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Oval 915"/>
          <p:cNvSpPr>
            <a:spLocks noChangeArrowheads="1"/>
          </p:cNvSpPr>
          <p:nvPr/>
        </p:nvSpPr>
        <p:spPr bwMode="auto">
          <a:xfrm>
            <a:off x="539552" y="1842542"/>
            <a:ext cx="1368425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Oval 914"/>
          <p:cNvSpPr>
            <a:spLocks noChangeArrowheads="1"/>
          </p:cNvSpPr>
          <p:nvPr/>
        </p:nvSpPr>
        <p:spPr bwMode="auto">
          <a:xfrm>
            <a:off x="3204195" y="1772370"/>
            <a:ext cx="1296987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 Box 894"/>
          <p:cNvSpPr txBox="1">
            <a:spLocks noChangeArrowheads="1"/>
          </p:cNvSpPr>
          <p:nvPr/>
        </p:nvSpPr>
        <p:spPr bwMode="auto">
          <a:xfrm>
            <a:off x="3780457" y="2277195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B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Text Box 827"/>
          <p:cNvSpPr txBox="1">
            <a:spLocks noChangeArrowheads="1"/>
          </p:cNvSpPr>
          <p:nvPr/>
        </p:nvSpPr>
        <p:spPr bwMode="auto">
          <a:xfrm>
            <a:off x="1044377" y="2634704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A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893"/>
          <p:cNvGrpSpPr>
            <a:grpSpLocks/>
          </p:cNvGrpSpPr>
          <p:nvPr/>
        </p:nvGrpSpPr>
        <p:grpSpPr bwMode="auto">
          <a:xfrm>
            <a:off x="3709020" y="1989857"/>
            <a:ext cx="144462" cy="360363"/>
            <a:chOff x="1918" y="1939"/>
            <a:chExt cx="64" cy="130"/>
          </a:xfrm>
        </p:grpSpPr>
        <p:grpSp>
          <p:nvGrpSpPr>
            <p:cNvPr id="3" name="Group 842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47" name="Rectangle 843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9" name="Oval 84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0" name="Freeform 845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46" name="Oval 846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52" name="AutoShape 856"/>
          <p:cNvCxnSpPr>
            <a:cxnSpLocks noChangeShapeType="1"/>
            <a:stCxn id="43" idx="3"/>
            <a:endCxn id="46" idx="1"/>
          </p:cNvCxnSpPr>
          <p:nvPr/>
        </p:nvCxnSpPr>
        <p:spPr bwMode="auto">
          <a:xfrm flipV="1">
            <a:off x="2139752" y="2009749"/>
            <a:ext cx="1590424" cy="763068"/>
          </a:xfrm>
          <a:prstGeom prst="curvedConnector4">
            <a:avLst>
              <a:gd name="adj1" fmla="val 49335"/>
              <a:gd name="adj2" fmla="val 132565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53" name="Text Box 897"/>
          <p:cNvSpPr txBox="1">
            <a:spLocks noChangeArrowheads="1"/>
          </p:cNvSpPr>
          <p:nvPr/>
        </p:nvSpPr>
        <p:spPr bwMode="auto">
          <a:xfrm>
            <a:off x="6156945" y="2421657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C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4" name="Group 898"/>
          <p:cNvGrpSpPr>
            <a:grpSpLocks/>
          </p:cNvGrpSpPr>
          <p:nvPr/>
        </p:nvGrpSpPr>
        <p:grpSpPr bwMode="auto">
          <a:xfrm>
            <a:off x="6085507" y="2134320"/>
            <a:ext cx="144463" cy="360362"/>
            <a:chOff x="1918" y="1939"/>
            <a:chExt cx="64" cy="130"/>
          </a:xfrm>
        </p:grpSpPr>
        <p:grpSp>
          <p:nvGrpSpPr>
            <p:cNvPr id="6" name="Group 899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57" name="Rectangle 900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8" name="Oval 901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9" name="Freeform 902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56" name="Oval 903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61" name="AutoShape 904"/>
          <p:cNvCxnSpPr>
            <a:cxnSpLocks noChangeShapeType="1"/>
            <a:stCxn id="34" idx="3"/>
            <a:endCxn id="56" idx="1"/>
          </p:cNvCxnSpPr>
          <p:nvPr/>
        </p:nvCxnSpPr>
        <p:spPr bwMode="auto">
          <a:xfrm flipV="1">
            <a:off x="4888532" y="2154957"/>
            <a:ext cx="1217613" cy="260350"/>
          </a:xfrm>
          <a:prstGeom prst="curvedConnector4">
            <a:avLst>
              <a:gd name="adj1" fmla="val 48630"/>
              <a:gd name="adj2" fmla="val 19573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grpSp>
        <p:nvGrpSpPr>
          <p:cNvPr id="7" name="Group 907"/>
          <p:cNvGrpSpPr>
            <a:grpSpLocks/>
          </p:cNvGrpSpPr>
          <p:nvPr/>
        </p:nvGrpSpPr>
        <p:grpSpPr bwMode="auto">
          <a:xfrm>
            <a:off x="755452" y="2131467"/>
            <a:ext cx="519112" cy="138112"/>
            <a:chOff x="2888" y="971"/>
            <a:chExt cx="327" cy="87"/>
          </a:xfrm>
        </p:grpSpPr>
        <p:grpSp>
          <p:nvGrpSpPr>
            <p:cNvPr id="8" name="Group 908"/>
            <p:cNvGrpSpPr>
              <a:grpSpLocks/>
            </p:cNvGrpSpPr>
            <p:nvPr/>
          </p:nvGrpSpPr>
          <p:grpSpPr bwMode="auto">
            <a:xfrm>
              <a:off x="2890" y="988"/>
              <a:ext cx="324" cy="70"/>
              <a:chOff x="186" y="2796"/>
              <a:chExt cx="935" cy="766"/>
            </a:xfrm>
          </p:grpSpPr>
          <p:sp>
            <p:nvSpPr>
              <p:cNvPr id="67" name="Rectangle 909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8" name="Oval 910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9" name="Freeform 911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66" name="Oval 912"/>
            <p:cNvSpPr>
              <a:spLocks noChangeArrowheads="1"/>
            </p:cNvSpPr>
            <p:nvPr/>
          </p:nvSpPr>
          <p:spPr bwMode="auto">
            <a:xfrm>
              <a:off x="2888" y="971"/>
              <a:ext cx="327" cy="33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50000">
                  <a:srgbClr val="FF99CC"/>
                </a:gs>
                <a:gs pos="100000">
                  <a:srgbClr val="CCEC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71" name="AutoShape 913"/>
          <p:cNvCxnSpPr>
            <a:cxnSpLocks noChangeShapeType="1"/>
            <a:stCxn id="68" idx="4"/>
            <a:endCxn id="43" idx="0"/>
          </p:cNvCxnSpPr>
          <p:nvPr/>
        </p:nvCxnSpPr>
        <p:spPr bwMode="auto">
          <a:xfrm rot="16200000" flipH="1">
            <a:off x="1127720" y="2157661"/>
            <a:ext cx="352425" cy="576262"/>
          </a:xfrm>
          <a:prstGeom prst="curvedConnector3">
            <a:avLst>
              <a:gd name="adj1" fmla="val 51801"/>
            </a:avLst>
          </a:prstGeom>
          <a:noFill/>
          <a:ln w="2540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74" name="Rectangle 918"/>
          <p:cNvSpPr>
            <a:spLocks noChangeArrowheads="1"/>
          </p:cNvSpPr>
          <p:nvPr/>
        </p:nvSpPr>
        <p:spPr bwMode="auto">
          <a:xfrm>
            <a:off x="755452" y="184254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A</a:t>
            </a:r>
          </a:p>
        </p:txBody>
      </p:sp>
      <p:sp>
        <p:nvSpPr>
          <p:cNvPr id="75" name="Rectangle 919"/>
          <p:cNvSpPr>
            <a:spLocks noChangeArrowheads="1"/>
          </p:cNvSpPr>
          <p:nvPr/>
        </p:nvSpPr>
        <p:spPr bwMode="auto">
          <a:xfrm>
            <a:off x="3564557" y="1772370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B</a:t>
            </a:r>
          </a:p>
        </p:txBody>
      </p:sp>
      <p:sp>
        <p:nvSpPr>
          <p:cNvPr id="76" name="Rectangle 920"/>
          <p:cNvSpPr>
            <a:spLocks noChangeArrowheads="1"/>
          </p:cNvSpPr>
          <p:nvPr/>
        </p:nvSpPr>
        <p:spPr bwMode="auto">
          <a:xfrm>
            <a:off x="5941045" y="19168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1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100" b="1" dirty="0">
                <a:latin typeface="Calibri" pitchFamily="34" charset="0"/>
                <a:cs typeface="Calibri" pitchFamily="34" charset="0"/>
              </a:rPr>
              <a:t>C</a:t>
            </a:r>
          </a:p>
        </p:txBody>
      </p:sp>
      <p:sp>
        <p:nvSpPr>
          <p:cNvPr id="82" name="Rectangle 925"/>
          <p:cNvSpPr>
            <a:spLocks noChangeArrowheads="1"/>
          </p:cNvSpPr>
          <p:nvPr/>
        </p:nvSpPr>
        <p:spPr bwMode="auto">
          <a:xfrm>
            <a:off x="3780457" y="1989857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Q_FrontaB</a:t>
            </a:r>
          </a:p>
        </p:txBody>
      </p:sp>
      <p:sp>
        <p:nvSpPr>
          <p:cNvPr id="84" name="Rectangle 926"/>
          <p:cNvSpPr>
            <a:spLocks noChangeArrowheads="1"/>
          </p:cNvSpPr>
          <p:nvPr/>
        </p:nvSpPr>
        <p:spPr bwMode="auto">
          <a:xfrm>
            <a:off x="1188839" y="2058442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/pis/…/adrA</a:t>
            </a:r>
          </a:p>
        </p:txBody>
      </p:sp>
      <p:sp>
        <p:nvSpPr>
          <p:cNvPr id="86" name="Rectangle 927"/>
          <p:cNvSpPr>
            <a:spLocks noChangeArrowheads="1"/>
          </p:cNvSpPr>
          <p:nvPr/>
        </p:nvSpPr>
        <p:spPr bwMode="auto">
          <a:xfrm>
            <a:off x="6156945" y="21327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Q_FrontaC</a:t>
            </a:r>
          </a:p>
        </p:txBody>
      </p:sp>
      <p:sp>
        <p:nvSpPr>
          <p:cNvPr id="54" name="Text Box 921"/>
          <p:cNvSpPr txBox="1">
            <a:spLocks noChangeArrowheads="1"/>
          </p:cNvSpPr>
          <p:nvPr/>
        </p:nvSpPr>
        <p:spPr bwMode="auto">
          <a:xfrm>
            <a:off x="1259632" y="4797153"/>
            <a:ext cx="1152128" cy="288032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2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GAM</a:t>
            </a:r>
            <a:endParaRPr lang="cs-CZ" sz="12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55" name="AutoShape 922"/>
          <p:cNvCxnSpPr>
            <a:cxnSpLocks noChangeShapeType="1"/>
            <a:stCxn id="43" idx="2"/>
            <a:endCxn id="72" idx="1"/>
          </p:cNvCxnSpPr>
          <p:nvPr/>
        </p:nvCxnSpPr>
        <p:spPr bwMode="auto">
          <a:xfrm rot="5400000">
            <a:off x="555378" y="3564332"/>
            <a:ext cx="1690091" cy="38328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77" name="AutoShape 922"/>
          <p:cNvCxnSpPr>
            <a:cxnSpLocks noChangeShapeType="1"/>
            <a:stCxn id="34" idx="2"/>
            <a:endCxn id="72" idx="0"/>
          </p:cNvCxnSpPr>
          <p:nvPr/>
        </p:nvCxnSpPr>
        <p:spPr bwMode="auto">
          <a:xfrm rot="5400000">
            <a:off x="1780146" y="2033129"/>
            <a:ext cx="2027708" cy="306829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cxnSp>
        <p:nvCxnSpPr>
          <p:cNvPr id="98" name="AutoShape 922"/>
          <p:cNvCxnSpPr>
            <a:cxnSpLocks noChangeShapeType="1"/>
            <a:stCxn id="53" idx="2"/>
            <a:endCxn id="72" idx="7"/>
          </p:cNvCxnSpPr>
          <p:nvPr/>
        </p:nvCxnSpPr>
        <p:spPr bwMode="auto">
          <a:xfrm rot="5400000">
            <a:off x="3056213" y="952600"/>
            <a:ext cx="1903138" cy="5393703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prstDash val="lgDashDot"/>
            <a:round/>
            <a:headEnd type="none" w="sm" len="sm"/>
            <a:tailEnd type="triangle" w="med" len="med"/>
          </a:ln>
          <a:effectLst/>
        </p:spPr>
      </p:cxnSp>
      <p:grpSp>
        <p:nvGrpSpPr>
          <p:cNvPr id="9" name="Group 893"/>
          <p:cNvGrpSpPr>
            <a:grpSpLocks/>
          </p:cNvGrpSpPr>
          <p:nvPr/>
        </p:nvGrpSpPr>
        <p:grpSpPr bwMode="auto">
          <a:xfrm>
            <a:off x="1187624" y="4581128"/>
            <a:ext cx="144462" cy="360363"/>
            <a:chOff x="1918" y="1939"/>
            <a:chExt cx="64" cy="130"/>
          </a:xfrm>
        </p:grpSpPr>
        <p:grpSp>
          <p:nvGrpSpPr>
            <p:cNvPr id="12" name="Group 842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73" name="Rectangle 843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78" name="Oval 84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79" name="Freeform 845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72" name="Oval 846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51" name="Group 896"/>
          <p:cNvGrpSpPr>
            <a:grpSpLocks/>
          </p:cNvGrpSpPr>
          <p:nvPr/>
        </p:nvGrpSpPr>
        <p:grpSpPr bwMode="auto">
          <a:xfrm>
            <a:off x="4067944" y="3140968"/>
            <a:ext cx="863600" cy="431800"/>
            <a:chOff x="2608" y="3430"/>
            <a:chExt cx="544" cy="272"/>
          </a:xfrm>
        </p:grpSpPr>
        <p:grpSp>
          <p:nvGrpSpPr>
            <p:cNvPr id="60" name="Group 895"/>
            <p:cNvGrpSpPr>
              <a:grpSpLocks/>
            </p:cNvGrpSpPr>
            <p:nvPr/>
          </p:nvGrpSpPr>
          <p:grpSpPr bwMode="auto">
            <a:xfrm>
              <a:off x="2608" y="3430"/>
              <a:ext cx="544" cy="272"/>
              <a:chOff x="3260" y="2036"/>
              <a:chExt cx="371" cy="213"/>
            </a:xfrm>
          </p:grpSpPr>
          <p:grpSp>
            <p:nvGrpSpPr>
              <p:cNvPr id="63" name="Group 818"/>
              <p:cNvGrpSpPr>
                <a:grpSpLocks/>
              </p:cNvGrpSpPr>
              <p:nvPr/>
            </p:nvGrpSpPr>
            <p:grpSpPr bwMode="auto">
              <a:xfrm>
                <a:off x="3262" y="2076"/>
                <a:ext cx="368" cy="173"/>
                <a:chOff x="186" y="2796"/>
                <a:chExt cx="935" cy="766"/>
              </a:xfrm>
            </p:grpSpPr>
            <p:sp>
              <p:nvSpPr>
                <p:cNvPr id="65" name="Rectangle 819"/>
                <p:cNvSpPr>
                  <a:spLocks noChangeArrowheads="1"/>
                </p:cNvSpPr>
                <p:nvPr/>
              </p:nvSpPr>
              <p:spPr bwMode="auto">
                <a:xfrm>
                  <a:off x="186" y="2796"/>
                  <a:ext cx="935" cy="61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70" name="Oval 820"/>
                <p:cNvSpPr>
                  <a:spLocks noChangeArrowheads="1"/>
                </p:cNvSpPr>
                <p:nvPr/>
              </p:nvSpPr>
              <p:spPr bwMode="auto">
                <a:xfrm>
                  <a:off x="186" y="3207"/>
                  <a:ext cx="935" cy="35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80" name="Freeform 821"/>
                <p:cNvSpPr>
                  <a:spLocks/>
                </p:cNvSpPr>
                <p:nvPr/>
              </p:nvSpPr>
              <p:spPr bwMode="auto">
                <a:xfrm>
                  <a:off x="197" y="3147"/>
                  <a:ext cx="913" cy="282"/>
                </a:xfrm>
                <a:custGeom>
                  <a:avLst/>
                  <a:gdLst/>
                  <a:ahLst/>
                  <a:cxnLst>
                    <a:cxn ang="0">
                      <a:pos x="32" y="96"/>
                    </a:cxn>
                    <a:cxn ang="0">
                      <a:pos x="0" y="216"/>
                    </a:cxn>
                    <a:cxn ang="0">
                      <a:pos x="0" y="280"/>
                    </a:cxn>
                    <a:cxn ang="0">
                      <a:pos x="56" y="336"/>
                    </a:cxn>
                    <a:cxn ang="0">
                      <a:pos x="1272" y="320"/>
                    </a:cxn>
                    <a:cxn ang="0">
                      <a:pos x="1296" y="280"/>
                    </a:cxn>
                    <a:cxn ang="0">
                      <a:pos x="1296" y="216"/>
                    </a:cxn>
                    <a:cxn ang="0">
                      <a:pos x="1272" y="152"/>
                    </a:cxn>
                    <a:cxn ang="0">
                      <a:pos x="1104" y="24"/>
                    </a:cxn>
                    <a:cxn ang="0">
                      <a:pos x="168" y="0"/>
                    </a:cxn>
                    <a:cxn ang="0">
                      <a:pos x="32" y="96"/>
                    </a:cxn>
                  </a:cxnLst>
                  <a:rect l="0" t="0" r="r" b="b"/>
                  <a:pathLst>
                    <a:path w="1296" h="336">
                      <a:moveTo>
                        <a:pt x="32" y="96"/>
                      </a:moveTo>
                      <a:lnTo>
                        <a:pt x="0" y="216"/>
                      </a:lnTo>
                      <a:lnTo>
                        <a:pt x="0" y="280"/>
                      </a:lnTo>
                      <a:lnTo>
                        <a:pt x="56" y="336"/>
                      </a:lnTo>
                      <a:lnTo>
                        <a:pt x="1272" y="320"/>
                      </a:lnTo>
                      <a:lnTo>
                        <a:pt x="1296" y="280"/>
                      </a:lnTo>
                      <a:lnTo>
                        <a:pt x="1296" y="216"/>
                      </a:lnTo>
                      <a:lnTo>
                        <a:pt x="1272" y="152"/>
                      </a:lnTo>
                      <a:lnTo>
                        <a:pt x="1104" y="24"/>
                      </a:lnTo>
                      <a:lnTo>
                        <a:pt x="168" y="0"/>
                      </a:lnTo>
                      <a:lnTo>
                        <a:pt x="32" y="9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 cap="flat">
                  <a:noFill/>
                  <a:prstDash val="sysDot"/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</p:grpSp>
          <p:sp>
            <p:nvSpPr>
              <p:cNvPr id="64" name="Oval 822"/>
              <p:cNvSpPr>
                <a:spLocks noChangeArrowheads="1"/>
              </p:cNvSpPr>
              <p:nvPr/>
            </p:nvSpPr>
            <p:spPr bwMode="auto">
              <a:xfrm>
                <a:off x="3260" y="2036"/>
                <a:ext cx="371" cy="79"/>
              </a:xfrm>
              <a:prstGeom prst="ellipse">
                <a:avLst/>
              </a:prstGeom>
              <a:gradFill rotWithShape="0">
                <a:gsLst>
                  <a:gs pos="0">
                    <a:srgbClr val="FFFF99"/>
                  </a:gs>
                  <a:gs pos="100000">
                    <a:srgbClr val="B2B2B2"/>
                  </a:gs>
                </a:gsLst>
                <a:lin ang="18900000" scaled="1"/>
              </a:gradFill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62" name="Text Box 823"/>
            <p:cNvSpPr txBox="1">
              <a:spLocks noChangeArrowheads="1"/>
            </p:cNvSpPr>
            <p:nvPr/>
          </p:nvSpPr>
          <p:spPr bwMode="auto">
            <a:xfrm>
              <a:off x="2653" y="3521"/>
              <a:ext cx="454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cs-CZ" sz="10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Databáze</a:t>
              </a:r>
              <a:endParaRPr lang="cs-CZ" sz="1000" b="1" dirty="0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81" name="AutoShape 905"/>
          <p:cNvCxnSpPr>
            <a:cxnSpLocks noChangeShapeType="1"/>
            <a:stCxn id="34" idx="2"/>
            <a:endCxn id="64" idx="0"/>
          </p:cNvCxnSpPr>
          <p:nvPr/>
        </p:nvCxnSpPr>
        <p:spPr bwMode="auto">
          <a:xfrm rot="16200000" flipH="1">
            <a:off x="4120170" y="2761394"/>
            <a:ext cx="587548" cy="171599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rgbClr val="FF0000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87" name="AutoShape 905"/>
          <p:cNvCxnSpPr>
            <a:cxnSpLocks noChangeShapeType="1"/>
            <a:stCxn id="43" idx="2"/>
            <a:endCxn id="64" idx="0"/>
          </p:cNvCxnSpPr>
          <p:nvPr/>
        </p:nvCxnSpPr>
        <p:spPr bwMode="auto">
          <a:xfrm rot="16200000" flipH="1">
            <a:off x="2930885" y="1572108"/>
            <a:ext cx="230039" cy="2907679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rgbClr val="FF0000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90" name="AutoShape 905"/>
          <p:cNvCxnSpPr>
            <a:cxnSpLocks noChangeShapeType="1"/>
            <a:stCxn id="53" idx="2"/>
            <a:endCxn id="64" idx="0"/>
          </p:cNvCxnSpPr>
          <p:nvPr/>
        </p:nvCxnSpPr>
        <p:spPr bwMode="auto">
          <a:xfrm rot="5400000">
            <a:off x="5380646" y="1816981"/>
            <a:ext cx="443086" cy="2204889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rgbClr val="FF0000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93" name="AutoShape 905"/>
          <p:cNvCxnSpPr>
            <a:cxnSpLocks noChangeShapeType="1"/>
            <a:stCxn id="70" idx="4"/>
            <a:endCxn id="54" idx="0"/>
          </p:cNvCxnSpPr>
          <p:nvPr/>
        </p:nvCxnSpPr>
        <p:spPr bwMode="auto">
          <a:xfrm rot="5400000">
            <a:off x="2556111" y="2852354"/>
            <a:ext cx="1224385" cy="2665213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rgbClr val="FF0000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sp>
        <p:nvSpPr>
          <p:cNvPr id="96" name="Rectangle 172"/>
          <p:cNvSpPr>
            <a:spLocks noChangeArrowheads="1"/>
          </p:cNvSpPr>
          <p:nvPr/>
        </p:nvSpPr>
        <p:spPr bwMode="auto">
          <a:xfrm>
            <a:off x="4932040" y="3573016"/>
            <a:ext cx="3672408" cy="2592288"/>
          </a:xfrm>
          <a:prstGeom prst="rect">
            <a:avLst/>
          </a:prstGeom>
          <a:gradFill rotWithShape="1">
            <a:gsLst>
              <a:gs pos="0">
                <a:srgbClr val="FDFCCF">
                  <a:gamma/>
                  <a:tint val="3137"/>
                  <a:invGamma/>
                </a:srgbClr>
              </a:gs>
              <a:gs pos="100000">
                <a:srgbClr val="FDFCC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t"/>
          <a:lstStyle/>
          <a:p>
            <a:endParaRPr lang="cs-CZ" sz="900" b="1" dirty="0" smtClean="0">
              <a:latin typeface="Consolas" pitchFamily="49" charset="0"/>
            </a:endParaRPr>
          </a:p>
          <a:p>
            <a:r>
              <a:rPr lang="cs-CZ" sz="900" b="1" dirty="0" smtClean="0">
                <a:latin typeface="Consolas" pitchFamily="49" charset="0"/>
              </a:rPr>
              <a:t>     :</a:t>
            </a:r>
          </a:p>
          <a:p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&lt;Status 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Name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=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B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 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TimeOver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="30"&gt;</a:t>
            </a:r>
          </a:p>
          <a:p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  &lt;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Event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 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Name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=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TimeOver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 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NextStatus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=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END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&gt;</a:t>
            </a:r>
          </a:p>
          <a:p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     &lt;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Action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 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Fce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=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Log(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'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Nenastartoval 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PrgA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'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)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/&gt;</a:t>
            </a:r>
          </a:p>
          <a:p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  &lt;/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Event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&gt;</a:t>
            </a:r>
          </a:p>
          <a:p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  &lt;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Event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 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Name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=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StartPrg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 </a:t>
            </a:r>
            <a:r>
              <a:rPr lang="cs-CZ" sz="900" b="1" dirty="0" err="1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NextStatus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=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C</a:t>
            </a:r>
            <a:r>
              <a:rPr lang="en-US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"</a:t>
            </a:r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/&gt;</a:t>
            </a:r>
          </a:p>
          <a:p>
            <a:r>
              <a:rPr lang="cs-CZ" sz="900" b="1" dirty="0" smtClean="0">
                <a:solidFill>
                  <a:schemeClr val="bg1">
                    <a:lumMod val="65000"/>
                  </a:schemeClr>
                </a:solidFill>
                <a:latin typeface="Consolas" pitchFamily="49" charset="0"/>
              </a:rPr>
              <a:t>&lt;/Status&gt;</a:t>
            </a:r>
          </a:p>
          <a:p>
            <a:endParaRPr lang="cs-CZ" sz="900" b="1" dirty="0" smtClean="0">
              <a:latin typeface="Consolas" pitchFamily="49" charset="0"/>
            </a:endParaRPr>
          </a:p>
          <a:p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>
                <a:latin typeface="Consolas" pitchFamily="49" charset="0"/>
              </a:rPr>
              <a:t>Status </a:t>
            </a:r>
            <a:r>
              <a:rPr lang="cs-CZ" sz="900" b="1" dirty="0" err="1">
                <a:latin typeface="Consolas" pitchFamily="49" charset="0"/>
              </a:rPr>
              <a:t>Name</a:t>
            </a:r>
            <a:r>
              <a:rPr lang="cs-CZ" sz="900" b="1" dirty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C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TimeOver</a:t>
            </a:r>
            <a:r>
              <a:rPr lang="cs-CZ" sz="900" b="1" dirty="0" smtClean="0">
                <a:latin typeface="Consolas" pitchFamily="49" charset="0"/>
              </a:rPr>
              <a:t>="60"&gt;</a:t>
            </a:r>
            <a:endParaRPr lang="cs-CZ" sz="900" b="1" dirty="0">
              <a:latin typeface="Consolas" pitchFamily="49" charset="0"/>
            </a:endParaRPr>
          </a:p>
          <a:p>
            <a:r>
              <a:rPr lang="cs-CZ" sz="900" b="1" dirty="0" smtClean="0">
                <a:latin typeface="Consolas" pitchFamily="49" charset="0"/>
              </a:rPr>
              <a:t>  &lt;</a:t>
            </a:r>
            <a:r>
              <a:rPr lang="cs-CZ" sz="900" b="1" dirty="0" err="1" smtClean="0">
                <a:latin typeface="Consolas" pitchFamily="49" charset="0"/>
              </a:rPr>
              <a:t>Event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Name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err="1" smtClean="0">
                <a:latin typeface="Consolas" pitchFamily="49" charset="0"/>
              </a:rPr>
              <a:t>TimeOver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NextStatus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C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r>
              <a:rPr lang="cs-CZ" sz="900" b="1" dirty="0" smtClean="0">
                <a:latin typeface="Consolas" pitchFamily="49" charset="0"/>
              </a:rPr>
              <a:t>    &lt;</a:t>
            </a:r>
            <a:r>
              <a:rPr lang="cs-CZ" sz="900" b="1" dirty="0" err="1" smtClean="0">
                <a:latin typeface="Consolas" pitchFamily="49" charset="0"/>
              </a:rPr>
              <a:t>Action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Fce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err="1" smtClean="0">
                <a:latin typeface="Consolas" pitchFamily="49" charset="0"/>
              </a:rPr>
              <a:t>TestPrg</a:t>
            </a:r>
            <a:r>
              <a:rPr lang="cs-CZ" sz="900" b="1" dirty="0" smtClean="0">
                <a:latin typeface="Consolas" pitchFamily="49" charset="0"/>
              </a:rPr>
              <a:t>(</a:t>
            </a:r>
            <a:r>
              <a:rPr lang="en-US" sz="900" b="1" dirty="0" smtClean="0">
                <a:latin typeface="Consolas" pitchFamily="49" charset="0"/>
              </a:rPr>
              <a:t>'</a:t>
            </a:r>
            <a:r>
              <a:rPr lang="cs-CZ" sz="900" b="1" dirty="0" err="1" smtClean="0">
                <a:latin typeface="Consolas" pitchFamily="49" charset="0"/>
              </a:rPr>
              <a:t>PrgA</a:t>
            </a:r>
            <a:r>
              <a:rPr lang="en-US" sz="900" b="1" dirty="0" smtClean="0">
                <a:latin typeface="Consolas" pitchFamily="49" charset="0"/>
              </a:rPr>
              <a:t>'‚'</a:t>
            </a:r>
            <a:r>
              <a:rPr lang="cs-CZ" sz="900" b="1" dirty="0" err="1" smtClean="0">
                <a:latin typeface="Consolas" pitchFamily="49" charset="0"/>
              </a:rPr>
              <a:t>ProgramNepracuje</a:t>
            </a:r>
            <a:r>
              <a:rPr lang="en-US" sz="900" b="1" dirty="0" smtClean="0">
                <a:latin typeface="Consolas" pitchFamily="49" charset="0"/>
              </a:rPr>
              <a:t>'</a:t>
            </a:r>
            <a:r>
              <a:rPr lang="cs-CZ" sz="900" b="1" dirty="0" smtClean="0">
                <a:latin typeface="Consolas" pitchFamily="49" charset="0"/>
              </a:rPr>
              <a:t>)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/&gt;</a:t>
            </a:r>
          </a:p>
          <a:p>
            <a:r>
              <a:rPr lang="cs-CZ" sz="900" b="1" dirty="0" smtClean="0">
                <a:latin typeface="Consolas" pitchFamily="49" charset="0"/>
              </a:rPr>
              <a:t>  &lt;/</a:t>
            </a:r>
            <a:r>
              <a:rPr lang="cs-CZ" sz="900" b="1" dirty="0" err="1" smtClean="0">
                <a:latin typeface="Consolas" pitchFamily="49" charset="0"/>
              </a:rPr>
              <a:t>Event</a:t>
            </a:r>
            <a:r>
              <a:rPr lang="cs-CZ" sz="900" b="1" dirty="0" smtClean="0">
                <a:latin typeface="Consolas" pitchFamily="49" charset="0"/>
              </a:rPr>
              <a:t>&gt;</a:t>
            </a:r>
          </a:p>
          <a:p>
            <a:r>
              <a:rPr lang="cs-CZ" sz="900" b="1" dirty="0" smtClean="0">
                <a:latin typeface="Consolas" pitchFamily="49" charset="0"/>
              </a:rPr>
              <a:t>  &lt;</a:t>
            </a:r>
            <a:r>
              <a:rPr lang="cs-CZ" sz="900" b="1" dirty="0" err="1">
                <a:latin typeface="Consolas" pitchFamily="49" charset="0"/>
              </a:rPr>
              <a:t>Event</a:t>
            </a:r>
            <a:r>
              <a:rPr lang="cs-CZ" sz="900" b="1" dirty="0">
                <a:latin typeface="Consolas" pitchFamily="49" charset="0"/>
              </a:rPr>
              <a:t> </a:t>
            </a:r>
            <a:r>
              <a:rPr lang="cs-CZ" sz="900" b="1" dirty="0" err="1">
                <a:latin typeface="Consolas" pitchFamily="49" charset="0"/>
              </a:rPr>
              <a:t>Name</a:t>
            </a:r>
            <a:r>
              <a:rPr lang="cs-CZ" sz="900" b="1" dirty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err="1" smtClean="0">
                <a:latin typeface="Consolas" pitchFamily="49" charset="0"/>
              </a:rPr>
              <a:t>ProgramNepracuje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>
                <a:latin typeface="Consolas" pitchFamily="49" charset="0"/>
              </a:rPr>
              <a:t>NextStatus</a:t>
            </a:r>
            <a:r>
              <a:rPr lang="cs-CZ" sz="900" b="1" dirty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smtClean="0">
                <a:latin typeface="Consolas" pitchFamily="49" charset="0"/>
              </a:rPr>
              <a:t>B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>
                <a:latin typeface="Consolas" pitchFamily="49" charset="0"/>
              </a:rPr>
              <a:t>&gt;</a:t>
            </a:r>
          </a:p>
          <a:p>
            <a:r>
              <a:rPr lang="cs-CZ" sz="900" b="1" dirty="0">
                <a:latin typeface="Consolas" pitchFamily="49" charset="0"/>
              </a:rPr>
              <a:t>    </a:t>
            </a:r>
            <a:r>
              <a:rPr lang="cs-CZ" sz="900" b="1" dirty="0" smtClean="0">
                <a:latin typeface="Consolas" pitchFamily="49" charset="0"/>
              </a:rPr>
              <a:t>&lt;</a:t>
            </a:r>
            <a:r>
              <a:rPr lang="cs-CZ" sz="900" b="1" dirty="0" err="1" smtClean="0">
                <a:latin typeface="Consolas" pitchFamily="49" charset="0"/>
              </a:rPr>
              <a:t>Action</a:t>
            </a:r>
            <a:r>
              <a:rPr lang="cs-CZ" sz="900" b="1" dirty="0" smtClean="0">
                <a:latin typeface="Consolas" pitchFamily="49" charset="0"/>
              </a:rPr>
              <a:t> </a:t>
            </a:r>
            <a:r>
              <a:rPr lang="cs-CZ" sz="900" b="1" dirty="0" err="1" smtClean="0">
                <a:latin typeface="Consolas" pitchFamily="49" charset="0"/>
              </a:rPr>
              <a:t>Fce</a:t>
            </a:r>
            <a:r>
              <a:rPr lang="cs-CZ" sz="900" b="1" dirty="0" smtClean="0">
                <a:latin typeface="Consolas" pitchFamily="49" charset="0"/>
              </a:rPr>
              <a:t>=</a:t>
            </a:r>
            <a:r>
              <a:rPr lang="en-US" sz="900" b="1" dirty="0" smtClean="0">
                <a:latin typeface="Consolas" pitchFamily="49" charset="0"/>
              </a:rPr>
              <a:t>"</a:t>
            </a:r>
            <a:r>
              <a:rPr lang="cs-CZ" sz="900" b="1" dirty="0" err="1" smtClean="0">
                <a:latin typeface="Consolas" pitchFamily="49" charset="0"/>
              </a:rPr>
              <a:t>StartPrg</a:t>
            </a:r>
            <a:r>
              <a:rPr lang="cs-CZ" sz="900" b="1" dirty="0">
                <a:latin typeface="Consolas" pitchFamily="49" charset="0"/>
              </a:rPr>
              <a:t>(</a:t>
            </a:r>
            <a:r>
              <a:rPr lang="en-US" sz="900" b="1" dirty="0">
                <a:latin typeface="Consolas" pitchFamily="49" charset="0"/>
              </a:rPr>
              <a:t>'</a:t>
            </a:r>
            <a:r>
              <a:rPr lang="cs-CZ" sz="900" b="1" dirty="0" err="1" smtClean="0">
                <a:latin typeface="Consolas" pitchFamily="49" charset="0"/>
              </a:rPr>
              <a:t>PrgA</a:t>
            </a:r>
            <a:r>
              <a:rPr lang="en-US" sz="900" b="1" dirty="0" smtClean="0">
                <a:latin typeface="Consolas" pitchFamily="49" charset="0"/>
              </a:rPr>
              <a:t>'</a:t>
            </a:r>
            <a:r>
              <a:rPr lang="cs-CZ" sz="900" b="1" dirty="0" smtClean="0">
                <a:latin typeface="Consolas" pitchFamily="49" charset="0"/>
              </a:rPr>
              <a:t>)</a:t>
            </a:r>
            <a:r>
              <a:rPr lang="en-US" sz="900" b="1" dirty="0">
                <a:latin typeface="Consolas" pitchFamily="49" charset="0"/>
              </a:rPr>
              <a:t>"</a:t>
            </a:r>
            <a:r>
              <a:rPr lang="cs-CZ" sz="900" b="1" dirty="0">
                <a:latin typeface="Consolas" pitchFamily="49" charset="0"/>
              </a:rPr>
              <a:t>/&gt;</a:t>
            </a:r>
          </a:p>
          <a:p>
            <a:r>
              <a:rPr lang="cs-CZ" sz="900" b="1" dirty="0" smtClean="0">
                <a:latin typeface="Consolas" pitchFamily="49" charset="0"/>
              </a:rPr>
              <a:t>  &lt;/</a:t>
            </a:r>
            <a:r>
              <a:rPr lang="cs-CZ" sz="900" b="1" dirty="0" err="1">
                <a:latin typeface="Consolas" pitchFamily="49" charset="0"/>
              </a:rPr>
              <a:t>Event</a:t>
            </a:r>
            <a:r>
              <a:rPr lang="cs-CZ" sz="900" b="1" dirty="0">
                <a:latin typeface="Consolas" pitchFamily="49" charset="0"/>
              </a:rPr>
              <a:t>&gt;</a:t>
            </a:r>
          </a:p>
          <a:p>
            <a:r>
              <a:rPr lang="cs-CZ" sz="900" b="1" dirty="0" smtClean="0">
                <a:latin typeface="Consolas" pitchFamily="49" charset="0"/>
              </a:rPr>
              <a:t>&lt;/</a:t>
            </a:r>
            <a:r>
              <a:rPr lang="cs-CZ" sz="900" b="1" dirty="0">
                <a:latin typeface="Consolas" pitchFamily="49" charset="0"/>
              </a:rPr>
              <a:t>Status</a:t>
            </a:r>
            <a:r>
              <a:rPr lang="cs-CZ" sz="900" b="1" dirty="0" smtClean="0">
                <a:latin typeface="Consolas" pitchFamily="49" charset="0"/>
              </a:rPr>
              <a:t>&gt;</a:t>
            </a:r>
            <a:endParaRPr lang="cs-CZ" sz="900" b="1" dirty="0"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Zaoblený obdélník 203"/>
          <p:cNvSpPr/>
          <p:nvPr/>
        </p:nvSpPr>
        <p:spPr bwMode="auto">
          <a:xfrm>
            <a:off x="7524328" y="177281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M86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7" name="Zaoblený obdélník 196"/>
          <p:cNvSpPr/>
          <p:nvPr/>
        </p:nvSpPr>
        <p:spPr bwMode="auto">
          <a:xfrm>
            <a:off x="6012160" y="1700808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M27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6" name="Zaoblený obdélník 195"/>
          <p:cNvSpPr/>
          <p:nvPr/>
        </p:nvSpPr>
        <p:spPr bwMode="auto">
          <a:xfrm>
            <a:off x="3059832" y="1916832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M05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Topologie GAM-systému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61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3" name="Skupina 84"/>
          <p:cNvGrpSpPr>
            <a:grpSpLocks/>
          </p:cNvGrpSpPr>
          <p:nvPr/>
        </p:nvGrpSpPr>
        <p:grpSpPr bwMode="auto">
          <a:xfrm>
            <a:off x="1907704" y="2060848"/>
            <a:ext cx="432048" cy="144016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83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85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88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89" name="Přímá spojovací čára 102"/>
            <p:cNvCxnSpPr>
              <a:cxnSpLocks noChangeShapeType="1"/>
              <a:stCxn id="88" idx="6"/>
              <a:endCxn id="83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91" name="Přímá spojovací čára 103"/>
            <p:cNvCxnSpPr>
              <a:cxnSpLocks noChangeShapeType="1"/>
              <a:stCxn id="88" idx="2"/>
              <a:endCxn id="83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2" name="Skupina 84"/>
          <p:cNvGrpSpPr>
            <a:grpSpLocks/>
          </p:cNvGrpSpPr>
          <p:nvPr/>
        </p:nvGrpSpPr>
        <p:grpSpPr bwMode="auto">
          <a:xfrm>
            <a:off x="1979712" y="2132856"/>
            <a:ext cx="432048" cy="144016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94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95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97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99" name="Přímá spojovací čára 102"/>
            <p:cNvCxnSpPr>
              <a:cxnSpLocks noChangeShapeType="1"/>
              <a:stCxn id="97" idx="6"/>
              <a:endCxn id="94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0" name="Přímá spojovací čára 103"/>
            <p:cNvCxnSpPr>
              <a:cxnSpLocks noChangeShapeType="1"/>
              <a:stCxn id="97" idx="2"/>
              <a:endCxn id="94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0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Zaoblený obdélník 101"/>
          <p:cNvSpPr/>
          <p:nvPr/>
        </p:nvSpPr>
        <p:spPr bwMode="auto">
          <a:xfrm>
            <a:off x="971600" y="3068959"/>
            <a:ext cx="7200800" cy="3024337"/>
          </a:xfrm>
          <a:prstGeom prst="roundRect">
            <a:avLst>
              <a:gd name="adj" fmla="val 2814"/>
            </a:avLst>
          </a:prstGeom>
          <a:gradFill>
            <a:gsLst>
              <a:gs pos="0">
                <a:srgbClr val="BEFEE6"/>
              </a:gs>
              <a:gs pos="50000">
                <a:srgbClr val="C8DCDE"/>
              </a:gs>
              <a:gs pos="100000">
                <a:srgbClr val="9BD8D9"/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14300" dir="18900000" algn="bl" rotWithShape="0">
              <a:prstClr val="black">
                <a:alpha val="40000"/>
              </a:prstClr>
            </a:outerShdw>
          </a:effectLst>
        </p:spPr>
        <p:txBody>
          <a:bodyPr lIns="91432" tIns="45716" rIns="91432" bIns="45716" anchor="ctr"/>
          <a:lstStyle/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  <a:p>
            <a:pPr algn="ctr">
              <a:defRPr/>
            </a:pPr>
            <a:endParaRPr lang="cs-CZ" sz="2800" b="1" dirty="0"/>
          </a:p>
        </p:txBody>
      </p:sp>
      <p:grpSp>
        <p:nvGrpSpPr>
          <p:cNvPr id="103" name="Skupina 84"/>
          <p:cNvGrpSpPr>
            <a:grpSpLocks/>
          </p:cNvGrpSpPr>
          <p:nvPr/>
        </p:nvGrpSpPr>
        <p:grpSpPr bwMode="auto">
          <a:xfrm>
            <a:off x="1331640" y="2204864"/>
            <a:ext cx="432048" cy="144016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04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05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06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07" name="Přímá spojovací čára 102"/>
            <p:cNvCxnSpPr>
              <a:cxnSpLocks noChangeShapeType="1"/>
              <a:stCxn id="106" idx="6"/>
              <a:endCxn id="104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08" name="Přímá spojovací čára 103"/>
            <p:cNvCxnSpPr>
              <a:cxnSpLocks noChangeShapeType="1"/>
              <a:stCxn id="106" idx="2"/>
              <a:endCxn id="104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09" name="Skupina 108"/>
          <p:cNvGrpSpPr/>
          <p:nvPr/>
        </p:nvGrpSpPr>
        <p:grpSpPr>
          <a:xfrm>
            <a:off x="1403648" y="2348880"/>
            <a:ext cx="288032" cy="720080"/>
            <a:chOff x="2411760" y="2348880"/>
            <a:chExt cx="288032" cy="720080"/>
          </a:xfrm>
        </p:grpSpPr>
        <p:cxnSp>
          <p:nvCxnSpPr>
            <p:cNvPr id="110" name="Přímá spojovací čára 109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111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112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13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14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pic>
        <p:nvPicPr>
          <p:cNvPr id="115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912" y="1988840"/>
            <a:ext cx="414180" cy="295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6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1988840"/>
            <a:ext cx="414180" cy="295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8" name="Přímá spojovací šipka 117"/>
          <p:cNvCxnSpPr/>
          <p:nvPr/>
        </p:nvCxnSpPr>
        <p:spPr bwMode="auto">
          <a:xfrm>
            <a:off x="1763688" y="2492896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cxnSp>
        <p:nvCxnSpPr>
          <p:cNvPr id="119" name="Přímá spojovací šipka 118"/>
          <p:cNvCxnSpPr/>
          <p:nvPr/>
        </p:nvCxnSpPr>
        <p:spPr bwMode="auto">
          <a:xfrm flipV="1">
            <a:off x="6084168" y="2492896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grpSp>
        <p:nvGrpSpPr>
          <p:cNvPr id="121" name="Skupina 120"/>
          <p:cNvGrpSpPr/>
          <p:nvPr/>
        </p:nvGrpSpPr>
        <p:grpSpPr>
          <a:xfrm>
            <a:off x="2987824" y="2348880"/>
            <a:ext cx="288032" cy="720080"/>
            <a:chOff x="2411760" y="2348880"/>
            <a:chExt cx="288032" cy="720080"/>
          </a:xfrm>
        </p:grpSpPr>
        <p:cxnSp>
          <p:nvCxnSpPr>
            <p:cNvPr id="122" name="Přímá spojovací čára 121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123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124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25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26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127" name="Skupina 126"/>
          <p:cNvGrpSpPr/>
          <p:nvPr/>
        </p:nvGrpSpPr>
        <p:grpSpPr>
          <a:xfrm>
            <a:off x="4716016" y="2348880"/>
            <a:ext cx="288032" cy="720080"/>
            <a:chOff x="2411760" y="2348880"/>
            <a:chExt cx="288032" cy="720080"/>
          </a:xfrm>
        </p:grpSpPr>
        <p:cxnSp>
          <p:nvCxnSpPr>
            <p:cNvPr id="128" name="Přímá spojovací čára 127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129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130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31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32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133" name="Skupina 132"/>
          <p:cNvGrpSpPr/>
          <p:nvPr/>
        </p:nvGrpSpPr>
        <p:grpSpPr>
          <a:xfrm>
            <a:off x="3851920" y="2348880"/>
            <a:ext cx="288032" cy="720080"/>
            <a:chOff x="2411760" y="2348880"/>
            <a:chExt cx="288032" cy="720080"/>
          </a:xfrm>
        </p:grpSpPr>
        <p:cxnSp>
          <p:nvCxnSpPr>
            <p:cNvPr id="134" name="Přímá spojovací čára 133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135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136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37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38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139" name="Skupina 138"/>
          <p:cNvGrpSpPr/>
          <p:nvPr/>
        </p:nvGrpSpPr>
        <p:grpSpPr>
          <a:xfrm>
            <a:off x="7092280" y="2348880"/>
            <a:ext cx="288032" cy="720080"/>
            <a:chOff x="2411760" y="2348880"/>
            <a:chExt cx="288032" cy="720080"/>
          </a:xfrm>
        </p:grpSpPr>
        <p:cxnSp>
          <p:nvCxnSpPr>
            <p:cNvPr id="140" name="Přímá spojovací čára 139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141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142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43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44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145" name="Skupina 144"/>
          <p:cNvGrpSpPr/>
          <p:nvPr/>
        </p:nvGrpSpPr>
        <p:grpSpPr>
          <a:xfrm>
            <a:off x="5724128" y="2348880"/>
            <a:ext cx="288032" cy="720080"/>
            <a:chOff x="2411760" y="2348880"/>
            <a:chExt cx="288032" cy="720080"/>
          </a:xfrm>
        </p:grpSpPr>
        <p:cxnSp>
          <p:nvCxnSpPr>
            <p:cNvPr id="146" name="Přímá spojovací čára 145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147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148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49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50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grpSp>
        <p:nvGrpSpPr>
          <p:cNvPr id="151" name="Skupina 84"/>
          <p:cNvGrpSpPr>
            <a:grpSpLocks/>
          </p:cNvGrpSpPr>
          <p:nvPr/>
        </p:nvGrpSpPr>
        <p:grpSpPr bwMode="auto">
          <a:xfrm>
            <a:off x="2051720" y="2204864"/>
            <a:ext cx="432048" cy="144016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52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53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54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55" name="Přímá spojovací čára 102"/>
            <p:cNvCxnSpPr>
              <a:cxnSpLocks noChangeShapeType="1"/>
              <a:stCxn id="154" idx="6"/>
              <a:endCxn id="152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56" name="Přímá spojovací čára 103"/>
            <p:cNvCxnSpPr>
              <a:cxnSpLocks noChangeShapeType="1"/>
              <a:stCxn id="154" idx="2"/>
              <a:endCxn id="152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57" name="Skupina 156"/>
          <p:cNvGrpSpPr/>
          <p:nvPr/>
        </p:nvGrpSpPr>
        <p:grpSpPr>
          <a:xfrm>
            <a:off x="2123728" y="2348880"/>
            <a:ext cx="288032" cy="720080"/>
            <a:chOff x="2411760" y="2348880"/>
            <a:chExt cx="288032" cy="720080"/>
          </a:xfrm>
        </p:grpSpPr>
        <p:cxnSp>
          <p:nvCxnSpPr>
            <p:cNvPr id="158" name="Přímá spojovací čára 157"/>
            <p:cNvCxnSpPr/>
            <p:nvPr/>
          </p:nvCxnSpPr>
          <p:spPr bwMode="auto">
            <a:xfrm>
              <a:off x="2555776" y="2348880"/>
              <a:ext cx="0" cy="720080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/>
              <a:tailEnd/>
            </a:ln>
          </p:spPr>
        </p:cxnSp>
        <p:grpSp>
          <p:nvGrpSpPr>
            <p:cNvPr id="159" name="Skupina 105"/>
            <p:cNvGrpSpPr>
              <a:grpSpLocks/>
            </p:cNvGrpSpPr>
            <p:nvPr/>
          </p:nvGrpSpPr>
          <p:grpSpPr bwMode="auto">
            <a:xfrm rot="5400000">
              <a:off x="2519772" y="2528900"/>
              <a:ext cx="72008" cy="288032"/>
              <a:chOff x="7143750" y="3357562"/>
              <a:chExt cx="71438" cy="214313"/>
            </a:xfrm>
          </p:grpSpPr>
          <p:cxnSp>
            <p:nvCxnSpPr>
              <p:cNvPr id="160" name="Přímá spojovací čára 364"/>
              <p:cNvCxnSpPr>
                <a:cxnSpLocks noChangeShapeType="1"/>
              </p:cNvCxnSpPr>
              <p:nvPr/>
            </p:nvCxnSpPr>
            <p:spPr bwMode="auto">
              <a:xfrm rot="5400000">
                <a:off x="7036594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61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108032" y="3464719"/>
                <a:ext cx="214312" cy="0"/>
              </a:xfrm>
              <a:prstGeom prst="line">
                <a:avLst/>
              </a:prstGeom>
              <a:noFill/>
              <a:ln w="31750" algn="ctr">
                <a:solidFill>
                  <a:srgbClr val="C00000"/>
                </a:solidFill>
                <a:round/>
                <a:headEnd/>
                <a:tailEnd/>
              </a:ln>
            </p:spPr>
          </p:cxnSp>
          <p:cxnSp>
            <p:nvCxnSpPr>
              <p:cNvPr id="162" name="Přímá spojovací čára 365"/>
              <p:cNvCxnSpPr>
                <a:cxnSpLocks noChangeShapeType="1"/>
              </p:cNvCxnSpPr>
              <p:nvPr/>
            </p:nvCxnSpPr>
            <p:spPr bwMode="auto">
              <a:xfrm rot="5400000">
                <a:off x="7074000" y="3464718"/>
                <a:ext cx="214312" cy="0"/>
              </a:xfrm>
              <a:prstGeom prst="line">
                <a:avLst/>
              </a:prstGeom>
              <a:noFill/>
              <a:ln w="38100" algn="ctr">
                <a:solidFill>
                  <a:schemeClr val="bg1"/>
                </a:solidFill>
                <a:round/>
                <a:headEnd/>
                <a:tailEnd/>
              </a:ln>
            </p:spPr>
          </p:cxnSp>
        </p:grpSp>
      </p:grpSp>
      <p:cxnSp>
        <p:nvCxnSpPr>
          <p:cNvPr id="163" name="Přímá spojovací šipka 162"/>
          <p:cNvCxnSpPr/>
          <p:nvPr/>
        </p:nvCxnSpPr>
        <p:spPr bwMode="auto">
          <a:xfrm>
            <a:off x="2483768" y="2492896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grpSp>
        <p:nvGrpSpPr>
          <p:cNvPr id="164" name="Skupina 84"/>
          <p:cNvGrpSpPr>
            <a:grpSpLocks/>
          </p:cNvGrpSpPr>
          <p:nvPr/>
        </p:nvGrpSpPr>
        <p:grpSpPr bwMode="auto">
          <a:xfrm>
            <a:off x="2915816" y="2204864"/>
            <a:ext cx="432048" cy="144016"/>
            <a:chOff x="4643438" y="642918"/>
            <a:chExt cx="1428760" cy="1143008"/>
          </a:xfrm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grpSpPr>
        <p:sp>
          <p:nvSpPr>
            <p:cNvPr id="165" name="Elipsa 97"/>
            <p:cNvSpPr>
              <a:spLocks noChangeArrowheads="1"/>
            </p:cNvSpPr>
            <p:nvPr/>
          </p:nvSpPr>
          <p:spPr bwMode="auto">
            <a:xfrm>
              <a:off x="4643438" y="1501444"/>
              <a:ext cx="1428760" cy="2844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sp>
          <p:nvSpPr>
            <p:cNvPr id="166" name="Obdélník 99"/>
            <p:cNvSpPr>
              <a:spLocks noChangeArrowheads="1"/>
            </p:cNvSpPr>
            <p:nvPr/>
          </p:nvSpPr>
          <p:spPr bwMode="auto">
            <a:xfrm>
              <a:off x="4643438" y="785159"/>
              <a:ext cx="1428760" cy="85852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algn="ctr">
              <a:noFill/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 algn="ctr">
                <a:lnSpc>
                  <a:spcPct val="150000"/>
                </a:lnSpc>
                <a:defRPr/>
              </a:pPr>
              <a:endParaRPr lang="cs-CZ" sz="900" b="1" dirty="0"/>
            </a:p>
          </p:txBody>
        </p:sp>
        <p:sp>
          <p:nvSpPr>
            <p:cNvPr id="167" name="Elipsa 100"/>
            <p:cNvSpPr>
              <a:spLocks noChangeArrowheads="1"/>
            </p:cNvSpPr>
            <p:nvPr/>
          </p:nvSpPr>
          <p:spPr bwMode="auto">
            <a:xfrm>
              <a:off x="4643438" y="642918"/>
              <a:ext cx="1428760" cy="28448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 sz="900"/>
            </a:p>
          </p:txBody>
        </p:sp>
        <p:cxnSp>
          <p:nvCxnSpPr>
            <p:cNvPr id="168" name="Přímá spojovací čára 102"/>
            <p:cNvCxnSpPr>
              <a:cxnSpLocks noChangeShapeType="1"/>
              <a:stCxn id="167" idx="6"/>
              <a:endCxn id="165" idx="6"/>
            </p:cNvCxnSpPr>
            <p:nvPr/>
          </p:nvCxnSpPr>
          <p:spPr bwMode="auto">
            <a:xfrm>
              <a:off x="607219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9" name="Přímá spojovací čára 103"/>
            <p:cNvCxnSpPr>
              <a:cxnSpLocks noChangeShapeType="1"/>
              <a:stCxn id="167" idx="2"/>
              <a:endCxn id="165" idx="2"/>
            </p:cNvCxnSpPr>
            <p:nvPr/>
          </p:nvCxnSpPr>
          <p:spPr bwMode="auto">
            <a:xfrm rot="10800000" flipV="1">
              <a:off x="4643438" y="785794"/>
              <a:ext cx="0" cy="85725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170" name="Přímá spojovací šipka 169"/>
          <p:cNvCxnSpPr/>
          <p:nvPr/>
        </p:nvCxnSpPr>
        <p:spPr bwMode="auto">
          <a:xfrm flipV="1">
            <a:off x="3347864" y="2420888"/>
            <a:ext cx="0" cy="504056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71" name="TextovéPole 170"/>
          <p:cNvSpPr txBox="1"/>
          <p:nvPr/>
        </p:nvSpPr>
        <p:spPr>
          <a:xfrm>
            <a:off x="2483768" y="2420888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. . . 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2" name="TextovéPole 171"/>
          <p:cNvSpPr txBox="1"/>
          <p:nvPr/>
        </p:nvSpPr>
        <p:spPr>
          <a:xfrm>
            <a:off x="4211960" y="2420888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. . . 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73" name="Přímá spojovací šipka 172"/>
          <p:cNvCxnSpPr/>
          <p:nvPr/>
        </p:nvCxnSpPr>
        <p:spPr bwMode="auto">
          <a:xfrm>
            <a:off x="4211960" y="2420888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cxnSp>
        <p:nvCxnSpPr>
          <p:cNvPr id="174" name="Přímá spojovací šipka 173"/>
          <p:cNvCxnSpPr/>
          <p:nvPr/>
        </p:nvCxnSpPr>
        <p:spPr bwMode="auto">
          <a:xfrm>
            <a:off x="5076056" y="2492896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stealth"/>
          </a:ln>
          <a:effectLst/>
        </p:spPr>
      </p:cxnSp>
      <p:sp>
        <p:nvSpPr>
          <p:cNvPr id="175" name="Zaoblený obdélník 174"/>
          <p:cNvSpPr/>
          <p:nvPr/>
        </p:nvSpPr>
        <p:spPr bwMode="auto">
          <a:xfrm>
            <a:off x="5436096" y="1988840"/>
            <a:ext cx="864096" cy="360040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Cizí systém</a:t>
            </a:r>
          </a:p>
        </p:txBody>
      </p:sp>
      <p:sp>
        <p:nvSpPr>
          <p:cNvPr id="176" name="Zaoblený obdélník 175"/>
          <p:cNvSpPr/>
          <p:nvPr/>
        </p:nvSpPr>
        <p:spPr bwMode="auto">
          <a:xfrm>
            <a:off x="6804248" y="1988840"/>
            <a:ext cx="864096" cy="360040"/>
          </a:xfrm>
          <a:prstGeom prst="roundRect">
            <a:avLst>
              <a:gd name="adj" fmla="val 6866"/>
            </a:avLst>
          </a:prstGeom>
          <a:gradFill rotWithShape="1">
            <a:gsLst>
              <a:gs pos="0">
                <a:srgbClr val="EAE5FF"/>
              </a:gs>
              <a:gs pos="100000">
                <a:srgbClr val="F0E5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76200" dir="18900000" algn="ctr" rotWithShape="0">
              <a:srgbClr val="000000">
                <a:alpha val="43137"/>
              </a:srgbClr>
            </a:outerShdw>
          </a:effectLst>
        </p:spPr>
        <p:txBody>
          <a:bodyPr wrap="none" anchor="ctr"/>
          <a:lstStyle/>
          <a:p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Cizí systém</a:t>
            </a:r>
          </a:p>
        </p:txBody>
      </p:sp>
      <p:cxnSp>
        <p:nvCxnSpPr>
          <p:cNvPr id="177" name="Přímá spojovací šipka 176"/>
          <p:cNvCxnSpPr/>
          <p:nvPr/>
        </p:nvCxnSpPr>
        <p:spPr bwMode="auto">
          <a:xfrm flipV="1">
            <a:off x="7524328" y="2420888"/>
            <a:ext cx="0" cy="432048"/>
          </a:xfrm>
          <a:prstGeom prst="straightConnector1">
            <a:avLst/>
          </a:prstGeom>
          <a:noFill/>
          <a:ln w="3175" cap="flat" cmpd="sng" algn="ctr">
            <a:solidFill>
              <a:schemeClr val="tx1"/>
            </a:solidFill>
            <a:prstDash val="dash"/>
            <a:round/>
            <a:headEnd type="stealth" w="med" len="med"/>
            <a:tailEnd type="stealth"/>
          </a:ln>
          <a:effectLst/>
        </p:spPr>
      </p:cxnSp>
      <p:sp>
        <p:nvSpPr>
          <p:cNvPr id="178" name="TextovéPole 177"/>
          <p:cNvSpPr txBox="1"/>
          <p:nvPr/>
        </p:nvSpPr>
        <p:spPr>
          <a:xfrm>
            <a:off x="6300192" y="2492896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b="1" dirty="0" smtClean="0">
                <a:latin typeface="Calibri" pitchFamily="34" charset="0"/>
                <a:cs typeface="Calibri" pitchFamily="34" charset="0"/>
              </a:rPr>
              <a:t>. . . </a:t>
            </a:r>
            <a:endParaRPr lang="cs-CZ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9" name="Zaoblený obdélník 178"/>
          <p:cNvSpPr/>
          <p:nvPr/>
        </p:nvSpPr>
        <p:spPr bwMode="auto">
          <a:xfrm>
            <a:off x="1259632" y="292494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</a:t>
            </a:r>
          </a:p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M02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0" name="Zaoblený obdélník 179"/>
          <p:cNvSpPr/>
          <p:nvPr/>
        </p:nvSpPr>
        <p:spPr bwMode="auto">
          <a:xfrm>
            <a:off x="1979712" y="292494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M23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1" name="Zaoblený obdélník 180"/>
          <p:cNvSpPr/>
          <p:nvPr/>
        </p:nvSpPr>
        <p:spPr bwMode="auto">
          <a:xfrm>
            <a:off x="1547664" y="3861048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M20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2" name="Zaoblený obdélník 181"/>
          <p:cNvSpPr/>
          <p:nvPr/>
        </p:nvSpPr>
        <p:spPr bwMode="auto">
          <a:xfrm>
            <a:off x="1835696" y="4941168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</a:t>
            </a:r>
          </a:p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M19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3" name="Zaoblený obdélník 182"/>
          <p:cNvSpPr/>
          <p:nvPr/>
        </p:nvSpPr>
        <p:spPr bwMode="auto">
          <a:xfrm>
            <a:off x="1331640" y="537321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M07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4" name="Zaoblený obdélník 183"/>
          <p:cNvSpPr/>
          <p:nvPr/>
        </p:nvSpPr>
        <p:spPr bwMode="auto">
          <a:xfrm>
            <a:off x="2339752" y="544522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 M14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6" name="Zaoblený obdélník 185"/>
          <p:cNvSpPr/>
          <p:nvPr/>
        </p:nvSpPr>
        <p:spPr bwMode="auto">
          <a:xfrm>
            <a:off x="2843808" y="292494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M05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7" name="Zaoblený obdélník 186"/>
          <p:cNvSpPr/>
          <p:nvPr/>
        </p:nvSpPr>
        <p:spPr bwMode="auto">
          <a:xfrm>
            <a:off x="4572000" y="292494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M89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8" name="Zaoblený obdélník 187"/>
          <p:cNvSpPr/>
          <p:nvPr/>
        </p:nvSpPr>
        <p:spPr bwMode="auto">
          <a:xfrm>
            <a:off x="3707904" y="292494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M34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9" name="Zaoblený obdélník 188"/>
          <p:cNvSpPr/>
          <p:nvPr/>
        </p:nvSpPr>
        <p:spPr bwMode="auto">
          <a:xfrm>
            <a:off x="4788024" y="3861048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M23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0" name="Zaoblený obdélník 189"/>
          <p:cNvSpPr/>
          <p:nvPr/>
        </p:nvSpPr>
        <p:spPr bwMode="auto">
          <a:xfrm>
            <a:off x="3635896" y="4437112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M18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1" name="Zaoblený obdélník 190"/>
          <p:cNvSpPr/>
          <p:nvPr/>
        </p:nvSpPr>
        <p:spPr bwMode="auto">
          <a:xfrm>
            <a:off x="4499992" y="465313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M14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2" name="Zaoblený obdélník 191"/>
          <p:cNvSpPr/>
          <p:nvPr/>
        </p:nvSpPr>
        <p:spPr bwMode="auto">
          <a:xfrm>
            <a:off x="3851920" y="501317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M06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3" name="Zaoblený obdélník 192"/>
          <p:cNvSpPr/>
          <p:nvPr/>
        </p:nvSpPr>
        <p:spPr bwMode="auto">
          <a:xfrm>
            <a:off x="5004048" y="544522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M41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5" name="Zaoblený obdélník 194"/>
          <p:cNvSpPr/>
          <p:nvPr/>
        </p:nvSpPr>
        <p:spPr bwMode="auto">
          <a:xfrm>
            <a:off x="6444208" y="4149080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M74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8" name="Zaoblený obdélník 197"/>
          <p:cNvSpPr/>
          <p:nvPr/>
        </p:nvSpPr>
        <p:spPr bwMode="auto">
          <a:xfrm>
            <a:off x="7092280" y="4581128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M21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9" name="Zaoblený obdélník 198"/>
          <p:cNvSpPr/>
          <p:nvPr/>
        </p:nvSpPr>
        <p:spPr bwMode="auto">
          <a:xfrm>
            <a:off x="6156176" y="465313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M15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0" name="Zaoblený obdélník 199"/>
          <p:cNvSpPr/>
          <p:nvPr/>
        </p:nvSpPr>
        <p:spPr bwMode="auto">
          <a:xfrm>
            <a:off x="6732240" y="501317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M44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1" name="Zaoblený obdélník 200"/>
          <p:cNvSpPr/>
          <p:nvPr/>
        </p:nvSpPr>
        <p:spPr bwMode="auto">
          <a:xfrm>
            <a:off x="6012160" y="5301208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M39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3" name="Zaoblený obdélník 202"/>
          <p:cNvSpPr/>
          <p:nvPr/>
        </p:nvSpPr>
        <p:spPr bwMode="auto">
          <a:xfrm>
            <a:off x="5580112" y="292494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M38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5" name="Zaoblený obdélník 204"/>
          <p:cNvSpPr/>
          <p:nvPr/>
        </p:nvSpPr>
        <p:spPr bwMode="auto">
          <a:xfrm>
            <a:off x="6660232" y="292494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M63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6" name="Zaoblený obdélník 205"/>
          <p:cNvSpPr/>
          <p:nvPr/>
        </p:nvSpPr>
        <p:spPr bwMode="auto">
          <a:xfrm>
            <a:off x="5076056" y="4293096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M39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7" name="Zaoblený obdélník 206"/>
          <p:cNvSpPr/>
          <p:nvPr/>
        </p:nvSpPr>
        <p:spPr bwMode="auto">
          <a:xfrm>
            <a:off x="2843808" y="4869160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</a:t>
            </a:r>
          </a:p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M65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8" name="Zaoblený obdélník 207"/>
          <p:cNvSpPr/>
          <p:nvPr/>
        </p:nvSpPr>
        <p:spPr bwMode="auto">
          <a:xfrm>
            <a:off x="2267744" y="3717032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</a:t>
            </a:r>
          </a:p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M16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09" name="Zaoblený obdélník 208"/>
          <p:cNvSpPr/>
          <p:nvPr/>
        </p:nvSpPr>
        <p:spPr bwMode="auto">
          <a:xfrm>
            <a:off x="1619672" y="4437112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</a:t>
            </a:r>
          </a:p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M21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0" name="Zaoblený obdélník 209"/>
          <p:cNvSpPr/>
          <p:nvPr/>
        </p:nvSpPr>
        <p:spPr bwMode="auto">
          <a:xfrm>
            <a:off x="3923928" y="3789040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M35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1" name="Zaoblený obdélník 210"/>
          <p:cNvSpPr/>
          <p:nvPr/>
        </p:nvSpPr>
        <p:spPr bwMode="auto">
          <a:xfrm>
            <a:off x="3995936" y="5517232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M37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2" name="Zaoblený obdélník 211"/>
          <p:cNvSpPr/>
          <p:nvPr/>
        </p:nvSpPr>
        <p:spPr bwMode="auto">
          <a:xfrm>
            <a:off x="7452320" y="3861048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M36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3" name="Zaoblený obdélník 212"/>
          <p:cNvSpPr/>
          <p:nvPr/>
        </p:nvSpPr>
        <p:spPr bwMode="auto">
          <a:xfrm>
            <a:off x="6876256" y="5517232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M48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4" name="Zaoblený obdélník 213"/>
          <p:cNvSpPr/>
          <p:nvPr/>
        </p:nvSpPr>
        <p:spPr bwMode="auto">
          <a:xfrm>
            <a:off x="7452320" y="508518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M52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15" name="AutoShape 905"/>
          <p:cNvCxnSpPr>
            <a:cxnSpLocks noChangeShapeType="1"/>
            <a:stCxn id="179" idx="2"/>
            <a:endCxn id="181" idx="0"/>
          </p:cNvCxnSpPr>
          <p:nvPr/>
        </p:nvCxnSpPr>
        <p:spPr bwMode="auto">
          <a:xfrm rot="16200000" flipH="1">
            <a:off x="1393888" y="3419239"/>
            <a:ext cx="595585" cy="288032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18" name="AutoShape 905"/>
          <p:cNvCxnSpPr>
            <a:cxnSpLocks noChangeShapeType="1"/>
            <a:stCxn id="181" idx="3"/>
            <a:endCxn id="209" idx="0"/>
          </p:cNvCxnSpPr>
          <p:nvPr/>
        </p:nvCxnSpPr>
        <p:spPr bwMode="auto">
          <a:xfrm flipH="1">
            <a:off x="1907704" y="4031308"/>
            <a:ext cx="216024" cy="405804"/>
          </a:xfrm>
          <a:prstGeom prst="curvedConnector4">
            <a:avLst>
              <a:gd name="adj1" fmla="val -33069"/>
              <a:gd name="adj2" fmla="val 70978"/>
            </a:avLst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21" name="AutoShape 905"/>
          <p:cNvCxnSpPr>
            <a:cxnSpLocks noChangeShapeType="1"/>
            <a:stCxn id="209" idx="3"/>
            <a:endCxn id="186" idx="2"/>
          </p:cNvCxnSpPr>
          <p:nvPr/>
        </p:nvCxnSpPr>
        <p:spPr bwMode="auto">
          <a:xfrm flipV="1">
            <a:off x="2195736" y="3265463"/>
            <a:ext cx="936104" cy="1341909"/>
          </a:xfrm>
          <a:prstGeom prst="curvedConnector2">
            <a:avLst/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28" name="AutoShape 905"/>
          <p:cNvCxnSpPr>
            <a:cxnSpLocks noChangeShapeType="1"/>
            <a:stCxn id="180" idx="2"/>
            <a:endCxn id="208" idx="0"/>
          </p:cNvCxnSpPr>
          <p:nvPr/>
        </p:nvCxnSpPr>
        <p:spPr bwMode="auto">
          <a:xfrm rot="16200000" flipH="1">
            <a:off x="2185976" y="3347231"/>
            <a:ext cx="451569" cy="288032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31" name="AutoShape 905"/>
          <p:cNvCxnSpPr>
            <a:cxnSpLocks noChangeShapeType="1"/>
            <a:stCxn id="188" idx="2"/>
            <a:endCxn id="210" idx="1"/>
          </p:cNvCxnSpPr>
          <p:nvPr/>
        </p:nvCxnSpPr>
        <p:spPr bwMode="auto">
          <a:xfrm rot="5400000">
            <a:off x="3613014" y="3576377"/>
            <a:ext cx="693837" cy="72008"/>
          </a:xfrm>
          <a:prstGeom prst="curvedConnector4">
            <a:avLst>
              <a:gd name="adj1" fmla="val 37730"/>
              <a:gd name="adj2" fmla="val 278572"/>
            </a:avLst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34" name="AutoShape 905"/>
          <p:cNvCxnSpPr>
            <a:cxnSpLocks noChangeShapeType="1"/>
            <a:stCxn id="210" idx="3"/>
            <a:endCxn id="188" idx="2"/>
          </p:cNvCxnSpPr>
          <p:nvPr/>
        </p:nvCxnSpPr>
        <p:spPr bwMode="auto">
          <a:xfrm flipH="1" flipV="1">
            <a:off x="3995936" y="3265463"/>
            <a:ext cx="504056" cy="693837"/>
          </a:xfrm>
          <a:prstGeom prst="curvedConnector4">
            <a:avLst>
              <a:gd name="adj1" fmla="val -25510"/>
              <a:gd name="adj2" fmla="val 62269"/>
            </a:avLst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39" name="AutoShape 905"/>
          <p:cNvCxnSpPr>
            <a:cxnSpLocks noChangeShapeType="1"/>
            <a:stCxn id="210" idx="2"/>
            <a:endCxn id="190" idx="0"/>
          </p:cNvCxnSpPr>
          <p:nvPr/>
        </p:nvCxnSpPr>
        <p:spPr bwMode="auto">
          <a:xfrm rot="5400000">
            <a:off x="3914168" y="4139319"/>
            <a:ext cx="307553" cy="288032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43" name="AutoShape 905"/>
          <p:cNvCxnSpPr>
            <a:cxnSpLocks noChangeShapeType="1"/>
            <a:stCxn id="209" idx="2"/>
            <a:endCxn id="182" idx="0"/>
          </p:cNvCxnSpPr>
          <p:nvPr/>
        </p:nvCxnSpPr>
        <p:spPr bwMode="auto">
          <a:xfrm rot="16200000" flipH="1">
            <a:off x="1933948" y="4751387"/>
            <a:ext cx="163537" cy="216024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47" name="AutoShape 905"/>
          <p:cNvCxnSpPr>
            <a:cxnSpLocks noChangeShapeType="1"/>
            <a:stCxn id="179" idx="2"/>
            <a:endCxn id="183" idx="1"/>
          </p:cNvCxnSpPr>
          <p:nvPr/>
        </p:nvCxnSpPr>
        <p:spPr bwMode="auto">
          <a:xfrm rot="5400000">
            <a:off x="300646" y="4296457"/>
            <a:ext cx="2278013" cy="216024"/>
          </a:xfrm>
          <a:prstGeom prst="curvedConnector4">
            <a:avLst>
              <a:gd name="adj1" fmla="val 46263"/>
              <a:gd name="adj2" fmla="val 205822"/>
            </a:avLst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50" name="AutoShape 905"/>
          <p:cNvCxnSpPr>
            <a:cxnSpLocks noChangeShapeType="1"/>
            <a:stCxn id="183" idx="3"/>
            <a:endCxn id="186" idx="2"/>
          </p:cNvCxnSpPr>
          <p:nvPr/>
        </p:nvCxnSpPr>
        <p:spPr bwMode="auto">
          <a:xfrm flipV="1">
            <a:off x="1907704" y="3265463"/>
            <a:ext cx="1224136" cy="2278013"/>
          </a:xfrm>
          <a:prstGeom prst="curvedConnector2">
            <a:avLst/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56" name="AutoShape 905"/>
          <p:cNvCxnSpPr>
            <a:cxnSpLocks noChangeShapeType="1"/>
            <a:stCxn id="183" idx="0"/>
            <a:endCxn id="182" idx="1"/>
          </p:cNvCxnSpPr>
          <p:nvPr/>
        </p:nvCxnSpPr>
        <p:spPr bwMode="auto">
          <a:xfrm rot="5400000" flipH="1" flipV="1">
            <a:off x="1596790" y="5134310"/>
            <a:ext cx="261788" cy="216024"/>
          </a:xfrm>
          <a:prstGeom prst="curvedConnector2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59" name="AutoShape 905"/>
          <p:cNvCxnSpPr>
            <a:cxnSpLocks noChangeShapeType="1"/>
            <a:stCxn id="193" idx="0"/>
            <a:endCxn id="203" idx="2"/>
          </p:cNvCxnSpPr>
          <p:nvPr/>
        </p:nvCxnSpPr>
        <p:spPr bwMode="auto">
          <a:xfrm rot="5400000" flipH="1" flipV="1">
            <a:off x="4490232" y="4067312"/>
            <a:ext cx="2179761" cy="576064"/>
          </a:xfrm>
          <a:prstGeom prst="curvedConnector3">
            <a:avLst>
              <a:gd name="adj1" fmla="val 23126"/>
            </a:avLst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64" name="AutoShape 905"/>
          <p:cNvCxnSpPr>
            <a:cxnSpLocks noChangeShapeType="1"/>
            <a:stCxn id="205" idx="2"/>
            <a:endCxn id="195" idx="0"/>
          </p:cNvCxnSpPr>
          <p:nvPr/>
        </p:nvCxnSpPr>
        <p:spPr bwMode="auto">
          <a:xfrm rot="5400000">
            <a:off x="6398444" y="3599259"/>
            <a:ext cx="883617" cy="216024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sp>
        <p:nvSpPr>
          <p:cNvPr id="269" name="Zaoblený obdélník 268"/>
          <p:cNvSpPr/>
          <p:nvPr/>
        </p:nvSpPr>
        <p:spPr bwMode="auto">
          <a:xfrm>
            <a:off x="7236296" y="2924944"/>
            <a:ext cx="576064" cy="340519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Místo M64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271" name="AutoShape 905"/>
          <p:cNvCxnSpPr>
            <a:cxnSpLocks noChangeShapeType="1"/>
            <a:stCxn id="195" idx="2"/>
            <a:endCxn id="198" idx="1"/>
          </p:cNvCxnSpPr>
          <p:nvPr/>
        </p:nvCxnSpPr>
        <p:spPr bwMode="auto">
          <a:xfrm rot="16200000" flipH="1">
            <a:off x="6781366" y="4440473"/>
            <a:ext cx="261789" cy="360040"/>
          </a:xfrm>
          <a:prstGeom prst="curvedConnector2">
            <a:avLst/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74" name="AutoShape 905"/>
          <p:cNvCxnSpPr>
            <a:cxnSpLocks noChangeShapeType="1"/>
            <a:stCxn id="198" idx="0"/>
            <a:endCxn id="212" idx="2"/>
          </p:cNvCxnSpPr>
          <p:nvPr/>
        </p:nvCxnSpPr>
        <p:spPr bwMode="auto">
          <a:xfrm rot="5400000" flipH="1" flipV="1">
            <a:off x="7370552" y="4211328"/>
            <a:ext cx="379561" cy="360040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  <p:cxnSp>
        <p:nvCxnSpPr>
          <p:cNvPr id="277" name="AutoShape 905"/>
          <p:cNvCxnSpPr>
            <a:cxnSpLocks noChangeShapeType="1"/>
            <a:stCxn id="212" idx="0"/>
            <a:endCxn id="269" idx="2"/>
          </p:cNvCxnSpPr>
          <p:nvPr/>
        </p:nvCxnSpPr>
        <p:spPr bwMode="auto">
          <a:xfrm rot="16200000" flipV="1">
            <a:off x="7334548" y="3455244"/>
            <a:ext cx="595585" cy="216024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rgbClr val="0000FF"/>
            </a:solidFill>
            <a:prstDash val="dash"/>
            <a:round/>
            <a:headEnd type="none" w="lg" len="lg"/>
            <a:tailEnd type="stealth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Time</a:t>
            </a:r>
            <a:r>
              <a:rPr lang="cs-CZ" sz="3600" b="1" kern="0" smtClean="0">
                <a:solidFill>
                  <a:srgbClr val="CA0383"/>
                </a:solidFill>
                <a:latin typeface="Calibri" panose="020F0502020204030204" pitchFamily="34" charset="0"/>
              </a:rPr>
              <a:t> manager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62</a:t>
            </a:fld>
            <a:endParaRPr lang="cs-CZ" altLang="cs-CZ">
              <a:latin typeface="Calibri" pitchFamily="34" charset="0"/>
            </a:endParaRPr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917"/>
          <p:cNvSpPr>
            <a:spLocks noChangeArrowheads="1"/>
          </p:cNvSpPr>
          <p:nvPr/>
        </p:nvSpPr>
        <p:spPr bwMode="auto">
          <a:xfrm>
            <a:off x="5652120" y="1916832"/>
            <a:ext cx="1296987" cy="576263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" name="Oval 915"/>
          <p:cNvSpPr>
            <a:spLocks noChangeArrowheads="1"/>
          </p:cNvSpPr>
          <p:nvPr/>
        </p:nvSpPr>
        <p:spPr bwMode="auto">
          <a:xfrm>
            <a:off x="539552" y="1842542"/>
            <a:ext cx="1368425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 algn="ctr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Oval 914"/>
          <p:cNvSpPr>
            <a:spLocks noChangeArrowheads="1"/>
          </p:cNvSpPr>
          <p:nvPr/>
        </p:nvSpPr>
        <p:spPr bwMode="auto">
          <a:xfrm>
            <a:off x="3204195" y="1772370"/>
            <a:ext cx="1296987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 Box 894"/>
          <p:cNvSpPr txBox="1">
            <a:spLocks noChangeArrowheads="1"/>
          </p:cNvSpPr>
          <p:nvPr/>
        </p:nvSpPr>
        <p:spPr bwMode="auto">
          <a:xfrm>
            <a:off x="3780457" y="2277195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B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3" name="Text Box 827"/>
          <p:cNvSpPr txBox="1">
            <a:spLocks noChangeArrowheads="1"/>
          </p:cNvSpPr>
          <p:nvPr/>
        </p:nvSpPr>
        <p:spPr bwMode="auto">
          <a:xfrm>
            <a:off x="1044377" y="2634704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A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" name="Group 893"/>
          <p:cNvGrpSpPr>
            <a:grpSpLocks/>
          </p:cNvGrpSpPr>
          <p:nvPr/>
        </p:nvGrpSpPr>
        <p:grpSpPr bwMode="auto">
          <a:xfrm>
            <a:off x="3709020" y="1989857"/>
            <a:ext cx="144462" cy="360363"/>
            <a:chOff x="1918" y="1939"/>
            <a:chExt cx="64" cy="130"/>
          </a:xfrm>
        </p:grpSpPr>
        <p:grpSp>
          <p:nvGrpSpPr>
            <p:cNvPr id="3" name="Group 842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47" name="Rectangle 843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49" name="Oval 84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0" name="Freeform 845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46" name="Oval 846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52" name="AutoShape 856"/>
          <p:cNvCxnSpPr>
            <a:cxnSpLocks noChangeShapeType="1"/>
            <a:stCxn id="43" idx="3"/>
            <a:endCxn id="46" idx="1"/>
          </p:cNvCxnSpPr>
          <p:nvPr/>
        </p:nvCxnSpPr>
        <p:spPr bwMode="auto">
          <a:xfrm flipV="1">
            <a:off x="2139752" y="2009749"/>
            <a:ext cx="1590424" cy="763068"/>
          </a:xfrm>
          <a:prstGeom prst="curvedConnector4">
            <a:avLst>
              <a:gd name="adj1" fmla="val 49335"/>
              <a:gd name="adj2" fmla="val 132565"/>
            </a:avLst>
          </a:prstGeom>
          <a:noFill/>
          <a:ln w="1905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53" name="Text Box 897"/>
          <p:cNvSpPr txBox="1">
            <a:spLocks noChangeArrowheads="1"/>
          </p:cNvSpPr>
          <p:nvPr/>
        </p:nvSpPr>
        <p:spPr bwMode="auto">
          <a:xfrm>
            <a:off x="6156945" y="2421657"/>
            <a:ext cx="1095375" cy="276225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C</a:t>
            </a:r>
            <a:endParaRPr lang="cs-CZ" sz="100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4" name="Group 898"/>
          <p:cNvGrpSpPr>
            <a:grpSpLocks/>
          </p:cNvGrpSpPr>
          <p:nvPr/>
        </p:nvGrpSpPr>
        <p:grpSpPr bwMode="auto">
          <a:xfrm>
            <a:off x="6085507" y="2134320"/>
            <a:ext cx="144463" cy="360362"/>
            <a:chOff x="1918" y="1939"/>
            <a:chExt cx="64" cy="130"/>
          </a:xfrm>
        </p:grpSpPr>
        <p:grpSp>
          <p:nvGrpSpPr>
            <p:cNvPr id="6" name="Group 899"/>
            <p:cNvGrpSpPr>
              <a:grpSpLocks/>
            </p:cNvGrpSpPr>
            <p:nvPr/>
          </p:nvGrpSpPr>
          <p:grpSpPr bwMode="auto">
            <a:xfrm>
              <a:off x="1918" y="1963"/>
              <a:ext cx="64" cy="106"/>
              <a:chOff x="186" y="2796"/>
              <a:chExt cx="935" cy="766"/>
            </a:xfrm>
          </p:grpSpPr>
          <p:sp>
            <p:nvSpPr>
              <p:cNvPr id="57" name="Rectangle 900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8" name="Oval 901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59" name="Freeform 902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56" name="Oval 903"/>
            <p:cNvSpPr>
              <a:spLocks noChangeArrowheads="1"/>
            </p:cNvSpPr>
            <p:nvPr/>
          </p:nvSpPr>
          <p:spPr bwMode="auto">
            <a:xfrm>
              <a:off x="1918" y="1939"/>
              <a:ext cx="64" cy="49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7" name="Group 907"/>
          <p:cNvGrpSpPr>
            <a:grpSpLocks/>
          </p:cNvGrpSpPr>
          <p:nvPr/>
        </p:nvGrpSpPr>
        <p:grpSpPr bwMode="auto">
          <a:xfrm>
            <a:off x="755452" y="2131467"/>
            <a:ext cx="519112" cy="138112"/>
            <a:chOff x="2888" y="971"/>
            <a:chExt cx="327" cy="87"/>
          </a:xfrm>
        </p:grpSpPr>
        <p:grpSp>
          <p:nvGrpSpPr>
            <p:cNvPr id="8" name="Group 908"/>
            <p:cNvGrpSpPr>
              <a:grpSpLocks/>
            </p:cNvGrpSpPr>
            <p:nvPr/>
          </p:nvGrpSpPr>
          <p:grpSpPr bwMode="auto">
            <a:xfrm>
              <a:off x="2890" y="988"/>
              <a:ext cx="324" cy="70"/>
              <a:chOff x="186" y="2796"/>
              <a:chExt cx="935" cy="766"/>
            </a:xfrm>
          </p:grpSpPr>
          <p:sp>
            <p:nvSpPr>
              <p:cNvPr id="67" name="Rectangle 909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8" name="Oval 910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69" name="Freeform 911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66" name="Oval 912"/>
            <p:cNvSpPr>
              <a:spLocks noChangeArrowheads="1"/>
            </p:cNvSpPr>
            <p:nvPr/>
          </p:nvSpPr>
          <p:spPr bwMode="auto">
            <a:xfrm>
              <a:off x="2888" y="971"/>
              <a:ext cx="327" cy="33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50000">
                  <a:srgbClr val="FF99CC"/>
                </a:gs>
                <a:gs pos="100000">
                  <a:srgbClr val="CCEC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71" name="AutoShape 913"/>
          <p:cNvCxnSpPr>
            <a:cxnSpLocks noChangeShapeType="1"/>
            <a:stCxn id="68" idx="4"/>
            <a:endCxn id="43" idx="0"/>
          </p:cNvCxnSpPr>
          <p:nvPr/>
        </p:nvCxnSpPr>
        <p:spPr bwMode="auto">
          <a:xfrm rot="16200000" flipH="1">
            <a:off x="1127720" y="2157661"/>
            <a:ext cx="352425" cy="576262"/>
          </a:xfrm>
          <a:prstGeom prst="curvedConnector3">
            <a:avLst>
              <a:gd name="adj1" fmla="val 51801"/>
            </a:avLst>
          </a:prstGeom>
          <a:noFill/>
          <a:ln w="1905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74" name="Rectangle 918"/>
          <p:cNvSpPr>
            <a:spLocks noChangeArrowheads="1"/>
          </p:cNvSpPr>
          <p:nvPr/>
        </p:nvSpPr>
        <p:spPr bwMode="auto">
          <a:xfrm>
            <a:off x="755452" y="184254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A</a:t>
            </a:r>
          </a:p>
        </p:txBody>
      </p:sp>
      <p:sp>
        <p:nvSpPr>
          <p:cNvPr id="75" name="Rectangle 919"/>
          <p:cNvSpPr>
            <a:spLocks noChangeArrowheads="1"/>
          </p:cNvSpPr>
          <p:nvPr/>
        </p:nvSpPr>
        <p:spPr bwMode="auto">
          <a:xfrm>
            <a:off x="3564557" y="1772370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0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0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>
                <a:latin typeface="Calibri" pitchFamily="34" charset="0"/>
                <a:cs typeface="Calibri" pitchFamily="34" charset="0"/>
              </a:rPr>
              <a:t>B</a:t>
            </a:r>
          </a:p>
        </p:txBody>
      </p:sp>
      <p:sp>
        <p:nvSpPr>
          <p:cNvPr id="76" name="Rectangle 920"/>
          <p:cNvSpPr>
            <a:spLocks noChangeArrowheads="1"/>
          </p:cNvSpPr>
          <p:nvPr/>
        </p:nvSpPr>
        <p:spPr bwMode="auto">
          <a:xfrm>
            <a:off x="5941045" y="19168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1100" b="1" dirty="0" err="1" smtClean="0">
                <a:latin typeface="Calibri" pitchFamily="34" charset="0"/>
                <a:cs typeface="Calibri" pitchFamily="34" charset="0"/>
              </a:rPr>
              <a:t>Misto</a:t>
            </a:r>
            <a:r>
              <a:rPr lang="cs-CZ" sz="11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1100" b="1" dirty="0">
                <a:latin typeface="Calibri" pitchFamily="34" charset="0"/>
                <a:cs typeface="Calibri" pitchFamily="34" charset="0"/>
              </a:rPr>
              <a:t>C</a:t>
            </a:r>
          </a:p>
        </p:txBody>
      </p:sp>
      <p:sp>
        <p:nvSpPr>
          <p:cNvPr id="82" name="Rectangle 925"/>
          <p:cNvSpPr>
            <a:spLocks noChangeArrowheads="1"/>
          </p:cNvSpPr>
          <p:nvPr/>
        </p:nvSpPr>
        <p:spPr bwMode="auto">
          <a:xfrm>
            <a:off x="3780457" y="1989857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Q_FrontaB</a:t>
            </a:r>
          </a:p>
        </p:txBody>
      </p:sp>
      <p:sp>
        <p:nvSpPr>
          <p:cNvPr id="84" name="Rectangle 926"/>
          <p:cNvSpPr>
            <a:spLocks noChangeArrowheads="1"/>
          </p:cNvSpPr>
          <p:nvPr/>
        </p:nvSpPr>
        <p:spPr bwMode="auto">
          <a:xfrm>
            <a:off x="1188839" y="2058442"/>
            <a:ext cx="792163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/pis/…/adrA</a:t>
            </a:r>
          </a:p>
        </p:txBody>
      </p:sp>
      <p:sp>
        <p:nvSpPr>
          <p:cNvPr id="86" name="Rectangle 927"/>
          <p:cNvSpPr>
            <a:spLocks noChangeArrowheads="1"/>
          </p:cNvSpPr>
          <p:nvPr/>
        </p:nvSpPr>
        <p:spPr bwMode="auto">
          <a:xfrm>
            <a:off x="6156945" y="2132732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cs-CZ" sz="800" b="1">
                <a:latin typeface="Calibri" pitchFamily="34" charset="0"/>
                <a:cs typeface="Calibri" pitchFamily="34" charset="0"/>
              </a:rPr>
              <a:t>Q_FrontaC</a:t>
            </a:r>
          </a:p>
        </p:txBody>
      </p:sp>
      <p:grpSp>
        <p:nvGrpSpPr>
          <p:cNvPr id="13" name="Group 896"/>
          <p:cNvGrpSpPr>
            <a:grpSpLocks/>
          </p:cNvGrpSpPr>
          <p:nvPr/>
        </p:nvGrpSpPr>
        <p:grpSpPr bwMode="auto">
          <a:xfrm>
            <a:off x="3779912" y="3140968"/>
            <a:ext cx="1440160" cy="648072"/>
            <a:chOff x="2608" y="3430"/>
            <a:chExt cx="544" cy="272"/>
          </a:xfrm>
        </p:grpSpPr>
        <p:grpSp>
          <p:nvGrpSpPr>
            <p:cNvPr id="14" name="Group 895"/>
            <p:cNvGrpSpPr>
              <a:grpSpLocks/>
            </p:cNvGrpSpPr>
            <p:nvPr/>
          </p:nvGrpSpPr>
          <p:grpSpPr bwMode="auto">
            <a:xfrm>
              <a:off x="2608" y="3430"/>
              <a:ext cx="544" cy="272"/>
              <a:chOff x="3260" y="2036"/>
              <a:chExt cx="371" cy="213"/>
            </a:xfrm>
          </p:grpSpPr>
          <p:grpSp>
            <p:nvGrpSpPr>
              <p:cNvPr id="15" name="Group 818"/>
              <p:cNvGrpSpPr>
                <a:grpSpLocks/>
              </p:cNvGrpSpPr>
              <p:nvPr/>
            </p:nvGrpSpPr>
            <p:grpSpPr bwMode="auto">
              <a:xfrm>
                <a:off x="3262" y="2076"/>
                <a:ext cx="368" cy="173"/>
                <a:chOff x="186" y="2796"/>
                <a:chExt cx="935" cy="766"/>
              </a:xfrm>
            </p:grpSpPr>
            <p:sp>
              <p:nvSpPr>
                <p:cNvPr id="65" name="Rectangle 819"/>
                <p:cNvSpPr>
                  <a:spLocks noChangeArrowheads="1"/>
                </p:cNvSpPr>
                <p:nvPr/>
              </p:nvSpPr>
              <p:spPr bwMode="auto">
                <a:xfrm>
                  <a:off x="186" y="2796"/>
                  <a:ext cx="935" cy="612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70" name="Oval 820"/>
                <p:cNvSpPr>
                  <a:spLocks noChangeArrowheads="1"/>
                </p:cNvSpPr>
                <p:nvPr/>
              </p:nvSpPr>
              <p:spPr bwMode="auto">
                <a:xfrm>
                  <a:off x="186" y="3207"/>
                  <a:ext cx="935" cy="355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  <p:sp>
              <p:nvSpPr>
                <p:cNvPr id="80" name="Freeform 821"/>
                <p:cNvSpPr>
                  <a:spLocks/>
                </p:cNvSpPr>
                <p:nvPr/>
              </p:nvSpPr>
              <p:spPr bwMode="auto">
                <a:xfrm>
                  <a:off x="197" y="3147"/>
                  <a:ext cx="913" cy="282"/>
                </a:xfrm>
                <a:custGeom>
                  <a:avLst/>
                  <a:gdLst/>
                  <a:ahLst/>
                  <a:cxnLst>
                    <a:cxn ang="0">
                      <a:pos x="32" y="96"/>
                    </a:cxn>
                    <a:cxn ang="0">
                      <a:pos x="0" y="216"/>
                    </a:cxn>
                    <a:cxn ang="0">
                      <a:pos x="0" y="280"/>
                    </a:cxn>
                    <a:cxn ang="0">
                      <a:pos x="56" y="336"/>
                    </a:cxn>
                    <a:cxn ang="0">
                      <a:pos x="1272" y="320"/>
                    </a:cxn>
                    <a:cxn ang="0">
                      <a:pos x="1296" y="280"/>
                    </a:cxn>
                    <a:cxn ang="0">
                      <a:pos x="1296" y="216"/>
                    </a:cxn>
                    <a:cxn ang="0">
                      <a:pos x="1272" y="152"/>
                    </a:cxn>
                    <a:cxn ang="0">
                      <a:pos x="1104" y="24"/>
                    </a:cxn>
                    <a:cxn ang="0">
                      <a:pos x="168" y="0"/>
                    </a:cxn>
                    <a:cxn ang="0">
                      <a:pos x="32" y="96"/>
                    </a:cxn>
                  </a:cxnLst>
                  <a:rect l="0" t="0" r="r" b="b"/>
                  <a:pathLst>
                    <a:path w="1296" h="336">
                      <a:moveTo>
                        <a:pt x="32" y="96"/>
                      </a:moveTo>
                      <a:lnTo>
                        <a:pt x="0" y="216"/>
                      </a:lnTo>
                      <a:lnTo>
                        <a:pt x="0" y="280"/>
                      </a:lnTo>
                      <a:lnTo>
                        <a:pt x="56" y="336"/>
                      </a:lnTo>
                      <a:lnTo>
                        <a:pt x="1272" y="320"/>
                      </a:lnTo>
                      <a:lnTo>
                        <a:pt x="1296" y="280"/>
                      </a:lnTo>
                      <a:lnTo>
                        <a:pt x="1296" y="216"/>
                      </a:lnTo>
                      <a:lnTo>
                        <a:pt x="1272" y="152"/>
                      </a:lnTo>
                      <a:lnTo>
                        <a:pt x="1104" y="24"/>
                      </a:lnTo>
                      <a:lnTo>
                        <a:pt x="168" y="0"/>
                      </a:lnTo>
                      <a:lnTo>
                        <a:pt x="32" y="96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99"/>
                    </a:gs>
                    <a:gs pos="50000">
                      <a:srgbClr val="DDDDDD"/>
                    </a:gs>
                    <a:gs pos="100000">
                      <a:srgbClr val="FFFF99"/>
                    </a:gs>
                  </a:gsLst>
                  <a:lin ang="0" scaled="1"/>
                </a:gradFill>
                <a:ln w="15875" cap="flat">
                  <a:noFill/>
                  <a:prstDash val="sysDot"/>
                  <a:round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endParaRPr lang="cs-CZ">
                    <a:latin typeface="Calibri" pitchFamily="34" charset="0"/>
                    <a:cs typeface="Calibri" pitchFamily="34" charset="0"/>
                  </a:endParaRPr>
                </a:p>
              </p:txBody>
            </p:sp>
          </p:grpSp>
          <p:sp>
            <p:nvSpPr>
              <p:cNvPr id="64" name="Oval 822"/>
              <p:cNvSpPr>
                <a:spLocks noChangeArrowheads="1"/>
              </p:cNvSpPr>
              <p:nvPr/>
            </p:nvSpPr>
            <p:spPr bwMode="auto">
              <a:xfrm>
                <a:off x="3260" y="2036"/>
                <a:ext cx="371" cy="79"/>
              </a:xfrm>
              <a:prstGeom prst="ellipse">
                <a:avLst/>
              </a:prstGeom>
              <a:gradFill rotWithShape="0">
                <a:gsLst>
                  <a:gs pos="0">
                    <a:srgbClr val="FFFF99"/>
                  </a:gs>
                  <a:gs pos="100000">
                    <a:srgbClr val="B2B2B2"/>
                  </a:gs>
                </a:gsLst>
                <a:lin ang="18900000" scaled="1"/>
              </a:gradFill>
              <a:ln w="158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>
                  <a:latin typeface="Calibri" pitchFamily="34" charset="0"/>
                  <a:cs typeface="Calibri" pitchFamily="34" charset="0"/>
                </a:endParaRPr>
              </a:p>
            </p:txBody>
          </p:sp>
        </p:grpSp>
        <p:sp>
          <p:nvSpPr>
            <p:cNvPr id="62" name="Text Box 823"/>
            <p:cNvSpPr txBox="1">
              <a:spLocks noChangeArrowheads="1"/>
            </p:cNvSpPr>
            <p:nvPr/>
          </p:nvSpPr>
          <p:spPr bwMode="auto">
            <a:xfrm>
              <a:off x="2608" y="3521"/>
              <a:ext cx="354" cy="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cs-CZ" sz="1000" b="1" dirty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Databáze</a:t>
              </a:r>
              <a:endParaRPr lang="cs-CZ" sz="1000" b="1" dirty="0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90" name="AutoShape 905"/>
          <p:cNvCxnSpPr>
            <a:cxnSpLocks noChangeShapeType="1"/>
            <a:stCxn id="64" idx="0"/>
            <a:endCxn id="53" idx="2"/>
          </p:cNvCxnSpPr>
          <p:nvPr/>
        </p:nvCxnSpPr>
        <p:spPr bwMode="auto">
          <a:xfrm rot="5400000" flipH="1" flipV="1">
            <a:off x="5380769" y="1817105"/>
            <a:ext cx="443086" cy="2204641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sp>
        <p:nvSpPr>
          <p:cNvPr id="63" name="Oval 2"/>
          <p:cNvSpPr>
            <a:spLocks noChangeArrowheads="1"/>
          </p:cNvSpPr>
          <p:nvPr/>
        </p:nvSpPr>
        <p:spPr bwMode="auto">
          <a:xfrm>
            <a:off x="5076056" y="4149080"/>
            <a:ext cx="1296987" cy="576262"/>
          </a:xfrm>
          <a:prstGeom prst="ellipse">
            <a:avLst/>
          </a:prstGeom>
          <a:gradFill rotWithShape="0">
            <a:gsLst>
              <a:gs pos="0">
                <a:srgbClr val="CCFFCC"/>
              </a:gs>
              <a:gs pos="50000">
                <a:srgbClr val="CCFFCC">
                  <a:gamma/>
                  <a:tint val="0"/>
                  <a:invGamma/>
                </a:srgbClr>
              </a:gs>
              <a:gs pos="100000">
                <a:srgbClr val="CCFFCC"/>
              </a:gs>
            </a:gsLst>
            <a:lin ang="5400000" scaled="1"/>
          </a:gra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cs-CZ"/>
          </a:p>
        </p:txBody>
      </p:sp>
      <p:grpSp>
        <p:nvGrpSpPr>
          <p:cNvPr id="83" name="Group 49"/>
          <p:cNvGrpSpPr>
            <a:grpSpLocks/>
          </p:cNvGrpSpPr>
          <p:nvPr/>
        </p:nvGrpSpPr>
        <p:grpSpPr bwMode="auto">
          <a:xfrm>
            <a:off x="5723756" y="4366567"/>
            <a:ext cx="152400" cy="312738"/>
            <a:chOff x="181" y="2619"/>
            <a:chExt cx="943" cy="943"/>
          </a:xfrm>
        </p:grpSpPr>
        <p:grpSp>
          <p:nvGrpSpPr>
            <p:cNvPr id="85" name="Group 50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89" name="Rectangle 51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91" name="Oval 52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  <p:sp>
            <p:nvSpPr>
              <p:cNvPr id="92" name="Freeform 5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/>
                <a:ahLst/>
                <a:cxnLst>
                  <a:cxn ang="0">
                    <a:pos x="32" y="96"/>
                  </a:cxn>
                  <a:cxn ang="0">
                    <a:pos x="0" y="216"/>
                  </a:cxn>
                  <a:cxn ang="0">
                    <a:pos x="0" y="280"/>
                  </a:cxn>
                  <a:cxn ang="0">
                    <a:pos x="56" y="336"/>
                  </a:cxn>
                  <a:cxn ang="0">
                    <a:pos x="1272" y="320"/>
                  </a:cxn>
                  <a:cxn ang="0">
                    <a:pos x="1296" y="280"/>
                  </a:cxn>
                  <a:cxn ang="0">
                    <a:pos x="1296" y="216"/>
                  </a:cxn>
                  <a:cxn ang="0">
                    <a:pos x="1272" y="152"/>
                  </a:cxn>
                  <a:cxn ang="0">
                    <a:pos x="1104" y="24"/>
                  </a:cxn>
                  <a:cxn ang="0">
                    <a:pos x="168" y="0"/>
                  </a:cxn>
                  <a:cxn ang="0">
                    <a:pos x="32" y="96"/>
                  </a:cxn>
                </a:cxnLst>
                <a:rect l="0" t="0" r="r" b="b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 cap="flat">
                <a:noFill/>
                <a:prstDash val="sysDot"/>
                <a:round/>
                <a:headEnd/>
                <a:tailEnd/>
              </a:ln>
              <a:effectLst/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88" name="Oval 54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/>
            </a:p>
          </p:txBody>
        </p:sp>
      </p:grpSp>
      <p:sp>
        <p:nvSpPr>
          <p:cNvPr id="94" name="Text Box 55"/>
          <p:cNvSpPr txBox="1">
            <a:spLocks noChangeArrowheads="1"/>
          </p:cNvSpPr>
          <p:nvPr/>
        </p:nvSpPr>
        <p:spPr bwMode="auto">
          <a:xfrm>
            <a:off x="5147493" y="4293542"/>
            <a:ext cx="126047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cs-CZ" sz="10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Q_CTM</a:t>
            </a:r>
            <a:endParaRPr lang="cs-CZ" sz="1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3" name="Text Box 62"/>
          <p:cNvSpPr txBox="1">
            <a:spLocks noChangeArrowheads="1"/>
          </p:cNvSpPr>
          <p:nvPr/>
        </p:nvSpPr>
        <p:spPr bwMode="auto">
          <a:xfrm>
            <a:off x="4644008" y="3356992"/>
            <a:ext cx="841375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cs-CZ" sz="8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TimeMsg</a:t>
            </a:r>
            <a:endParaRPr lang="cs-CZ" sz="8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4" name="AutoShape 63"/>
          <p:cNvCxnSpPr>
            <a:cxnSpLocks noChangeShapeType="1"/>
            <a:stCxn id="106" idx="1"/>
            <a:endCxn id="111" idx="2"/>
          </p:cNvCxnSpPr>
          <p:nvPr/>
        </p:nvCxnSpPr>
        <p:spPr bwMode="auto">
          <a:xfrm rot="10800000" flipH="1" flipV="1">
            <a:off x="4910138" y="3619723"/>
            <a:ext cx="1494656" cy="1248493"/>
          </a:xfrm>
          <a:prstGeom prst="bentConnector4">
            <a:avLst>
              <a:gd name="adj1" fmla="val -15294"/>
              <a:gd name="adj2" fmla="val 118310"/>
            </a:avLst>
          </a:prstGeom>
          <a:noFill/>
          <a:ln w="22225">
            <a:solidFill>
              <a:srgbClr val="CC0000"/>
            </a:solidFill>
            <a:miter lim="800000"/>
            <a:headEnd type="triangle" w="sm" len="sm"/>
            <a:tailEnd type="triangle" w="sm" len="sm"/>
          </a:ln>
          <a:effectLst/>
        </p:spPr>
      </p:cxnSp>
      <p:grpSp>
        <p:nvGrpSpPr>
          <p:cNvPr id="105" name="Group 64"/>
          <p:cNvGrpSpPr>
            <a:grpSpLocks/>
          </p:cNvGrpSpPr>
          <p:nvPr/>
        </p:nvGrpSpPr>
        <p:grpSpPr bwMode="auto">
          <a:xfrm>
            <a:off x="4910138" y="3496692"/>
            <a:ext cx="241300" cy="246063"/>
            <a:chOff x="3156" y="2018"/>
            <a:chExt cx="408" cy="478"/>
          </a:xfrm>
        </p:grpSpPr>
        <p:sp>
          <p:nvSpPr>
            <p:cNvPr id="106" name="Rectangle 65"/>
            <p:cNvSpPr>
              <a:spLocks noChangeArrowheads="1"/>
            </p:cNvSpPr>
            <p:nvPr/>
          </p:nvSpPr>
          <p:spPr bwMode="auto">
            <a:xfrm>
              <a:off x="3156" y="2018"/>
              <a:ext cx="408" cy="4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endParaRPr lang="cs-CZ"/>
            </a:p>
          </p:txBody>
        </p:sp>
        <p:sp>
          <p:nvSpPr>
            <p:cNvPr id="107" name="Line 66"/>
            <p:cNvSpPr>
              <a:spLocks noChangeShapeType="1"/>
            </p:cNvSpPr>
            <p:nvPr/>
          </p:nvSpPr>
          <p:spPr bwMode="auto">
            <a:xfrm>
              <a:off x="3156" y="2106"/>
              <a:ext cx="4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cs-CZ"/>
            </a:p>
          </p:txBody>
        </p:sp>
        <p:sp>
          <p:nvSpPr>
            <p:cNvPr id="108" name="Line 67"/>
            <p:cNvSpPr>
              <a:spLocks noChangeShapeType="1"/>
            </p:cNvSpPr>
            <p:nvPr/>
          </p:nvSpPr>
          <p:spPr bwMode="auto">
            <a:xfrm>
              <a:off x="3156" y="2202"/>
              <a:ext cx="4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cs-CZ"/>
            </a:p>
          </p:txBody>
        </p:sp>
        <p:sp>
          <p:nvSpPr>
            <p:cNvPr id="109" name="Line 68"/>
            <p:cNvSpPr>
              <a:spLocks noChangeShapeType="1"/>
            </p:cNvSpPr>
            <p:nvPr/>
          </p:nvSpPr>
          <p:spPr bwMode="auto">
            <a:xfrm>
              <a:off x="3156" y="2298"/>
              <a:ext cx="4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cs-CZ"/>
            </a:p>
          </p:txBody>
        </p:sp>
        <p:sp>
          <p:nvSpPr>
            <p:cNvPr id="110" name="Line 69"/>
            <p:cNvSpPr>
              <a:spLocks noChangeShapeType="1"/>
            </p:cNvSpPr>
            <p:nvPr/>
          </p:nvSpPr>
          <p:spPr bwMode="auto">
            <a:xfrm>
              <a:off x="3156" y="2394"/>
              <a:ext cx="4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11" name="Text Box 70"/>
          <p:cNvSpPr txBox="1">
            <a:spLocks noChangeArrowheads="1"/>
          </p:cNvSpPr>
          <p:nvPr/>
        </p:nvSpPr>
        <p:spPr bwMode="auto">
          <a:xfrm>
            <a:off x="5793606" y="4628505"/>
            <a:ext cx="1222375" cy="239712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/>
            <a:r>
              <a:rPr lang="cs-CZ" sz="1000" b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CTM</a:t>
            </a:r>
          </a:p>
        </p:txBody>
      </p:sp>
      <p:cxnSp>
        <p:nvCxnSpPr>
          <p:cNvPr id="61" name="AutoShape 904"/>
          <p:cNvCxnSpPr>
            <a:cxnSpLocks noChangeShapeType="1"/>
            <a:stCxn id="34" idx="3"/>
            <a:endCxn id="88" idx="0"/>
          </p:cNvCxnSpPr>
          <p:nvPr/>
        </p:nvCxnSpPr>
        <p:spPr bwMode="auto">
          <a:xfrm>
            <a:off x="4875832" y="2415308"/>
            <a:ext cx="924124" cy="1951259"/>
          </a:xfrm>
          <a:prstGeom prst="curvedConnector2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113" name="AutoShape 904"/>
          <p:cNvCxnSpPr>
            <a:cxnSpLocks noChangeShapeType="1"/>
            <a:stCxn id="111" idx="0"/>
            <a:endCxn id="57" idx="1"/>
          </p:cNvCxnSpPr>
          <p:nvPr/>
        </p:nvCxnSpPr>
        <p:spPr bwMode="auto">
          <a:xfrm rot="16200000" flipV="1">
            <a:off x="5090013" y="3313723"/>
            <a:ext cx="2310277" cy="319287"/>
          </a:xfrm>
          <a:prstGeom prst="curvedConnector4">
            <a:avLst>
              <a:gd name="adj1" fmla="val 47460"/>
              <a:gd name="adj2" fmla="val 166812"/>
            </a:avLst>
          </a:prstGeom>
          <a:noFill/>
          <a:ln w="1905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121" name="AutoShape 905"/>
          <p:cNvCxnSpPr>
            <a:cxnSpLocks noChangeShapeType="1"/>
            <a:stCxn id="34" idx="2"/>
            <a:endCxn id="64" idx="0"/>
          </p:cNvCxnSpPr>
          <p:nvPr/>
        </p:nvCxnSpPr>
        <p:spPr bwMode="auto">
          <a:xfrm rot="16200000" flipH="1">
            <a:off x="4120294" y="2761270"/>
            <a:ext cx="587548" cy="171847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  <p:cxnSp>
        <p:nvCxnSpPr>
          <p:cNvPr id="128" name="AutoShape 905"/>
          <p:cNvCxnSpPr>
            <a:cxnSpLocks noChangeShapeType="1"/>
            <a:stCxn id="64" idx="0"/>
            <a:endCxn id="43" idx="2"/>
          </p:cNvCxnSpPr>
          <p:nvPr/>
        </p:nvCxnSpPr>
        <p:spPr bwMode="auto">
          <a:xfrm rot="16200000" flipV="1">
            <a:off x="2931010" y="1571985"/>
            <a:ext cx="230039" cy="2907927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0000FF"/>
            </a:solidFill>
            <a:prstDash val="dash"/>
            <a:round/>
            <a:headEnd/>
            <a:tailEnd type="triangle" w="lg" len="lg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Zaoblený obdélník 147"/>
          <p:cNvSpPr/>
          <p:nvPr/>
        </p:nvSpPr>
        <p:spPr>
          <a:xfrm>
            <a:off x="5652120" y="4869160"/>
            <a:ext cx="1296144" cy="288032"/>
          </a:xfrm>
          <a:prstGeom prst="roundRect">
            <a:avLst>
              <a:gd name="adj" fmla="val 6667"/>
            </a:avLst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>
              <a:defRPr/>
            </a:pPr>
            <a:r>
              <a:rPr lang="cs-CZ" sz="10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Event</a:t>
            </a:r>
            <a:r>
              <a:rPr lang="cs-CZ" sz="10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cs-CZ" sz="10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manager</a:t>
            </a:r>
            <a:endParaRPr lang="cs-CZ" sz="1000" b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41375" y="969963"/>
            <a:ext cx="7858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Event</a:t>
            </a: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 </a:t>
            </a:r>
            <a:r>
              <a:rPr lang="cs-CZ" sz="3600" b="1" kern="0" dirty="0" err="1" smtClean="0">
                <a:solidFill>
                  <a:srgbClr val="CA0383"/>
                </a:solidFill>
                <a:latin typeface="Calibri" panose="020F0502020204030204" pitchFamily="34" charset="0"/>
              </a:rPr>
              <a:t>manager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13316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990CC-CF53-4F29-BBD5-F585BDE4857C}" type="slidenum">
              <a:rPr lang="cs-CZ" altLang="cs-CZ">
                <a:latin typeface="Calibri" pitchFamily="34" charset="0"/>
              </a:rPr>
              <a:pPr/>
              <a:t>63</a:t>
            </a:fld>
            <a:endParaRPr lang="cs-CZ" altLang="cs-CZ">
              <a:latin typeface="Calibri" pitchFamily="34" charset="0"/>
            </a:endParaRPr>
          </a:p>
        </p:txBody>
      </p:sp>
      <p:sp>
        <p:nvSpPr>
          <p:cNvPr id="63" name="Zaoblený obdélník 62"/>
          <p:cNvSpPr/>
          <p:nvPr/>
        </p:nvSpPr>
        <p:spPr>
          <a:xfrm>
            <a:off x="1187624" y="2996952"/>
            <a:ext cx="2736304" cy="1143000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>
              <a:defRPr/>
            </a:pPr>
            <a:r>
              <a:rPr lang="cs-CZ" sz="10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Aplikační program</a:t>
            </a:r>
            <a:endParaRPr lang="cs-CZ" sz="1000" b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endParaRPr lang="cs-CZ" sz="1000" b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endParaRPr lang="cs-CZ" sz="1000" b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endParaRPr lang="cs-CZ" sz="1000" b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endParaRPr lang="cs-CZ" sz="1000" b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defRPr/>
            </a:pPr>
            <a:endParaRPr lang="cs-CZ" sz="1000" b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3" name="Text Box 144"/>
          <p:cNvSpPr txBox="1">
            <a:spLocks noChangeArrowheads="1"/>
          </p:cNvSpPr>
          <p:nvPr/>
        </p:nvSpPr>
        <p:spPr bwMode="auto">
          <a:xfrm>
            <a:off x="1473374" y="3782764"/>
            <a:ext cx="857250" cy="214313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50000">
                <a:srgbClr val="FFFFFF"/>
              </a:gs>
              <a:gs pos="100000">
                <a:srgbClr val="D1D1D1"/>
              </a:gs>
            </a:gsLst>
            <a:lin ang="5400000" scaled="1"/>
          </a:gradFill>
          <a:ln w="25400">
            <a:solidFill>
              <a:srgbClr val="808080"/>
            </a:solidFill>
            <a:miter lim="800000"/>
            <a:headEnd/>
            <a:tailEnd/>
          </a:ln>
        </p:spPr>
        <p:txBody>
          <a:bodyPr lIns="85954" tIns="42977" rIns="85954" bIns="42977"/>
          <a:lstStyle/>
          <a:p>
            <a:pPr algn="ctr"/>
            <a:r>
              <a:rPr lang="cs-CZ" altLang="cs-CZ" sz="8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Domain</a:t>
            </a:r>
            <a:r>
              <a:rPr lang="cs-CZ" altLang="cs-CZ" sz="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-</a:t>
            </a:r>
            <a:r>
              <a:rPr lang="cs-CZ" altLang="cs-CZ" sz="8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worker</a:t>
            </a:r>
            <a:endParaRPr lang="en-US" altLang="cs-CZ" sz="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5" name="Text Box 144"/>
          <p:cNvSpPr txBox="1">
            <a:spLocks noChangeArrowheads="1"/>
          </p:cNvSpPr>
          <p:nvPr/>
        </p:nvSpPr>
        <p:spPr bwMode="auto">
          <a:xfrm>
            <a:off x="2687811" y="3425577"/>
            <a:ext cx="948085" cy="214312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50000">
                <a:srgbClr val="FFFFFF"/>
              </a:gs>
              <a:gs pos="100000">
                <a:srgbClr val="D1D1D1"/>
              </a:gs>
            </a:gsLst>
            <a:lin ang="5400000" scaled="1"/>
          </a:gradFill>
          <a:ln w="25400">
            <a:solidFill>
              <a:srgbClr val="808080"/>
            </a:solidFill>
            <a:miter lim="800000"/>
            <a:headEnd/>
            <a:tailEnd/>
          </a:ln>
        </p:spPr>
        <p:txBody>
          <a:bodyPr lIns="85954" tIns="42977" rIns="85954" bIns="42977"/>
          <a:lstStyle/>
          <a:p>
            <a:pPr algn="ctr"/>
            <a:r>
              <a:rPr lang="cs-CZ" altLang="cs-CZ" sz="8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Event</a:t>
            </a:r>
            <a:r>
              <a:rPr lang="cs-CZ" altLang="cs-CZ" sz="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-</a:t>
            </a:r>
            <a:r>
              <a:rPr lang="cs-CZ" altLang="cs-CZ" sz="8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handlder</a:t>
            </a:r>
            <a:endParaRPr lang="en-US" altLang="cs-CZ" sz="8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88" name="AutoShape 330"/>
          <p:cNvCxnSpPr>
            <a:cxnSpLocks noChangeShapeType="1"/>
            <a:stCxn id="89" idx="0"/>
            <a:endCxn id="85" idx="0"/>
          </p:cNvCxnSpPr>
          <p:nvPr/>
        </p:nvCxnSpPr>
        <p:spPr bwMode="auto">
          <a:xfrm rot="5400000" flipH="1" flipV="1">
            <a:off x="2606217" y="2869940"/>
            <a:ext cx="12700" cy="1111274"/>
          </a:xfrm>
          <a:prstGeom prst="curvedConnector3">
            <a:avLst>
              <a:gd name="adj1" fmla="val 1068748"/>
            </a:avLst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sp>
        <p:nvSpPr>
          <p:cNvPr id="89" name="Text Box 144"/>
          <p:cNvSpPr txBox="1">
            <a:spLocks noChangeArrowheads="1"/>
          </p:cNvSpPr>
          <p:nvPr/>
        </p:nvSpPr>
        <p:spPr bwMode="auto">
          <a:xfrm>
            <a:off x="1473375" y="3425577"/>
            <a:ext cx="1154410" cy="214312"/>
          </a:xfrm>
          <a:prstGeom prst="rect">
            <a:avLst/>
          </a:prstGeom>
          <a:gradFill rotWithShape="0">
            <a:gsLst>
              <a:gs pos="0">
                <a:srgbClr val="D1D1D1"/>
              </a:gs>
              <a:gs pos="50000">
                <a:srgbClr val="FFFFFF"/>
              </a:gs>
              <a:gs pos="100000">
                <a:srgbClr val="D1D1D1"/>
              </a:gs>
            </a:gsLst>
            <a:lin ang="5400000" scaled="1"/>
          </a:gradFill>
          <a:ln w="25400">
            <a:solidFill>
              <a:srgbClr val="808080"/>
            </a:solidFill>
            <a:miter lim="800000"/>
            <a:headEnd/>
            <a:tailEnd/>
          </a:ln>
        </p:spPr>
        <p:txBody>
          <a:bodyPr lIns="85954" tIns="42977" rIns="85954" bIns="42977"/>
          <a:lstStyle/>
          <a:p>
            <a:pPr algn="ctr"/>
            <a:r>
              <a:rPr lang="cs-CZ" altLang="cs-CZ" sz="8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Controll</a:t>
            </a:r>
            <a:r>
              <a:rPr lang="cs-CZ" altLang="cs-CZ" sz="8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-</a:t>
            </a:r>
            <a:r>
              <a:rPr lang="cs-CZ" altLang="cs-CZ" sz="8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worker</a:t>
            </a:r>
            <a:endParaRPr lang="en-US" altLang="cs-CZ" sz="800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91" name="Group 80"/>
          <p:cNvGrpSpPr>
            <a:grpSpLocks/>
          </p:cNvGrpSpPr>
          <p:nvPr/>
        </p:nvGrpSpPr>
        <p:grpSpPr bwMode="auto">
          <a:xfrm>
            <a:off x="4370238" y="3135833"/>
            <a:ext cx="785813" cy="285750"/>
            <a:chOff x="181" y="2619"/>
            <a:chExt cx="943" cy="943"/>
          </a:xfrm>
        </p:grpSpPr>
        <p:grpSp>
          <p:nvGrpSpPr>
            <p:cNvPr id="92" name="Group 82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95" name="Rectangle 85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 alt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97" name="Oval 84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 alt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99" name="Freeform 83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1 w 1296"/>
                  <a:gd name="T1" fmla="*/ 3 h 336"/>
                  <a:gd name="T2" fmla="*/ 0 w 1296"/>
                  <a:gd name="T3" fmla="*/ 7 h 336"/>
                  <a:gd name="T4" fmla="*/ 0 w 1296"/>
                  <a:gd name="T5" fmla="*/ 8 h 336"/>
                  <a:gd name="T6" fmla="*/ 1 w 1296"/>
                  <a:gd name="T7" fmla="*/ 10 h 336"/>
                  <a:gd name="T8" fmla="*/ 1 w 1296"/>
                  <a:gd name="T9" fmla="*/ 10 h 336"/>
                  <a:gd name="T10" fmla="*/ 1 w 1296"/>
                  <a:gd name="T11" fmla="*/ 8 h 336"/>
                  <a:gd name="T12" fmla="*/ 1 w 1296"/>
                  <a:gd name="T13" fmla="*/ 7 h 336"/>
                  <a:gd name="T14" fmla="*/ 1 w 1296"/>
                  <a:gd name="T15" fmla="*/ 5 h 336"/>
                  <a:gd name="T16" fmla="*/ 1 w 1296"/>
                  <a:gd name="T17" fmla="*/ 3 h 336"/>
                  <a:gd name="T18" fmla="*/ 1 w 1296"/>
                  <a:gd name="T19" fmla="*/ 0 h 336"/>
                  <a:gd name="T20" fmla="*/ 1 w 1296"/>
                  <a:gd name="T21" fmla="*/ 3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94" name="Oval 81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 altLang="cs-CZ">
                <a:latin typeface="Calibri" pitchFamily="34" charset="0"/>
                <a:cs typeface="Calibri" pitchFamily="34" charset="0"/>
              </a:endParaRPr>
            </a:p>
          </p:txBody>
        </p:sp>
      </p:grpSp>
      <p:cxnSp>
        <p:nvCxnSpPr>
          <p:cNvPr id="100" name="AutoShape 330"/>
          <p:cNvCxnSpPr>
            <a:cxnSpLocks noChangeShapeType="1"/>
            <a:stCxn id="95" idx="1"/>
            <a:endCxn id="85" idx="3"/>
          </p:cNvCxnSpPr>
          <p:nvPr/>
        </p:nvCxnSpPr>
        <p:spPr bwMode="auto">
          <a:xfrm rot="10800000" flipV="1">
            <a:off x="3635897" y="3282193"/>
            <a:ext cx="738509" cy="250540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grpSp>
        <p:nvGrpSpPr>
          <p:cNvPr id="101" name="Group 43"/>
          <p:cNvGrpSpPr>
            <a:grpSpLocks/>
          </p:cNvGrpSpPr>
          <p:nvPr/>
        </p:nvGrpSpPr>
        <p:grpSpPr bwMode="auto">
          <a:xfrm>
            <a:off x="4427984" y="2636912"/>
            <a:ext cx="233363" cy="231775"/>
            <a:chOff x="3156" y="2018"/>
            <a:chExt cx="408" cy="478"/>
          </a:xfrm>
        </p:grpSpPr>
        <p:sp>
          <p:nvSpPr>
            <p:cNvPr id="102" name="Rectangle 48"/>
            <p:cNvSpPr>
              <a:spLocks noChangeArrowheads="1"/>
            </p:cNvSpPr>
            <p:nvPr/>
          </p:nvSpPr>
          <p:spPr bwMode="auto">
            <a:xfrm>
              <a:off x="3156" y="2018"/>
              <a:ext cx="408" cy="4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cs-CZ" altLang="cs-CZ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3" name="Line 47"/>
            <p:cNvSpPr>
              <a:spLocks noChangeShapeType="1"/>
            </p:cNvSpPr>
            <p:nvPr/>
          </p:nvSpPr>
          <p:spPr bwMode="auto">
            <a:xfrm>
              <a:off x="3156" y="2106"/>
              <a:ext cx="4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04" name="Line 46"/>
            <p:cNvSpPr>
              <a:spLocks noChangeShapeType="1"/>
            </p:cNvSpPr>
            <p:nvPr/>
          </p:nvSpPr>
          <p:spPr bwMode="auto">
            <a:xfrm>
              <a:off x="3156" y="2202"/>
              <a:ext cx="4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05" name="Line 45"/>
            <p:cNvSpPr>
              <a:spLocks noChangeShapeType="1"/>
            </p:cNvSpPr>
            <p:nvPr/>
          </p:nvSpPr>
          <p:spPr bwMode="auto">
            <a:xfrm>
              <a:off x="3156" y="2298"/>
              <a:ext cx="4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  <p:sp>
          <p:nvSpPr>
            <p:cNvPr id="106" name="Line 44"/>
            <p:cNvSpPr>
              <a:spLocks noChangeShapeType="1"/>
            </p:cNvSpPr>
            <p:nvPr/>
          </p:nvSpPr>
          <p:spPr bwMode="auto">
            <a:xfrm>
              <a:off x="3156" y="2394"/>
              <a:ext cx="4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107" name="Zaoblený obdélník 106"/>
          <p:cNvSpPr/>
          <p:nvPr/>
        </p:nvSpPr>
        <p:spPr>
          <a:xfrm>
            <a:off x="5724128" y="2780929"/>
            <a:ext cx="1224136" cy="288031"/>
          </a:xfrm>
          <a:prstGeom prst="roundRect">
            <a:avLst>
              <a:gd name="adj" fmla="val 6667"/>
            </a:avLst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>
              <a:defRPr/>
            </a:pPr>
            <a:r>
              <a:rPr lang="cs-CZ" sz="10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Admin</a:t>
            </a:r>
            <a:endParaRPr lang="cs-CZ" sz="1000" b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8" name="AutoShape 330"/>
          <p:cNvCxnSpPr>
            <a:cxnSpLocks noChangeShapeType="1"/>
            <a:stCxn id="107" idx="1"/>
            <a:endCxn id="95" idx="3"/>
          </p:cNvCxnSpPr>
          <p:nvPr/>
        </p:nvCxnSpPr>
        <p:spPr bwMode="auto">
          <a:xfrm rot="10800000" flipV="1">
            <a:off x="5153552" y="2924945"/>
            <a:ext cx="570576" cy="357248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cxnSp>
        <p:nvCxnSpPr>
          <p:cNvPr id="109" name="AutoShape 330"/>
          <p:cNvCxnSpPr>
            <a:cxnSpLocks noChangeShapeType="1"/>
            <a:stCxn id="107" idx="1"/>
            <a:endCxn id="102" idx="3"/>
          </p:cNvCxnSpPr>
          <p:nvPr/>
        </p:nvCxnSpPr>
        <p:spPr bwMode="auto">
          <a:xfrm rot="10800000">
            <a:off x="4661348" y="2752801"/>
            <a:ext cx="1062781" cy="172145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grpSp>
        <p:nvGrpSpPr>
          <p:cNvPr id="110" name="Group 285"/>
          <p:cNvGrpSpPr>
            <a:grpSpLocks/>
          </p:cNvGrpSpPr>
          <p:nvPr/>
        </p:nvGrpSpPr>
        <p:grpSpPr bwMode="auto">
          <a:xfrm>
            <a:off x="5580112" y="4725144"/>
            <a:ext cx="142875" cy="323850"/>
            <a:chOff x="181" y="2619"/>
            <a:chExt cx="943" cy="943"/>
          </a:xfrm>
        </p:grpSpPr>
        <p:grpSp>
          <p:nvGrpSpPr>
            <p:cNvPr id="111" name="Group 286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13" name="Rectangle 287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 alt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14" name="Oval 288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 alt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15" name="Freeform 289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1 w 1296"/>
                  <a:gd name="T1" fmla="*/ 5 h 336"/>
                  <a:gd name="T2" fmla="*/ 0 w 1296"/>
                  <a:gd name="T3" fmla="*/ 11 h 336"/>
                  <a:gd name="T4" fmla="*/ 0 w 1296"/>
                  <a:gd name="T5" fmla="*/ 14 h 336"/>
                  <a:gd name="T6" fmla="*/ 1 w 1296"/>
                  <a:gd name="T7" fmla="*/ 17 h 336"/>
                  <a:gd name="T8" fmla="*/ 3 w 1296"/>
                  <a:gd name="T9" fmla="*/ 16 h 336"/>
                  <a:gd name="T10" fmla="*/ 3 w 1296"/>
                  <a:gd name="T11" fmla="*/ 14 h 336"/>
                  <a:gd name="T12" fmla="*/ 3 w 1296"/>
                  <a:gd name="T13" fmla="*/ 11 h 336"/>
                  <a:gd name="T14" fmla="*/ 3 w 1296"/>
                  <a:gd name="T15" fmla="*/ 8 h 336"/>
                  <a:gd name="T16" fmla="*/ 3 w 1296"/>
                  <a:gd name="T17" fmla="*/ 3 h 336"/>
                  <a:gd name="T18" fmla="*/ 1 w 1296"/>
                  <a:gd name="T19" fmla="*/ 0 h 336"/>
                  <a:gd name="T20" fmla="*/ 1 w 1296"/>
                  <a:gd name="T21" fmla="*/ 5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12" name="Oval 290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 altLang="cs-CZ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116" name="Text Box 291"/>
          <p:cNvSpPr txBox="1">
            <a:spLocks noChangeArrowheads="1"/>
          </p:cNvSpPr>
          <p:nvPr/>
        </p:nvSpPr>
        <p:spPr bwMode="auto">
          <a:xfrm>
            <a:off x="3995936" y="2420888"/>
            <a:ext cx="136815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954" tIns="42977" rIns="85954" bIns="42977"/>
          <a:lstStyle/>
          <a:p>
            <a:pPr algn="ctr"/>
            <a:r>
              <a:rPr lang="cs-CZ" altLang="cs-CZ" sz="9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EventParamTmeStamp</a:t>
            </a:r>
            <a:endParaRPr lang="en-US" altLang="cs-CZ" sz="9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19" name="AutoShape 330"/>
          <p:cNvCxnSpPr>
            <a:cxnSpLocks noChangeShapeType="1"/>
            <a:stCxn id="83" idx="3"/>
            <a:endCxn id="85" idx="2"/>
          </p:cNvCxnSpPr>
          <p:nvPr/>
        </p:nvCxnSpPr>
        <p:spPr bwMode="auto">
          <a:xfrm flipV="1">
            <a:off x="2330624" y="3639889"/>
            <a:ext cx="831230" cy="250032"/>
          </a:xfrm>
          <a:prstGeom prst="curvedConnector2">
            <a:avLst/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cxnSp>
        <p:nvCxnSpPr>
          <p:cNvPr id="122" name="AutoShape 330"/>
          <p:cNvCxnSpPr>
            <a:cxnSpLocks noChangeShapeType="1"/>
            <a:stCxn id="85" idx="3"/>
            <a:endCxn id="113" idx="1"/>
          </p:cNvCxnSpPr>
          <p:nvPr/>
        </p:nvCxnSpPr>
        <p:spPr bwMode="auto">
          <a:xfrm>
            <a:off x="3635896" y="3532733"/>
            <a:ext cx="1944974" cy="1358285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cxnSp>
        <p:nvCxnSpPr>
          <p:cNvPr id="131" name="AutoShape 330"/>
          <p:cNvCxnSpPr>
            <a:cxnSpLocks noChangeShapeType="1"/>
            <a:stCxn id="85" idx="3"/>
            <a:endCxn id="102" idx="1"/>
          </p:cNvCxnSpPr>
          <p:nvPr/>
        </p:nvCxnSpPr>
        <p:spPr bwMode="auto">
          <a:xfrm flipV="1">
            <a:off x="3635896" y="2752800"/>
            <a:ext cx="792088" cy="779933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sp>
        <p:nvSpPr>
          <p:cNvPr id="138" name="Text Box 291"/>
          <p:cNvSpPr txBox="1">
            <a:spLocks noChangeArrowheads="1"/>
          </p:cNvSpPr>
          <p:nvPr/>
        </p:nvSpPr>
        <p:spPr bwMode="auto">
          <a:xfrm>
            <a:off x="4355976" y="3212976"/>
            <a:ext cx="785813" cy="216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954" tIns="42977" rIns="85954" bIns="42977"/>
          <a:lstStyle/>
          <a:p>
            <a:pPr algn="ctr"/>
            <a:r>
              <a:rPr lang="cs-CZ" altLang="cs-CZ" sz="7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EM-Data</a:t>
            </a:r>
            <a:endParaRPr lang="en-US" altLang="cs-CZ" sz="700" b="1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45" name="Picture 43" descr="BD09206_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20272" y="2636912"/>
            <a:ext cx="605676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53" name="Zaoblený obdélník 152"/>
          <p:cNvSpPr/>
          <p:nvPr/>
        </p:nvSpPr>
        <p:spPr>
          <a:xfrm>
            <a:off x="4427984" y="5733256"/>
            <a:ext cx="1214437" cy="357187"/>
          </a:xfrm>
          <a:prstGeom prst="roundRect">
            <a:avLst/>
          </a:prstGeom>
          <a:solidFill>
            <a:srgbClr val="E6EDF6"/>
          </a:solidFill>
          <a:effectLst>
            <a:outerShdw blurRad="50800" dist="38100" dir="1890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cs-CZ" sz="12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SMTP - Server</a:t>
            </a:r>
          </a:p>
        </p:txBody>
      </p:sp>
      <p:sp>
        <p:nvSpPr>
          <p:cNvPr id="160" name="Zaoblený obdélník 159"/>
          <p:cNvSpPr/>
          <p:nvPr/>
        </p:nvSpPr>
        <p:spPr>
          <a:xfrm>
            <a:off x="5868144" y="5733256"/>
            <a:ext cx="1214437" cy="357187"/>
          </a:xfrm>
          <a:prstGeom prst="roundRect">
            <a:avLst/>
          </a:prstGeom>
          <a:solidFill>
            <a:srgbClr val="E6EDF6"/>
          </a:solidFill>
          <a:effectLst>
            <a:outerShdw blurRad="50800" dist="38100" dir="18900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cs-CZ" sz="12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SMS </a:t>
            </a:r>
            <a:r>
              <a:rPr lang="cs-CZ" sz="12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- </a:t>
            </a:r>
            <a:r>
              <a:rPr lang="cs-CZ" sz="12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Brána</a:t>
            </a:r>
            <a:endParaRPr lang="cs-CZ" sz="12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61" name="AutoShape 330"/>
          <p:cNvCxnSpPr>
            <a:cxnSpLocks noChangeShapeType="1"/>
            <a:stCxn id="148" idx="2"/>
            <a:endCxn id="153" idx="0"/>
          </p:cNvCxnSpPr>
          <p:nvPr/>
        </p:nvCxnSpPr>
        <p:spPr bwMode="auto">
          <a:xfrm rot="5400000">
            <a:off x="5379666" y="4812730"/>
            <a:ext cx="576064" cy="1264989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grpSp>
        <p:nvGrpSpPr>
          <p:cNvPr id="154" name="Skupina 130"/>
          <p:cNvGrpSpPr>
            <a:grpSpLocks/>
          </p:cNvGrpSpPr>
          <p:nvPr/>
        </p:nvGrpSpPr>
        <p:grpSpPr bwMode="auto">
          <a:xfrm>
            <a:off x="5076056" y="5373216"/>
            <a:ext cx="357187" cy="214313"/>
            <a:chOff x="6572264" y="4643446"/>
            <a:chExt cx="857256" cy="428628"/>
          </a:xfrm>
        </p:grpSpPr>
        <p:sp>
          <p:nvSpPr>
            <p:cNvPr id="155" name="Zaoblený obdélník 154"/>
            <p:cNvSpPr/>
            <p:nvPr/>
          </p:nvSpPr>
          <p:spPr bwMode="auto">
            <a:xfrm>
              <a:off x="6572264" y="4643446"/>
              <a:ext cx="857256" cy="428628"/>
            </a:xfrm>
            <a:prstGeom prst="roundRect">
              <a:avLst>
                <a:gd name="adj" fmla="val 3334"/>
              </a:avLst>
            </a:prstGeom>
            <a:solidFill>
              <a:schemeClr val="accent1"/>
            </a:solidFill>
            <a:ln w="25400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1432" tIns="45716" rIns="91432" bIns="45716" anchor="ctr"/>
            <a:lstStyle/>
            <a:p>
              <a:pPr>
                <a:defRPr/>
              </a:pPr>
              <a:endParaRPr lang="cs-CZ"/>
            </a:p>
          </p:txBody>
        </p:sp>
        <p:cxnSp>
          <p:nvCxnSpPr>
            <p:cNvPr id="156" name="Přímá spojovací čára 155"/>
            <p:cNvCxnSpPr/>
            <p:nvPr/>
          </p:nvCxnSpPr>
          <p:spPr bwMode="auto">
            <a:xfrm>
              <a:off x="6572264" y="4643446"/>
              <a:ext cx="430532" cy="285751"/>
            </a:xfrm>
            <a:prstGeom prst="line">
              <a:avLst/>
            </a:prstGeom>
            <a:noFill/>
            <a:ln w="22225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Přímá spojovací čára 156"/>
            <p:cNvCxnSpPr/>
            <p:nvPr/>
          </p:nvCxnSpPr>
          <p:spPr bwMode="auto">
            <a:xfrm rot="10800000" flipV="1">
              <a:off x="7002796" y="4643446"/>
              <a:ext cx="426724" cy="285751"/>
            </a:xfrm>
            <a:prstGeom prst="line">
              <a:avLst/>
            </a:prstGeom>
            <a:noFill/>
            <a:ln w="22225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Přímá spojovací čára 157"/>
            <p:cNvCxnSpPr/>
            <p:nvPr/>
          </p:nvCxnSpPr>
          <p:spPr bwMode="auto">
            <a:xfrm rot="10800000" flipV="1">
              <a:off x="6572264" y="4859347"/>
              <a:ext cx="285751" cy="212727"/>
            </a:xfrm>
            <a:prstGeom prst="line">
              <a:avLst/>
            </a:prstGeom>
            <a:noFill/>
            <a:ln w="22225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Přímá spojovací čára 158"/>
            <p:cNvCxnSpPr/>
            <p:nvPr/>
          </p:nvCxnSpPr>
          <p:spPr bwMode="auto">
            <a:xfrm>
              <a:off x="7143769" y="4859347"/>
              <a:ext cx="285751" cy="212727"/>
            </a:xfrm>
            <a:prstGeom prst="line">
              <a:avLst/>
            </a:prstGeom>
            <a:noFill/>
            <a:ln w="22225" cap="flat" cmpd="sng" algn="ctr">
              <a:solidFill>
                <a:schemeClr val="accent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65" name="AutoShape 330"/>
          <p:cNvCxnSpPr>
            <a:cxnSpLocks noChangeShapeType="1"/>
            <a:stCxn id="148" idx="2"/>
            <a:endCxn id="160" idx="0"/>
          </p:cNvCxnSpPr>
          <p:nvPr/>
        </p:nvCxnSpPr>
        <p:spPr bwMode="auto">
          <a:xfrm rot="16200000" flipH="1">
            <a:off x="6099745" y="5357638"/>
            <a:ext cx="576064" cy="175171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sp>
        <p:nvSpPr>
          <p:cNvPr id="168" name="Zaoblený obdélník 167"/>
          <p:cNvSpPr/>
          <p:nvPr/>
        </p:nvSpPr>
        <p:spPr bwMode="auto">
          <a:xfrm>
            <a:off x="6228184" y="5373216"/>
            <a:ext cx="576064" cy="221337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SMS-</a:t>
            </a:r>
            <a:r>
              <a:rPr lang="cs-CZ" sz="700" b="1" dirty="0" err="1" smtClean="0">
                <a:latin typeface="Calibri" pitchFamily="34" charset="0"/>
                <a:cs typeface="Calibri" pitchFamily="34" charset="0"/>
              </a:rPr>
              <a:t>Msg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9" name="Zaoblený obdélník 168"/>
          <p:cNvSpPr/>
          <p:nvPr/>
        </p:nvSpPr>
        <p:spPr>
          <a:xfrm>
            <a:off x="7308304" y="5733256"/>
            <a:ext cx="1224136" cy="288031"/>
          </a:xfrm>
          <a:prstGeom prst="roundRect">
            <a:avLst>
              <a:gd name="adj" fmla="val 6667"/>
            </a:avLst>
          </a:prstGeom>
          <a:gradFill rotWithShape="0">
            <a:gsLst>
              <a:gs pos="0">
                <a:srgbClr val="FFFFFF">
                  <a:gamma/>
                  <a:shade val="81961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81961"/>
                  <a:invGamma/>
                </a:srgbClr>
              </a:gs>
            </a:gsLst>
            <a:lin ang="54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53882" dir="18900000" algn="ctr" rotWithShape="0">
              <a:srgbClr val="808080"/>
            </a:outerShdw>
          </a:effectLst>
        </p:spPr>
        <p:txBody>
          <a:bodyPr/>
          <a:lstStyle/>
          <a:p>
            <a:pPr algn="ctr">
              <a:defRPr/>
            </a:pPr>
            <a:r>
              <a:rPr lang="cs-CZ" sz="10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Program XY</a:t>
            </a:r>
            <a:endParaRPr lang="cs-CZ" sz="1000" b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70" name="AutoShape 330"/>
          <p:cNvCxnSpPr>
            <a:cxnSpLocks noChangeShapeType="1"/>
            <a:endCxn id="173" idx="7"/>
          </p:cNvCxnSpPr>
          <p:nvPr/>
        </p:nvCxnSpPr>
        <p:spPr bwMode="auto">
          <a:xfrm rot="10800000" flipV="1">
            <a:off x="3187598" y="5157191"/>
            <a:ext cx="2464522" cy="583919"/>
          </a:xfrm>
          <a:prstGeom prst="curvedConnector2">
            <a:avLst/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grpSp>
        <p:nvGrpSpPr>
          <p:cNvPr id="171" name="Group 206"/>
          <p:cNvGrpSpPr>
            <a:grpSpLocks/>
          </p:cNvGrpSpPr>
          <p:nvPr/>
        </p:nvGrpSpPr>
        <p:grpSpPr bwMode="auto">
          <a:xfrm>
            <a:off x="2699792" y="5733256"/>
            <a:ext cx="571500" cy="142875"/>
            <a:chOff x="181" y="2619"/>
            <a:chExt cx="943" cy="943"/>
          </a:xfrm>
        </p:grpSpPr>
        <p:grpSp>
          <p:nvGrpSpPr>
            <p:cNvPr id="172" name="Group 207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74" name="Rectangle 208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 alt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75" name="Oval 209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 alt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76" name="Freeform 210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1 w 1296"/>
                  <a:gd name="T1" fmla="*/ 5 h 336"/>
                  <a:gd name="T2" fmla="*/ 0 w 1296"/>
                  <a:gd name="T3" fmla="*/ 11 h 336"/>
                  <a:gd name="T4" fmla="*/ 0 w 1296"/>
                  <a:gd name="T5" fmla="*/ 14 h 336"/>
                  <a:gd name="T6" fmla="*/ 1 w 1296"/>
                  <a:gd name="T7" fmla="*/ 17 h 336"/>
                  <a:gd name="T8" fmla="*/ 3 w 1296"/>
                  <a:gd name="T9" fmla="*/ 16 h 336"/>
                  <a:gd name="T10" fmla="*/ 3 w 1296"/>
                  <a:gd name="T11" fmla="*/ 14 h 336"/>
                  <a:gd name="T12" fmla="*/ 3 w 1296"/>
                  <a:gd name="T13" fmla="*/ 11 h 336"/>
                  <a:gd name="T14" fmla="*/ 3 w 1296"/>
                  <a:gd name="T15" fmla="*/ 8 h 336"/>
                  <a:gd name="T16" fmla="*/ 3 w 1296"/>
                  <a:gd name="T17" fmla="*/ 3 h 336"/>
                  <a:gd name="T18" fmla="*/ 1 w 1296"/>
                  <a:gd name="T19" fmla="*/ 0 h 336"/>
                  <a:gd name="T20" fmla="*/ 1 w 1296"/>
                  <a:gd name="T21" fmla="*/ 5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ECFF"/>
                  </a:gs>
                  <a:gs pos="50000">
                    <a:srgbClr val="FF99CC"/>
                  </a:gs>
                  <a:gs pos="100000">
                    <a:srgbClr val="CCECFF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73" name="Oval 211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ECFF"/>
                </a:gs>
                <a:gs pos="50000">
                  <a:srgbClr val="FF99CC"/>
                </a:gs>
                <a:gs pos="100000">
                  <a:srgbClr val="CCEC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 altLang="cs-CZ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177" name="Text Box 291"/>
          <p:cNvSpPr txBox="1">
            <a:spLocks noChangeArrowheads="1"/>
          </p:cNvSpPr>
          <p:nvPr/>
        </p:nvSpPr>
        <p:spPr bwMode="auto">
          <a:xfrm>
            <a:off x="2267744" y="5445224"/>
            <a:ext cx="1368152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5954" tIns="42977" rIns="85954" bIns="42977"/>
          <a:lstStyle/>
          <a:p>
            <a:pPr algn="ctr"/>
            <a:r>
              <a:rPr lang="cs-CZ" altLang="cs-CZ" sz="900" b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Log </a:t>
            </a:r>
            <a:r>
              <a:rPr lang="cs-CZ" altLang="cs-CZ" sz="900" b="1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File</a:t>
            </a:r>
            <a:endParaRPr lang="en-US" altLang="cs-CZ" sz="900" b="1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79" name="AutoShape 330"/>
          <p:cNvCxnSpPr>
            <a:cxnSpLocks noChangeShapeType="1"/>
            <a:stCxn id="138" idx="2"/>
            <a:endCxn id="148" idx="0"/>
          </p:cNvCxnSpPr>
          <p:nvPr/>
        </p:nvCxnSpPr>
        <p:spPr bwMode="auto">
          <a:xfrm rot="16200000" flipH="1">
            <a:off x="4804457" y="3373425"/>
            <a:ext cx="1440160" cy="1551309"/>
          </a:xfrm>
          <a:prstGeom prst="curvedConnector3">
            <a:avLst>
              <a:gd name="adj1" fmla="val 50000"/>
            </a:avLst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cxnSp>
        <p:nvCxnSpPr>
          <p:cNvPr id="184" name="AutoShape 330"/>
          <p:cNvCxnSpPr>
            <a:cxnSpLocks noChangeShapeType="1"/>
            <a:stCxn id="148" idx="2"/>
            <a:endCxn id="189" idx="1"/>
          </p:cNvCxnSpPr>
          <p:nvPr/>
        </p:nvCxnSpPr>
        <p:spPr bwMode="auto">
          <a:xfrm rot="16200000" flipH="1">
            <a:off x="6553780" y="4903604"/>
            <a:ext cx="449852" cy="957028"/>
          </a:xfrm>
          <a:prstGeom prst="curvedConnector3">
            <a:avLst>
              <a:gd name="adj1" fmla="val 32532"/>
            </a:avLst>
          </a:prstGeom>
          <a:noFill/>
          <a:ln w="15875">
            <a:solidFill>
              <a:srgbClr val="0000FF"/>
            </a:solidFill>
            <a:prstDash val="sysDash"/>
            <a:round/>
            <a:headEnd type="none" w="sm" len="sm"/>
            <a:tailEnd type="triangle" w="med" len="sm"/>
          </a:ln>
        </p:spPr>
      </p:cxnSp>
      <p:grpSp>
        <p:nvGrpSpPr>
          <p:cNvPr id="187" name="Group 285"/>
          <p:cNvGrpSpPr>
            <a:grpSpLocks/>
          </p:cNvGrpSpPr>
          <p:nvPr/>
        </p:nvGrpSpPr>
        <p:grpSpPr bwMode="auto">
          <a:xfrm>
            <a:off x="7236296" y="5589240"/>
            <a:ext cx="142875" cy="323850"/>
            <a:chOff x="181" y="2619"/>
            <a:chExt cx="943" cy="943"/>
          </a:xfrm>
        </p:grpSpPr>
        <p:grpSp>
          <p:nvGrpSpPr>
            <p:cNvPr id="188" name="Group 286"/>
            <p:cNvGrpSpPr>
              <a:grpSpLocks/>
            </p:cNvGrpSpPr>
            <p:nvPr/>
          </p:nvGrpSpPr>
          <p:grpSpPr bwMode="auto">
            <a:xfrm>
              <a:off x="186" y="2796"/>
              <a:ext cx="935" cy="766"/>
              <a:chOff x="186" y="2796"/>
              <a:chExt cx="935" cy="766"/>
            </a:xfrm>
          </p:grpSpPr>
          <p:sp>
            <p:nvSpPr>
              <p:cNvPr id="190" name="Rectangle 287"/>
              <p:cNvSpPr>
                <a:spLocks noChangeArrowheads="1"/>
              </p:cNvSpPr>
              <p:nvPr/>
            </p:nvSpPr>
            <p:spPr bwMode="auto">
              <a:xfrm>
                <a:off x="186" y="2796"/>
                <a:ext cx="935" cy="612"/>
              </a:xfrm>
              <a:prstGeom prst="rect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cs-CZ" alt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91" name="Oval 288"/>
              <p:cNvSpPr>
                <a:spLocks noChangeArrowheads="1"/>
              </p:cNvSpPr>
              <p:nvPr/>
            </p:nvSpPr>
            <p:spPr bwMode="auto">
              <a:xfrm>
                <a:off x="186" y="3207"/>
                <a:ext cx="935" cy="355"/>
              </a:xfrm>
              <a:prstGeom prst="ellipse">
                <a:avLst/>
              </a:pr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 altLang="cs-CZ"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92" name="Freeform 289"/>
              <p:cNvSpPr>
                <a:spLocks/>
              </p:cNvSpPr>
              <p:nvPr/>
            </p:nvSpPr>
            <p:spPr bwMode="auto">
              <a:xfrm>
                <a:off x="197" y="3147"/>
                <a:ext cx="913" cy="282"/>
              </a:xfrm>
              <a:custGeom>
                <a:avLst/>
                <a:gdLst>
                  <a:gd name="T0" fmla="*/ 1 w 1296"/>
                  <a:gd name="T1" fmla="*/ 5 h 336"/>
                  <a:gd name="T2" fmla="*/ 0 w 1296"/>
                  <a:gd name="T3" fmla="*/ 11 h 336"/>
                  <a:gd name="T4" fmla="*/ 0 w 1296"/>
                  <a:gd name="T5" fmla="*/ 14 h 336"/>
                  <a:gd name="T6" fmla="*/ 1 w 1296"/>
                  <a:gd name="T7" fmla="*/ 17 h 336"/>
                  <a:gd name="T8" fmla="*/ 3 w 1296"/>
                  <a:gd name="T9" fmla="*/ 16 h 336"/>
                  <a:gd name="T10" fmla="*/ 3 w 1296"/>
                  <a:gd name="T11" fmla="*/ 14 h 336"/>
                  <a:gd name="T12" fmla="*/ 3 w 1296"/>
                  <a:gd name="T13" fmla="*/ 11 h 336"/>
                  <a:gd name="T14" fmla="*/ 3 w 1296"/>
                  <a:gd name="T15" fmla="*/ 8 h 336"/>
                  <a:gd name="T16" fmla="*/ 3 w 1296"/>
                  <a:gd name="T17" fmla="*/ 3 h 336"/>
                  <a:gd name="T18" fmla="*/ 1 w 1296"/>
                  <a:gd name="T19" fmla="*/ 0 h 336"/>
                  <a:gd name="T20" fmla="*/ 1 w 1296"/>
                  <a:gd name="T21" fmla="*/ 5 h 3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96"/>
                  <a:gd name="T34" fmla="*/ 0 h 336"/>
                  <a:gd name="T35" fmla="*/ 1296 w 1296"/>
                  <a:gd name="T36" fmla="*/ 336 h 3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96" h="336">
                    <a:moveTo>
                      <a:pt x="32" y="96"/>
                    </a:moveTo>
                    <a:lnTo>
                      <a:pt x="0" y="216"/>
                    </a:lnTo>
                    <a:lnTo>
                      <a:pt x="0" y="280"/>
                    </a:lnTo>
                    <a:lnTo>
                      <a:pt x="56" y="336"/>
                    </a:lnTo>
                    <a:lnTo>
                      <a:pt x="1272" y="320"/>
                    </a:lnTo>
                    <a:lnTo>
                      <a:pt x="1296" y="280"/>
                    </a:lnTo>
                    <a:lnTo>
                      <a:pt x="1296" y="216"/>
                    </a:lnTo>
                    <a:lnTo>
                      <a:pt x="1272" y="152"/>
                    </a:lnTo>
                    <a:lnTo>
                      <a:pt x="1104" y="24"/>
                    </a:lnTo>
                    <a:lnTo>
                      <a:pt x="168" y="0"/>
                    </a:lnTo>
                    <a:lnTo>
                      <a:pt x="32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66"/>
                  </a:gs>
                  <a:gs pos="50000">
                    <a:srgbClr val="CC9900"/>
                  </a:gs>
                  <a:gs pos="100000">
                    <a:srgbClr val="FFFF66"/>
                  </a:gs>
                </a:gsLst>
                <a:lin ang="0" scaled="1"/>
              </a:gradFill>
              <a:ln w="9525">
                <a:noFill/>
                <a:prstDash val="sysDot"/>
                <a:round/>
                <a:headEnd/>
                <a:tailEnd/>
              </a:ln>
            </p:spPr>
            <p:txBody>
              <a:bodyPr anchor="ctr"/>
              <a:lstStyle/>
              <a:p>
                <a:endParaRPr lang="cs-CZ"/>
              </a:p>
            </p:txBody>
          </p:sp>
        </p:grpSp>
        <p:sp>
          <p:nvSpPr>
            <p:cNvPr id="189" name="Oval 290"/>
            <p:cNvSpPr>
              <a:spLocks noChangeArrowheads="1"/>
            </p:cNvSpPr>
            <p:nvPr/>
          </p:nvSpPr>
          <p:spPr bwMode="auto">
            <a:xfrm>
              <a:off x="181" y="2619"/>
              <a:ext cx="943" cy="354"/>
            </a:xfrm>
            <a:prstGeom prst="ellipse">
              <a:avLst/>
            </a:prstGeom>
            <a:gradFill rotWithShape="0">
              <a:gsLst>
                <a:gs pos="0">
                  <a:srgbClr val="CC9900"/>
                </a:gs>
                <a:gs pos="100000">
                  <a:srgbClr val="FFFF66"/>
                </a:gs>
              </a:gsLst>
              <a:path path="rect">
                <a:fillToRect l="100000" b="100000"/>
              </a:path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cs-CZ" altLang="cs-CZ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195" name="Zaoblený obdélník 194"/>
          <p:cNvSpPr/>
          <p:nvPr/>
        </p:nvSpPr>
        <p:spPr bwMode="auto">
          <a:xfrm>
            <a:off x="6876256" y="5229200"/>
            <a:ext cx="792088" cy="221337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err="1" smtClean="0">
                <a:latin typeface="Calibri" pitchFamily="34" charset="0"/>
                <a:cs typeface="Calibri" pitchFamily="34" charset="0"/>
              </a:rPr>
              <a:t>Notify</a:t>
            </a:r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700" b="1" dirty="0" err="1" smtClean="0">
                <a:latin typeface="Calibri" pitchFamily="34" charset="0"/>
                <a:cs typeface="Calibri" pitchFamily="34" charset="0"/>
              </a:rPr>
              <a:t>Msg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6" name="Zaoblený obdélník 195"/>
          <p:cNvSpPr/>
          <p:nvPr/>
        </p:nvSpPr>
        <p:spPr bwMode="auto">
          <a:xfrm>
            <a:off x="4355976" y="4365104"/>
            <a:ext cx="936104" cy="221337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6350">
            <a:solidFill>
              <a:schemeClr val="tx1"/>
            </a:solidFill>
          </a:ln>
          <a:effectLst>
            <a:outerShdw blurRad="50800" dist="50800" dir="18900000" algn="ctr" rotWithShape="0">
              <a:srgbClr val="000000">
                <a:alpha val="43137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cs-CZ" sz="700" b="1" dirty="0" err="1" smtClean="0">
                <a:latin typeface="Calibri" pitchFamily="34" charset="0"/>
                <a:cs typeface="Calibri" pitchFamily="34" charset="0"/>
              </a:rPr>
              <a:t>Event</a:t>
            </a:r>
            <a:r>
              <a:rPr lang="cs-CZ" sz="700" b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cs-CZ" sz="700" b="1" dirty="0" err="1" smtClean="0">
                <a:latin typeface="Calibri" pitchFamily="34" charset="0"/>
                <a:cs typeface="Calibri" pitchFamily="34" charset="0"/>
              </a:rPr>
              <a:t>Msg</a:t>
            </a:r>
            <a:endParaRPr lang="cs-CZ" sz="7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16" grpId="0"/>
      <p:bldP spid="13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15" descr="45380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389" name="Rectangle 13"/>
          <p:cNvSpPr>
            <a:spLocks noChangeArrowheads="1"/>
          </p:cNvSpPr>
          <p:nvPr/>
        </p:nvSpPr>
        <p:spPr bwMode="auto">
          <a:xfrm>
            <a:off x="755650" y="2205038"/>
            <a:ext cx="7704138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ctr"/>
          <a:lstStyle/>
          <a:p>
            <a:pPr eaLnBrk="1" hangingPunct="1"/>
            <a:r>
              <a:rPr lang="cs-CZ" altLang="cs-CZ" sz="5400" b="1" dirty="0">
                <a:solidFill>
                  <a:schemeClr val="bg1"/>
                </a:solidFill>
              </a:rPr>
              <a:t>Shrnutí a </a:t>
            </a:r>
            <a:r>
              <a:rPr lang="cs-CZ" altLang="cs-CZ" sz="5400" b="1" dirty="0" smtClean="0">
                <a:solidFill>
                  <a:schemeClr val="bg1"/>
                </a:solidFill>
              </a:rPr>
              <a:t>diskuze</a:t>
            </a:r>
            <a:endParaRPr lang="cs-CZ" altLang="cs-CZ" sz="2200" b="1" dirty="0">
              <a:solidFill>
                <a:schemeClr val="bg1"/>
              </a:solidFill>
            </a:endParaRPr>
          </a:p>
        </p:txBody>
      </p:sp>
      <p:pic>
        <p:nvPicPr>
          <p:cNvPr id="27652" name="Picture 16" descr="syntea logo negativni na purpurove plose_stredn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8525" y="0"/>
            <a:ext cx="14509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857250" y="1143000"/>
            <a:ext cx="785812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cs-CZ" sz="3600" b="1" kern="0" dirty="0" smtClean="0">
                <a:solidFill>
                  <a:srgbClr val="CA0383"/>
                </a:solidFill>
                <a:latin typeface="Calibri" panose="020F0502020204030204" pitchFamily="34" charset="0"/>
              </a:rPr>
              <a:t>Co obsahují událostně řízené systémy</a:t>
            </a:r>
            <a:endParaRPr lang="cs-CZ" sz="3600" b="1" kern="0" dirty="0">
              <a:solidFill>
                <a:srgbClr val="CA0383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899592" y="2204864"/>
            <a:ext cx="7632700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36000"/>
          <a:lstStyle/>
          <a:p>
            <a:pPr marL="457200" indent="-457200" eaLnBrk="1" hangingPunct="1">
              <a:spcBef>
                <a:spcPts val="2400"/>
              </a:spcBef>
              <a:buFont typeface="+mj-lt"/>
              <a:buAutoNum type="arabicParenR"/>
              <a:defRPr/>
            </a:pPr>
            <a:r>
              <a:rPr lang="cs-CZ" sz="2000" b="1" kern="0" dirty="0" err="1" smtClean="0">
                <a:latin typeface="Calibri" pitchFamily="34" charset="0"/>
                <a:cs typeface="Calibri" pitchFamily="34" charset="0"/>
              </a:rPr>
              <a:t>Matadata</a:t>
            </a:r>
            <a:endParaRPr lang="cs-CZ" sz="2000" b="1" kern="0" dirty="0" smtClean="0">
              <a:latin typeface="Calibri" pitchFamily="34" charset="0"/>
              <a:cs typeface="Calibri" pitchFamily="34" charset="0"/>
            </a:endParaRPr>
          </a:p>
          <a:p>
            <a:pPr marL="457200" indent="-457200" eaLnBrk="1" hangingPunct="1">
              <a:spcBef>
                <a:spcPts val="2400"/>
              </a:spcBef>
              <a:buFont typeface="+mj-lt"/>
              <a:buAutoNum type="arabicParenR"/>
              <a:defRPr/>
            </a:pPr>
            <a:r>
              <a:rPr lang="cs-CZ" sz="2000" b="1" kern="0" dirty="0" smtClean="0">
                <a:latin typeface="Calibri" pitchFamily="34" charset="0"/>
                <a:cs typeface="Calibri" pitchFamily="34" charset="0"/>
              </a:rPr>
              <a:t>Aplikační </a:t>
            </a:r>
            <a:r>
              <a:rPr lang="cs-CZ" sz="2000" b="1" kern="0" dirty="0" err="1" smtClean="0">
                <a:latin typeface="Calibri" pitchFamily="34" charset="0"/>
                <a:cs typeface="Calibri" pitchFamily="34" charset="0"/>
              </a:rPr>
              <a:t>manager</a:t>
            </a:r>
            <a:endParaRPr lang="cs-CZ" sz="2000" b="1" kern="0" dirty="0">
              <a:latin typeface="Calibri" pitchFamily="34" charset="0"/>
              <a:cs typeface="Calibri" pitchFamily="34" charset="0"/>
            </a:endParaRPr>
          </a:p>
          <a:p>
            <a:pPr marL="457200" indent="-457200" eaLnBrk="1" hangingPunct="1">
              <a:spcBef>
                <a:spcPts val="2400"/>
              </a:spcBef>
              <a:buFont typeface="+mj-lt"/>
              <a:buAutoNum type="arabicParenR"/>
              <a:defRPr/>
            </a:pPr>
            <a:r>
              <a:rPr lang="cs-CZ" sz="2000" b="1" kern="0" dirty="0" err="1" smtClean="0">
                <a:latin typeface="Calibri" pitchFamily="34" charset="0"/>
                <a:cs typeface="Calibri" pitchFamily="34" charset="0"/>
              </a:rPr>
              <a:t>Time</a:t>
            </a:r>
            <a:r>
              <a:rPr lang="cs-CZ" sz="2000" b="1" kern="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2000" b="1" kern="0" dirty="0" err="1" smtClean="0">
                <a:latin typeface="Calibri" pitchFamily="34" charset="0"/>
                <a:cs typeface="Calibri" pitchFamily="34" charset="0"/>
              </a:rPr>
              <a:t>manager</a:t>
            </a:r>
            <a:endParaRPr lang="cs-CZ" sz="2000" b="1" kern="0" dirty="0">
              <a:latin typeface="Calibri" pitchFamily="34" charset="0"/>
              <a:cs typeface="Calibri" pitchFamily="34" charset="0"/>
            </a:endParaRPr>
          </a:p>
          <a:p>
            <a:pPr marL="457200" indent="-457200" eaLnBrk="1" hangingPunct="1">
              <a:spcBef>
                <a:spcPts val="2400"/>
              </a:spcBef>
              <a:buFont typeface="+mj-lt"/>
              <a:buAutoNum type="arabicParenR"/>
              <a:defRPr/>
            </a:pPr>
            <a:r>
              <a:rPr lang="cs-CZ" sz="2000" b="1" kern="0" dirty="0" err="1" smtClean="0">
                <a:latin typeface="Calibri" pitchFamily="34" charset="0"/>
                <a:cs typeface="Calibri" pitchFamily="34" charset="0"/>
              </a:rPr>
              <a:t>Event</a:t>
            </a:r>
            <a:r>
              <a:rPr lang="cs-CZ" sz="2000" b="1" kern="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cs-CZ" sz="2000" b="1" kern="0" dirty="0" err="1" smtClean="0">
                <a:latin typeface="Calibri" pitchFamily="34" charset="0"/>
                <a:cs typeface="Calibri" pitchFamily="34" charset="0"/>
              </a:rPr>
              <a:t>manager</a:t>
            </a:r>
            <a:endParaRPr lang="cs-CZ" sz="2000" b="1" kern="0" dirty="0">
              <a:latin typeface="Calibri" pitchFamily="34" charset="0"/>
              <a:cs typeface="Calibri" pitchFamily="34" charset="0"/>
            </a:endParaRPr>
          </a:p>
          <a:p>
            <a:pPr marL="457200" indent="-457200" algn="just" eaLnBrk="1" hangingPunct="1">
              <a:spcBef>
                <a:spcPts val="2400"/>
              </a:spcBef>
              <a:buFont typeface="+mj-lt"/>
              <a:buAutoNum type="arabicParenR"/>
              <a:defRPr/>
            </a:pPr>
            <a:r>
              <a:rPr lang="cs-CZ" sz="2000" b="1" kern="0" dirty="0" smtClean="0">
                <a:latin typeface="Calibri" pitchFamily="34" charset="0"/>
                <a:cs typeface="Calibri" pitchFamily="34" charset="0"/>
              </a:rPr>
              <a:t>Aplikační programy obsahují – </a:t>
            </a:r>
            <a:r>
              <a:rPr lang="cs-CZ" sz="2000" b="1" kern="0" dirty="0" err="1" smtClean="0">
                <a:latin typeface="Calibri" pitchFamily="34" charset="0"/>
                <a:cs typeface="Calibri" pitchFamily="34" charset="0"/>
              </a:rPr>
              <a:t>ControllerWorker</a:t>
            </a:r>
            <a:r>
              <a:rPr lang="cs-CZ" sz="2000" b="1" kern="0" dirty="0" smtClean="0">
                <a:latin typeface="Calibri" pitchFamily="34" charset="0"/>
                <a:cs typeface="Calibri" pitchFamily="34" charset="0"/>
              </a:rPr>
              <a:t> + </a:t>
            </a:r>
            <a:r>
              <a:rPr lang="cs-CZ" sz="2000" b="1" kern="0" dirty="0" err="1" smtClean="0">
                <a:latin typeface="Calibri" pitchFamily="34" charset="0"/>
                <a:cs typeface="Calibri" pitchFamily="34" charset="0"/>
              </a:rPr>
              <a:t>DomainWorker</a:t>
            </a:r>
            <a:endParaRPr lang="cs-CZ" sz="2000" b="1" kern="0" dirty="0">
              <a:solidFill>
                <a:srgbClr val="CA0383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cs-CZ" b="1" kern="0" dirty="0">
                <a:solidFill>
                  <a:srgbClr val="CA0383"/>
                </a:solidFill>
                <a:latin typeface="Calibri" panose="020F0502020204030204" pitchFamily="34" charset="0"/>
              </a:rPr>
              <a:t>www.syntea.cz</a:t>
            </a:r>
          </a:p>
        </p:txBody>
      </p:sp>
      <p:sp>
        <p:nvSpPr>
          <p:cNvPr id="29701" name="Zástupný symbol pro číslo snímku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EE0CF35-1E4B-4D04-AF9E-34F3496F5E35}" type="slidenum">
              <a:rPr lang="cs-CZ" altLang="cs-CZ"/>
              <a:pPr/>
              <a:t>65</a:t>
            </a:fld>
            <a:endParaRPr lang="cs-CZ" altLang="cs-CZ"/>
          </a:p>
        </p:txBody>
      </p:sp>
      <p:cxnSp>
        <p:nvCxnSpPr>
          <p:cNvPr id="11" name="Přímá spojnice 10"/>
          <p:cNvCxnSpPr/>
          <p:nvPr/>
        </p:nvCxnSpPr>
        <p:spPr bwMode="auto">
          <a:xfrm>
            <a:off x="804863" y="6237288"/>
            <a:ext cx="7561262" cy="0"/>
          </a:xfrm>
          <a:prstGeom prst="line">
            <a:avLst/>
          </a:prstGeom>
          <a:ln w="158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704" name="Rounded Rectangle 2"/>
          <p:cNvSpPr>
            <a:spLocks noChangeArrowheads="1"/>
          </p:cNvSpPr>
          <p:nvPr/>
        </p:nvSpPr>
        <p:spPr bwMode="auto">
          <a:xfrm>
            <a:off x="611188" y="4581525"/>
            <a:ext cx="914400" cy="914400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lIns="91432" tIns="45716" rIns="91432" bIns="45716" anchor="ctr"/>
          <a:lstStyle/>
          <a:p>
            <a:pPr eaLnBrk="1" hangingPunct="1"/>
            <a:endParaRPr lang="cs-CZ" altLang="cs-CZ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15" descr="45380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Rectangle 12"/>
          <p:cNvSpPr>
            <a:spLocks noChangeArrowheads="1"/>
          </p:cNvSpPr>
          <p:nvPr/>
        </p:nvSpPr>
        <p:spPr bwMode="auto">
          <a:xfrm>
            <a:off x="755650" y="4868863"/>
            <a:ext cx="7704138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ctr"/>
          <a:lstStyle/>
          <a:p>
            <a:pPr eaLnBrk="1" hangingPunct="1"/>
            <a:r>
              <a:rPr lang="cs-CZ" altLang="cs-CZ" sz="2200" b="1">
                <a:solidFill>
                  <a:schemeClr val="bg1"/>
                </a:solidFill>
              </a:rPr>
              <a:t>jiri.kamenicky@syntea.cz</a:t>
            </a:r>
          </a:p>
        </p:txBody>
      </p:sp>
      <p:sp>
        <p:nvSpPr>
          <p:cNvPr id="101389" name="Rectangle 13"/>
          <p:cNvSpPr>
            <a:spLocks noChangeArrowheads="1"/>
          </p:cNvSpPr>
          <p:nvPr/>
        </p:nvSpPr>
        <p:spPr bwMode="auto">
          <a:xfrm>
            <a:off x="755650" y="2205038"/>
            <a:ext cx="7704138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ctr"/>
          <a:lstStyle/>
          <a:p>
            <a:pPr eaLnBrk="1" hangingPunct="1"/>
            <a:r>
              <a:rPr lang="cs-CZ" altLang="cs-CZ" sz="6600" b="1" dirty="0" smtClean="0">
                <a:solidFill>
                  <a:schemeClr val="bg1"/>
                </a:solidFill>
              </a:rPr>
              <a:t>Konec </a:t>
            </a:r>
            <a:r>
              <a:rPr lang="cs-CZ" altLang="cs-CZ" sz="6600" b="1" dirty="0">
                <a:solidFill>
                  <a:schemeClr val="bg1"/>
                </a:solidFill>
              </a:rPr>
              <a:t/>
            </a:r>
            <a:br>
              <a:rPr lang="cs-CZ" altLang="cs-CZ" sz="6600" b="1" dirty="0">
                <a:solidFill>
                  <a:schemeClr val="bg1"/>
                </a:solidFill>
              </a:rPr>
            </a:br>
            <a:r>
              <a:rPr lang="cs-CZ" altLang="cs-CZ" sz="1100" b="1" dirty="0">
                <a:solidFill>
                  <a:schemeClr val="bg1"/>
                </a:solidFill>
              </a:rPr>
              <a:t/>
            </a:r>
            <a:br>
              <a:rPr lang="cs-CZ" altLang="cs-CZ" sz="1100" b="1" dirty="0">
                <a:solidFill>
                  <a:schemeClr val="bg1"/>
                </a:solidFill>
              </a:rPr>
            </a:br>
            <a:r>
              <a:rPr lang="cs-CZ" altLang="cs-CZ" sz="2200" b="1" dirty="0" smtClean="0">
                <a:solidFill>
                  <a:schemeClr val="bg1"/>
                </a:solidFill>
              </a:rPr>
              <a:t>Děkuji </a:t>
            </a:r>
            <a:r>
              <a:rPr lang="cs-CZ" altLang="cs-CZ" sz="2200" b="1" dirty="0">
                <a:solidFill>
                  <a:schemeClr val="bg1"/>
                </a:solidFill>
              </a:rPr>
              <a:t>za </a:t>
            </a:r>
            <a:r>
              <a:rPr lang="cs-CZ" altLang="cs-CZ" sz="2200" b="1" dirty="0" smtClean="0">
                <a:solidFill>
                  <a:schemeClr val="bg1"/>
                </a:solidFill>
              </a:rPr>
              <a:t>pozornost</a:t>
            </a:r>
            <a:endParaRPr lang="cs-CZ" altLang="cs-CZ" sz="2200" b="1" dirty="0">
              <a:solidFill>
                <a:schemeClr val="bg1"/>
              </a:solidFill>
            </a:endParaRPr>
          </a:p>
        </p:txBody>
      </p:sp>
      <p:pic>
        <p:nvPicPr>
          <p:cNvPr id="31749" name="Picture 16" descr="syntea logo negativni na purpurove plose_stredn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8525" y="0"/>
            <a:ext cx="14509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9" grpId="0"/>
    </p:bldLst>
  </p:timing>
</p:sld>
</file>

<file path=ppt/theme/theme1.xml><?xml version="1.0" encoding="utf-8"?>
<a:theme xmlns:a="http://schemas.openxmlformats.org/drawingml/2006/main" name="titulni strana prezentace">
  <a:themeElements>
    <a:clrScheme name="titulni strana prezenta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ulni strana prezentace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32" tIns="45716" rIns="91432" bIns="45716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cs-CZ" sz="6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rbe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32" tIns="45716" rIns="91432" bIns="45716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cs-CZ" sz="6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rbel" pitchFamily="34" charset="0"/>
          </a:defRPr>
        </a:defPPr>
      </a:lstStyle>
    </a:lnDef>
  </a:objectDefaults>
  <a:extraClrSchemeLst>
    <a:extraClrScheme>
      <a:clrScheme name="titulni strana prezenta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ulni strana prezentac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ulni strana prezentac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ulni strana prezentac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ulni strana prezentac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ulni strana prezentac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ulni strana prezentac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ulni strana prezentac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ulni strana prezentac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ulni strana prezentac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ulni strana prezentac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itulni strana prezentac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zna strana">
  <a:themeElements>
    <a:clrScheme name="bezna stran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ezna strana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32" tIns="45716" rIns="91432" bIns="45716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cs-CZ" sz="6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rbe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32" tIns="45716" rIns="91432" bIns="45716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cs-CZ" sz="6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rbel" pitchFamily="34" charset="0"/>
          </a:defRPr>
        </a:defPPr>
      </a:lstStyle>
    </a:lnDef>
  </a:objectDefaults>
  <a:extraClrSchemeLst>
    <a:extraClrScheme>
      <a:clrScheme name="bezna stran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zna stran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zna stran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zna stran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zna stran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zna stran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zna stran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zna stran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zna stran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zna stran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zna stran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zna stran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17973</TotalTime>
  <Words>6728</Words>
  <Application>Microsoft Office PowerPoint</Application>
  <PresentationFormat>Předvádění na obrazovce (4:3)</PresentationFormat>
  <Paragraphs>1897</Paragraphs>
  <Slides>66</Slides>
  <Notes>66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66</vt:i4>
      </vt:variant>
    </vt:vector>
  </HeadingPairs>
  <TitlesOfParts>
    <vt:vector size="73" baseType="lpstr">
      <vt:lpstr>Arial</vt:lpstr>
      <vt:lpstr>Calibri</vt:lpstr>
      <vt:lpstr>Consolas</vt:lpstr>
      <vt:lpstr>Corbel</vt:lpstr>
      <vt:lpstr>Wingdings</vt:lpstr>
      <vt:lpstr>titulni strana prezentace</vt:lpstr>
      <vt:lpstr>bezna strana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Název prezentace  Podtitul aneb vysvětlení názvu nebo třeba místo konání nebo jméno klienta nebo datum (nepovinné)</dc:title>
  <dc:creator>Jan Tippman</dc:creator>
  <cp:lastModifiedBy>Účet Microsoft</cp:lastModifiedBy>
  <cp:revision>1031</cp:revision>
  <cp:lastPrinted>2016-10-18T12:50:56Z</cp:lastPrinted>
  <dcterms:created xsi:type="dcterms:W3CDTF">2009-04-01T10:12:28Z</dcterms:created>
  <dcterms:modified xsi:type="dcterms:W3CDTF">2018-11-19T00:44:15Z</dcterms:modified>
</cp:coreProperties>
</file>